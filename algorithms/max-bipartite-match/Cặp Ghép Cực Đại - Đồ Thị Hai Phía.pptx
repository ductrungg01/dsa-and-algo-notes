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8" r:id="rId6"/>
    <p:sldId id="269" r:id="rId7"/>
    <p:sldId id="260" r:id="rId8"/>
    <p:sldId id="270" r:id="rId9"/>
    <p:sldId id="271" r:id="rId10"/>
    <p:sldId id="272" r:id="rId11"/>
    <p:sldId id="261" r:id="rId12"/>
    <p:sldId id="26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7" r:id="rId26"/>
    <p:sldId id="288" r:id="rId27"/>
    <p:sldId id="286" r:id="rId28"/>
    <p:sldId id="289" r:id="rId29"/>
    <p:sldId id="291" r:id="rId30"/>
    <p:sldId id="292" r:id="rId31"/>
    <p:sldId id="293" r:id="rId32"/>
    <p:sldId id="294" r:id="rId33"/>
    <p:sldId id="295" r:id="rId34"/>
    <p:sldId id="296" r:id="rId35"/>
    <p:sldId id="297" r:id="rId36"/>
    <p:sldId id="290" r:id="rId37"/>
    <p:sldId id="285" r:id="rId38"/>
  </p:sldIdLst>
  <p:sldSz cx="12192000" cy="6858000"/>
  <p:notesSz cx="6858000" cy="9144000"/>
  <p:embeddedFontLst>
    <p:embeddedFont>
      <p:font typeface="Be Vietnam Pro"/>
      <p:bold r:id="rId40"/>
    </p:embeddedFont>
    <p:embeddedFont>
      <p:font typeface="Cambria Math" panose="02040503050406030204" pitchFamily="18" charset="0"/>
      <p:regular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903" autoAdjust="0"/>
  </p:normalViewPr>
  <p:slideViewPr>
    <p:cSldViewPr snapToGrid="0" snapToObjects="1">
      <p:cViewPr varScale="1">
        <p:scale>
          <a:sx n="73" d="100"/>
          <a:sy n="73" d="100"/>
        </p:scale>
        <p:origin x="118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A980C7-71BC-4D89-8D5C-77FC7592C620}"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89A7E7-7298-40E5-A655-E0A9B5A825F1}" type="slidenum">
              <a:rPr lang="en-US" smtClean="0"/>
              <a:t>‹#›</a:t>
            </a:fld>
            <a:endParaRPr lang="en-US"/>
          </a:p>
        </p:txBody>
      </p:sp>
    </p:spTree>
    <p:extLst>
      <p:ext uri="{BB962C8B-B14F-4D97-AF65-F5344CB8AC3E}">
        <p14:creationId xmlns:p14="http://schemas.microsoft.com/office/powerpoint/2010/main" val="101913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a:buNone/>
                </a:pPr>
                <a:r>
                  <a:rPr lang="en-US" sz="2400" b="1">
                    <a:effectLst/>
                  </a:rPr>
                  <a:t>Giải thích chi tiết cho câu hỏi "(Tại sao?)" để hướng dẫn học sinh:</a:t>
                </a:r>
                <a:endParaRPr lang="en-US" sz="2400">
                  <a:effectLst/>
                </a:endParaRPr>
              </a:p>
              <a:p>
                <a:pPr marL="0" marR="0" lvl="0" indent="-342900">
                  <a:buFont typeface="+mj-lt"/>
                  <a:buAutoNum type="arabicPeriod"/>
                </a:pPr>
                <a:r>
                  <a:rPr lang="en-US" sz="2400" b="1">
                    <a:effectLst/>
                  </a:rPr>
                  <a:t>Tại sao tối đa chỉ có </a:t>
                </a:r>
                <a14:m>
                  <m:oMath xmlns:m="http://schemas.openxmlformats.org/officeDocument/2006/math">
                    <m:r>
                      <a:rPr lang="en-US" sz="2400" smtClean="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oMath>
                </a14:m>
                <a:r>
                  <a:rPr lang="en-US" sz="2400" b="1">
                    <a:effectLst/>
                  </a:rPr>
                  <a:t>đường đi tăng?</a:t>
                </a:r>
                <a:endParaRPr lang="en-US" sz="2400">
                  <a:effectLst/>
                </a:endParaRPr>
              </a:p>
              <a:p>
                <a:pPr marL="0" marR="0" lvl="1" indent="-285750">
                  <a:buFont typeface="+mj-lt"/>
                  <a:buAutoNum type="arabicPeriod"/>
                </a:pPr>
                <a:r>
                  <a:rPr lang="en-US" sz="2400">
                    <a:effectLst/>
                  </a:rPr>
                  <a:t>Mỗi lần tìm thấy và "lật" một đường đi tăng, </a:t>
                </a:r>
                <a:r>
                  <a:rPr lang="en-US" sz="2400" b="1">
                    <a:effectLst/>
                  </a:rPr>
                  <a:t>kích thước của cặp ghép sẽ tăng thêm đúng 1</a:t>
                </a:r>
                <a:r>
                  <a:rPr lang="en-US" sz="2400">
                    <a:effectLst/>
                  </a:rPr>
                  <a:t>.</a:t>
                </a:r>
              </a:p>
              <a:p>
                <a:pPr marL="0" marR="0" lvl="1" indent="-285750">
                  <a:buFont typeface="+mj-lt"/>
                  <a:buAutoNum type="arabicPeriod"/>
                </a:pPr>
                <a:r>
                  <a:rPr lang="en-US" sz="2400">
                    <a:effectLst/>
                  </a:rPr>
                  <a:t>Số lượng cặp ghép tối đa không bao giờ vượt quá tổng số đỉnh </a:t>
                </a:r>
                <a14:m>
                  <m:oMath xmlns:m="http://schemas.openxmlformats.org/officeDocument/2006/math">
                    <m:r>
                      <a:rPr lang="en-US" sz="2400" smtClean="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oMath>
                </a14:m>
                <a:r>
                  <a:rPr lang="en-US" sz="2400">
                    <a:effectLst/>
                  </a:rPr>
                  <a:t>của đồ thị (chính xác hơn là không vượt quá </a:t>
                </a:r>
                <a14:m>
                  <m:oMath xmlns:m="http://schemas.openxmlformats.org/officeDocument/2006/math">
                    <m:f>
                      <m:fPr>
                        <m:ctrlPr>
                          <a:rPr lang="en-US" sz="2400" i="1">
                            <a:latin typeface="Cambria Math" panose="02040503050406030204" pitchFamily="18" charset="0"/>
                          </a:rPr>
                        </m:ctrlPr>
                      </m:fPr>
                      <m:num>
                        <m:r>
                          <a:rPr lang="en-US" sz="240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num>
                      <m:den>
                        <m:r>
                          <a:rPr lang="en-US" sz="2400" i="0">
                            <a:latin typeface="Cambria Math" panose="02040503050406030204" pitchFamily="18" charset="0"/>
                          </a:rPr>
                          <m:t>2</m:t>
                        </m:r>
                      </m:den>
                    </m:f>
                  </m:oMath>
                </a14:m>
                <a:r>
                  <a:rPr lang="en-US" sz="2400">
                    <a:effectLst/>
                  </a:rPr>
                  <a:t>vì mỗi cạnh nối 2 đỉnh).</a:t>
                </a:r>
              </a:p>
              <a:p>
                <a:pPr marL="0" marR="0" lvl="1" indent="-285750">
                  <a:buFont typeface="+mj-lt"/>
                  <a:buAutoNum type="arabicPeriod"/>
                </a:pPr>
                <a:r>
                  <a:rPr lang="en-US" sz="2400">
                    <a:effectLst/>
                  </a:rPr>
                  <a:t>Do đó, số lần ta có thể thực hiện tăng cặp ghép tối đa chỉ là </a:t>
                </a:r>
                <a14:m>
                  <m:oMath xmlns:m="http://schemas.openxmlformats.org/officeDocument/2006/math">
                    <m:r>
                      <a:rPr lang="en-US" sz="2400" i="1" smtClean="0">
                        <a:latin typeface="Cambria Math" panose="02040503050406030204" pitchFamily="18" charset="0"/>
                      </a:rPr>
                      <m:t>𝑂</m:t>
                    </m:r>
                    <m:d>
                      <m:dPr>
                        <m:ctrlPr>
                          <a:rPr lang="en-US" sz="2400" i="1">
                            <a:latin typeface="Cambria Math" panose="02040503050406030204" pitchFamily="18" charset="0"/>
                          </a:rPr>
                        </m:ctrlPr>
                      </m:dPr>
                      <m:e>
                        <m:r>
                          <a:rPr lang="en-US" sz="2400" i="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e>
                    </m:d>
                  </m:oMath>
                </a14:m>
                <a:r>
                  <a:rPr lang="en-US" sz="2400">
                    <a:effectLst/>
                  </a:rPr>
                  <a:t>lần.</a:t>
                </a:r>
              </a:p>
              <a:p>
                <a:pPr marL="0" marR="0" lvl="0" indent="-342900">
                  <a:buFont typeface="+mj-lt"/>
                  <a:buAutoNum type="arabicPeriod"/>
                </a:pPr>
                <a:r>
                  <a:rPr lang="en-US" sz="2400" b="1">
                    <a:effectLst/>
                  </a:rPr>
                  <a:t>Cách tính tổng độ phức tạp:</a:t>
                </a:r>
                <a:endParaRPr lang="en-US" sz="2400">
                  <a:effectLst/>
                </a:endParaRPr>
              </a:p>
              <a:p>
                <a:pPr marL="0" marR="0" lvl="1" indent="-285750">
                  <a:buFont typeface="+mj-lt"/>
                  <a:buAutoNum type="arabicPeriod"/>
                </a:pPr>
                <a14:m>
                  <m:oMath xmlns:m="http://schemas.openxmlformats.org/officeDocument/2006/math">
                    <m:r>
                      <m:rPr>
                        <m:nor/>
                      </m:rPr>
                      <a:rPr lang="en-US" sz="2400" i="0" smtClean="0"/>
                      <m:t>T</m:t>
                    </m:r>
                    <m:r>
                      <m:rPr>
                        <m:nor/>
                      </m:rPr>
                      <a:rPr lang="en-US" sz="2400" i="0" smtClean="0"/>
                      <m:t>ổ</m:t>
                    </m:r>
                    <m:r>
                      <m:rPr>
                        <m:nor/>
                      </m:rPr>
                      <a:rPr lang="en-US" sz="2400" i="0" smtClean="0"/>
                      <m:t>ng</m:t>
                    </m:r>
                    <m:r>
                      <m:rPr>
                        <m:nor/>
                      </m:rPr>
                      <a:rPr lang="en-US" sz="2400" i="0" smtClean="0"/>
                      <m:t> </m:t>
                    </m:r>
                    <m:r>
                      <m:rPr>
                        <m:nor/>
                      </m:rPr>
                      <a:rPr lang="en-US" sz="2400" i="0" smtClean="0"/>
                      <m:t>th</m:t>
                    </m:r>
                    <m:r>
                      <m:rPr>
                        <m:nor/>
                      </m:rPr>
                      <a:rPr lang="en-US" sz="2400" i="0" smtClean="0"/>
                      <m:t>ờ</m:t>
                    </m:r>
                    <m:r>
                      <m:rPr>
                        <m:nor/>
                      </m:rPr>
                      <a:rPr lang="en-US" sz="2400" i="0" smtClean="0"/>
                      <m:t>i</m:t>
                    </m:r>
                    <m:r>
                      <m:rPr>
                        <m:nor/>
                      </m:rPr>
                      <a:rPr lang="en-US" sz="2400" i="0" smtClean="0"/>
                      <m:t> </m:t>
                    </m:r>
                    <m:r>
                      <m:rPr>
                        <m:nor/>
                      </m:rPr>
                      <a:rPr lang="en-US" sz="2400" i="0" smtClean="0"/>
                      <m:t>gian</m:t>
                    </m:r>
                    <m:r>
                      <a:rPr lang="en-US" sz="2400" i="0">
                        <a:latin typeface="Cambria Math" panose="02040503050406030204" pitchFamily="18" charset="0"/>
                      </a:rPr>
                      <m:t>=</m:t>
                    </m:r>
                    <m:d>
                      <m:dPr>
                        <m:ctrlPr>
                          <a:rPr lang="en-US" sz="2400" i="1">
                            <a:latin typeface="Cambria Math" panose="02040503050406030204" pitchFamily="18" charset="0"/>
                          </a:rPr>
                        </m:ctrlPr>
                      </m:dPr>
                      <m:e>
                        <m:r>
                          <m:rPr>
                            <m:nor/>
                          </m:rPr>
                          <a:rPr lang="en-US" sz="2400" i="0"/>
                          <m:t>S</m:t>
                        </m:r>
                        <m:r>
                          <m:rPr>
                            <m:nor/>
                          </m:rPr>
                          <a:rPr lang="en-US" sz="2400" i="0"/>
                          <m:t>ố </m:t>
                        </m:r>
                        <m:r>
                          <m:rPr>
                            <m:nor/>
                          </m:rPr>
                          <a:rPr lang="en-US" sz="2400" i="0"/>
                          <m:t>l</m:t>
                        </m:r>
                        <m:r>
                          <m:rPr>
                            <m:nor/>
                          </m:rPr>
                          <a:rPr lang="en-US" sz="2400" i="0"/>
                          <m:t>ầ</m:t>
                        </m:r>
                        <m:r>
                          <m:rPr>
                            <m:nor/>
                          </m:rPr>
                          <a:rPr lang="en-US" sz="2400" i="0"/>
                          <m:t>n</m:t>
                        </m:r>
                        <m:r>
                          <m:rPr>
                            <m:nor/>
                          </m:rPr>
                          <a:rPr lang="en-US" sz="2400" i="0"/>
                          <m:t> </m:t>
                        </m:r>
                        <m:r>
                          <m:rPr>
                            <m:nor/>
                          </m:rPr>
                          <a:rPr lang="en-US" sz="2400" i="0"/>
                          <m:t>t</m:t>
                        </m:r>
                        <m:r>
                          <m:rPr>
                            <m:nor/>
                          </m:rPr>
                          <a:rPr lang="en-US" sz="2400" i="0"/>
                          <m:t>ì</m:t>
                        </m:r>
                        <m:r>
                          <m:rPr>
                            <m:nor/>
                          </m:rPr>
                          <a:rPr lang="en-US" sz="2400" i="0"/>
                          <m:t>m</m:t>
                        </m:r>
                        <m:r>
                          <m:rPr>
                            <m:nor/>
                          </m:rPr>
                          <a:rPr lang="en-US" sz="2400" i="0"/>
                          <m:t> </m:t>
                        </m:r>
                        <m:r>
                          <m:rPr>
                            <m:nor/>
                          </m:rPr>
                          <a:rPr lang="en-US" sz="2400" i="0"/>
                          <m:t>t</m:t>
                        </m:r>
                        <m:r>
                          <m:rPr>
                            <m:nor/>
                          </m:rPr>
                          <a:rPr lang="en-US" sz="2400" i="0"/>
                          <m:t>ố</m:t>
                        </m:r>
                        <m:r>
                          <m:rPr>
                            <m:nor/>
                          </m:rPr>
                          <a:rPr lang="en-US" sz="2400" i="0"/>
                          <m:t>i</m:t>
                        </m:r>
                        <m:r>
                          <m:rPr>
                            <m:nor/>
                          </m:rPr>
                          <a:rPr lang="en-US" sz="2400" i="0"/>
                          <m:t> đ</m:t>
                        </m:r>
                        <m:r>
                          <m:rPr>
                            <m:nor/>
                          </m:rPr>
                          <a:rPr lang="en-US" sz="2400" i="0"/>
                          <m:t>a</m:t>
                        </m:r>
                      </m:e>
                    </m:d>
                    <m:r>
                      <a:rPr lang="en-US" sz="2400" i="0">
                        <a:latin typeface="Cambria Math" panose="02040503050406030204" pitchFamily="18" charset="0"/>
                      </a:rPr>
                      <m:t>×</m:t>
                    </m:r>
                    <m:d>
                      <m:dPr>
                        <m:ctrlPr>
                          <a:rPr lang="en-US" sz="2400" i="1">
                            <a:latin typeface="Cambria Math" panose="02040503050406030204" pitchFamily="18" charset="0"/>
                          </a:rPr>
                        </m:ctrlPr>
                      </m:dPr>
                      <m:e>
                        <m:r>
                          <m:rPr>
                            <m:nor/>
                          </m:rPr>
                          <a:rPr lang="en-US" sz="2400" i="0"/>
                          <m:t>Th</m:t>
                        </m:r>
                        <m:r>
                          <m:rPr>
                            <m:nor/>
                          </m:rPr>
                          <a:rPr lang="en-US" sz="2400" i="0"/>
                          <m:t>ờ</m:t>
                        </m:r>
                        <m:r>
                          <m:rPr>
                            <m:nor/>
                          </m:rPr>
                          <a:rPr lang="en-US" sz="2400" i="0"/>
                          <m:t>i</m:t>
                        </m:r>
                        <m:r>
                          <m:rPr>
                            <m:nor/>
                          </m:rPr>
                          <a:rPr lang="en-US" sz="2400" i="0"/>
                          <m:t> </m:t>
                        </m:r>
                        <m:r>
                          <m:rPr>
                            <m:nor/>
                          </m:rPr>
                          <a:rPr lang="en-US" sz="2400" i="0"/>
                          <m:t>gian</m:t>
                        </m:r>
                        <m:r>
                          <m:rPr>
                            <m:nor/>
                          </m:rPr>
                          <a:rPr lang="en-US" sz="2400" i="0"/>
                          <m:t> </m:t>
                        </m:r>
                        <m:r>
                          <m:rPr>
                            <m:nor/>
                          </m:rPr>
                          <a:rPr lang="en-US" sz="2400" i="0"/>
                          <m:t>ch</m:t>
                        </m:r>
                        <m:r>
                          <m:rPr>
                            <m:nor/>
                          </m:rPr>
                          <a:rPr lang="en-US" sz="2400" i="0"/>
                          <m:t>ạ</m:t>
                        </m:r>
                        <m:r>
                          <m:rPr>
                            <m:nor/>
                          </m:rPr>
                          <a:rPr lang="en-US" sz="2400" i="0"/>
                          <m:t>y</m:t>
                        </m:r>
                        <m:r>
                          <m:rPr>
                            <m:nor/>
                          </m:rPr>
                          <a:rPr lang="en-US" sz="2400" i="0"/>
                          <m:t> </m:t>
                        </m:r>
                        <m:r>
                          <m:rPr>
                            <m:nor/>
                          </m:rPr>
                          <a:rPr lang="en-US" sz="2400" i="0"/>
                          <m:t>BFS</m:t>
                        </m:r>
                        <m:r>
                          <m:rPr>
                            <m:nor/>
                          </m:rPr>
                          <a:rPr lang="en-US" sz="2400" i="0"/>
                          <m:t> </m:t>
                        </m:r>
                        <m:r>
                          <m:rPr>
                            <m:nor/>
                          </m:rPr>
                          <a:rPr lang="en-US" sz="2400" i="0"/>
                          <m:t>m</m:t>
                        </m:r>
                        <m:r>
                          <m:rPr>
                            <m:nor/>
                          </m:rPr>
                          <a:rPr lang="en-US" sz="2400" i="0"/>
                          <m:t>ỗ</m:t>
                        </m:r>
                        <m:r>
                          <m:rPr>
                            <m:nor/>
                          </m:rPr>
                          <a:rPr lang="en-US" sz="2400" i="0"/>
                          <m:t>i</m:t>
                        </m:r>
                        <m:r>
                          <m:rPr>
                            <m:nor/>
                          </m:rPr>
                          <a:rPr lang="en-US" sz="2400" i="0"/>
                          <m:t> </m:t>
                        </m:r>
                        <m:r>
                          <m:rPr>
                            <m:nor/>
                          </m:rPr>
                          <a:rPr lang="en-US" sz="2400" i="0"/>
                          <m:t>l</m:t>
                        </m:r>
                        <m:r>
                          <m:rPr>
                            <m:nor/>
                          </m:rPr>
                          <a:rPr lang="en-US" sz="2400" i="0"/>
                          <m:t>ầ</m:t>
                        </m:r>
                        <m:r>
                          <m:rPr>
                            <m:nor/>
                          </m:rPr>
                          <a:rPr lang="en-US" sz="2400" i="0"/>
                          <m:t>n</m:t>
                        </m:r>
                      </m:e>
                    </m:d>
                  </m:oMath>
                </a14:m>
                <a:endParaRPr lang="en-US" sz="2400">
                  <a:effectLst/>
                </a:endParaRPr>
              </a:p>
              <a:p>
                <a:pPr marL="0" marR="0" lvl="1" indent="-285750">
                  <a:buFont typeface="+mj-lt"/>
                  <a:buAutoNum type="arabicPeriod"/>
                </a:pPr>
                <a14:m>
                  <m:oMath xmlns:m="http://schemas.openxmlformats.org/officeDocument/2006/math">
                    <m:r>
                      <m:rPr>
                        <m:nor/>
                      </m:rPr>
                      <a:rPr lang="en-US" sz="2400" i="0" smtClean="0"/>
                      <m:t>T</m:t>
                    </m:r>
                    <m:r>
                      <m:rPr>
                        <m:nor/>
                      </m:rPr>
                      <a:rPr lang="en-US" sz="2400" i="0" smtClean="0"/>
                      <m:t>ổ</m:t>
                    </m:r>
                    <m:r>
                      <m:rPr>
                        <m:nor/>
                      </m:rPr>
                      <a:rPr lang="en-US" sz="2400" i="0" smtClean="0"/>
                      <m:t>ng</m:t>
                    </m:r>
                    <m:r>
                      <m:rPr>
                        <m:nor/>
                      </m:rPr>
                      <a:rPr lang="en-US" sz="2400" i="0" smtClean="0"/>
                      <m:t> </m:t>
                    </m:r>
                    <m:r>
                      <m:rPr>
                        <m:nor/>
                      </m:rPr>
                      <a:rPr lang="en-US" sz="2400" i="0" smtClean="0"/>
                      <m:t>th</m:t>
                    </m:r>
                    <m:r>
                      <m:rPr>
                        <m:nor/>
                      </m:rPr>
                      <a:rPr lang="en-US" sz="2400" i="0" smtClean="0"/>
                      <m:t>ờ</m:t>
                    </m:r>
                    <m:r>
                      <m:rPr>
                        <m:nor/>
                      </m:rPr>
                      <a:rPr lang="en-US" sz="2400" i="0" smtClean="0"/>
                      <m:t>i</m:t>
                    </m:r>
                    <m:r>
                      <m:rPr>
                        <m:nor/>
                      </m:rPr>
                      <a:rPr lang="en-US" sz="2400" i="0" smtClean="0"/>
                      <m:t> </m:t>
                    </m:r>
                    <m:r>
                      <m:rPr>
                        <m:nor/>
                      </m:rPr>
                      <a:rPr lang="en-US" sz="2400" i="0" smtClean="0"/>
                      <m:t>gian</m:t>
                    </m:r>
                    <m:r>
                      <a:rPr lang="en-US" sz="2400" i="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r>
                      <a:rPr lang="en-US" sz="2400" i="1">
                        <a:latin typeface="Cambria Math" panose="02040503050406030204" pitchFamily="18" charset="0"/>
                      </a:rPr>
                      <m:t>𝑂</m:t>
                    </m:r>
                    <m:d>
                      <m:dPr>
                        <m:ctrlPr>
                          <a:rPr lang="en-US" sz="2400" i="1">
                            <a:latin typeface="Cambria Math" panose="02040503050406030204" pitchFamily="18" charset="0"/>
                          </a:rPr>
                        </m:ctrlPr>
                      </m:dPr>
                      <m:e>
                        <m:r>
                          <a:rPr lang="en-US" sz="2400" i="0">
                            <a:latin typeface="Cambria Math" panose="02040503050406030204" pitchFamily="18" charset="0"/>
                          </a:rPr>
                          <m:t>|</m:t>
                        </m:r>
                        <m:r>
                          <a:rPr lang="en-US" sz="2400" i="1">
                            <a:latin typeface="Cambria Math" panose="02040503050406030204" pitchFamily="18" charset="0"/>
                          </a:rPr>
                          <m:t>𝑉</m:t>
                        </m:r>
                        <m:r>
                          <a:rPr lang="en-US" sz="2400" i="0">
                            <a:latin typeface="Cambria Math" panose="02040503050406030204" pitchFamily="18" charset="0"/>
                          </a:rPr>
                          <m:t>|+|</m:t>
                        </m:r>
                        <m:r>
                          <a:rPr lang="en-US" sz="2400" i="1">
                            <a:latin typeface="Cambria Math" panose="02040503050406030204" pitchFamily="18" charset="0"/>
                          </a:rPr>
                          <m:t>𝐸</m:t>
                        </m:r>
                        <m:r>
                          <a:rPr lang="en-US" sz="2400" i="0">
                            <a:latin typeface="Cambria Math" panose="02040503050406030204" pitchFamily="18" charset="0"/>
                          </a:rPr>
                          <m:t>|</m:t>
                        </m:r>
                      </m:e>
                    </m:d>
                    <m:r>
                      <a:rPr lang="en-US" sz="2400" i="0">
                        <a:latin typeface="Cambria Math" panose="02040503050406030204" pitchFamily="18" charset="0"/>
                      </a:rPr>
                      <m:t>=</m:t>
                    </m:r>
                    <m:r>
                      <a:rPr lang="en-US" sz="2400" b="1" i="0">
                        <a:latin typeface="Cambria Math" panose="02040503050406030204" pitchFamily="18" charset="0"/>
                      </a:rPr>
                      <m:t>𝐎</m:t>
                    </m:r>
                    <m:d>
                      <m:dPr>
                        <m:ctrlPr>
                          <a:rPr lang="en-US" sz="2400" b="0" i="1">
                            <a:latin typeface="Cambria Math" panose="02040503050406030204" pitchFamily="18" charset="0"/>
                          </a:rPr>
                        </m:ctrlPr>
                      </m:dPr>
                      <m:e>
                        <m:r>
                          <a:rPr lang="en-US" sz="2400" b="0" i="0">
                            <a:latin typeface="Cambria Math" panose="02040503050406030204" pitchFamily="18" charset="0"/>
                          </a:rPr>
                          <m:t>|</m:t>
                        </m:r>
                        <m:r>
                          <a:rPr lang="en-US" sz="2400" b="1" i="0">
                            <a:latin typeface="Cambria Math" panose="02040503050406030204" pitchFamily="18" charset="0"/>
                          </a:rPr>
                          <m:t>𝐕</m:t>
                        </m:r>
                        <m:r>
                          <a:rPr lang="en-US" sz="2400" b="0" i="0">
                            <a:latin typeface="Cambria Math" panose="02040503050406030204" pitchFamily="18" charset="0"/>
                          </a:rPr>
                          <m:t>|</m:t>
                        </m:r>
                        <m:r>
                          <a:rPr lang="en-US" sz="2400" b="1" i="0">
                            <a:latin typeface="Cambria Math" panose="02040503050406030204" pitchFamily="18" charset="0"/>
                          </a:rPr>
                          <m:t>𝟐</m:t>
                        </m:r>
                        <m:r>
                          <a:rPr lang="en-US" sz="2400" b="0" i="0">
                            <a:latin typeface="Cambria Math" panose="02040503050406030204" pitchFamily="18" charset="0"/>
                          </a:rPr>
                          <m:t>+|</m:t>
                        </m:r>
                        <m:r>
                          <a:rPr lang="en-US" sz="2400" b="1" i="0">
                            <a:latin typeface="Cambria Math" panose="02040503050406030204" pitchFamily="18" charset="0"/>
                          </a:rPr>
                          <m:t>𝐕</m:t>
                        </m:r>
                        <m:r>
                          <a:rPr lang="en-US" sz="2400" b="0" i="0">
                            <a:latin typeface="Cambria Math" panose="02040503050406030204" pitchFamily="18" charset="0"/>
                          </a:rPr>
                          <m:t>|⋅|</m:t>
                        </m:r>
                        <m:r>
                          <a:rPr lang="en-US" sz="2400" b="1" i="0">
                            <a:latin typeface="Cambria Math" panose="02040503050406030204" pitchFamily="18" charset="0"/>
                          </a:rPr>
                          <m:t>𝐄</m:t>
                        </m:r>
                        <m:r>
                          <a:rPr lang="en-US" sz="2400" b="0" i="0">
                            <a:latin typeface="Cambria Math" panose="02040503050406030204" pitchFamily="18" charset="0"/>
                          </a:rPr>
                          <m:t>|</m:t>
                        </m:r>
                      </m:e>
                    </m:d>
                  </m:oMath>
                </a14:m>
                <a:endParaRPr lang="en-US" sz="2400">
                  <a:effectLst/>
                  <a:latin typeface="Google Sans Text"/>
                </a:endParaRPr>
              </a:p>
              <a:p>
                <a:endParaRPr lang="en-US"/>
              </a:p>
            </p:txBody>
          </p:sp>
        </mc:Choice>
        <mc:Fallback xmlns="">
          <p:sp>
            <p:nvSpPr>
              <p:cNvPr id="3" name="Notes Placeholder 2"/>
              <p:cNvSpPr>
                <a:spLocks noGrp="1"/>
              </p:cNvSpPr>
              <p:nvPr>
                <p:ph type="body" idx="1"/>
              </p:nvPr>
            </p:nvSpPr>
            <p:spPr/>
            <p:txBody>
              <a:bodyPr/>
              <a:lstStyle/>
              <a:p>
                <a:pPr marL="0" marR="0">
                  <a:buNone/>
                </a:pPr>
                <a:r>
                  <a:rPr lang="en-US" sz="2400" b="1">
                    <a:effectLst/>
                  </a:rPr>
                  <a:t>Giải thích chi tiết cho câu hỏi "(Tại sao?)" để hướng dẫn học sinh:</a:t>
                </a:r>
                <a:endParaRPr lang="en-US" sz="2400">
                  <a:effectLst/>
                </a:endParaRPr>
              </a:p>
              <a:p>
                <a:pPr marL="0" marR="0" lvl="0" indent="-342900">
                  <a:buFont typeface="+mj-lt"/>
                  <a:buAutoNum type="arabicPeriod"/>
                </a:pPr>
                <a:r>
                  <a:rPr lang="en-US" sz="2400" b="1">
                    <a:effectLst/>
                  </a:rPr>
                  <a:t>Tại sao tối đa chỉ có </a:t>
                </a:r>
                <a:r>
                  <a:rPr lang="en-US" sz="2400" i="0">
                    <a:latin typeface="Cambria Math" panose="02040503050406030204" pitchFamily="18" charset="0"/>
                  </a:rPr>
                  <a:t>|𝑉|</a:t>
                </a:r>
                <a:r>
                  <a:rPr lang="en-US" sz="2400" b="1">
                    <a:effectLst/>
                  </a:rPr>
                  <a:t>đường đi tăng?</a:t>
                </a:r>
                <a:endParaRPr lang="en-US" sz="2400">
                  <a:effectLst/>
                </a:endParaRPr>
              </a:p>
              <a:p>
                <a:pPr marL="0" marR="0" lvl="1" indent="-285750">
                  <a:buFont typeface="+mj-lt"/>
                  <a:buAutoNum type="arabicPeriod"/>
                </a:pPr>
                <a:r>
                  <a:rPr lang="en-US" sz="2400">
                    <a:effectLst/>
                  </a:rPr>
                  <a:t>Mỗi lần tìm thấy và "lật" một đường đi tăng, </a:t>
                </a:r>
                <a:r>
                  <a:rPr lang="en-US" sz="2400" b="1">
                    <a:effectLst/>
                  </a:rPr>
                  <a:t>kích thước của cặp ghép sẽ tăng thêm đúng 1</a:t>
                </a:r>
                <a:r>
                  <a:rPr lang="en-US" sz="2400">
                    <a:effectLst/>
                  </a:rPr>
                  <a:t>.</a:t>
                </a:r>
              </a:p>
              <a:p>
                <a:pPr marL="0" marR="0" lvl="1" indent="-285750">
                  <a:buFont typeface="+mj-lt"/>
                  <a:buAutoNum type="arabicPeriod"/>
                </a:pPr>
                <a:r>
                  <a:rPr lang="en-US" sz="2400">
                    <a:effectLst/>
                  </a:rPr>
                  <a:t>Số lượng cặp ghép tối đa không bao giờ vượt quá tổng số đỉnh </a:t>
                </a:r>
                <a:r>
                  <a:rPr lang="en-US" sz="2400" i="0">
                    <a:latin typeface="Cambria Math" panose="02040503050406030204" pitchFamily="18" charset="0"/>
                  </a:rPr>
                  <a:t>|𝑉|</a:t>
                </a:r>
                <a:r>
                  <a:rPr lang="en-US" sz="2400">
                    <a:effectLst/>
                  </a:rPr>
                  <a:t>của đồ thị (chính xác hơn là không vượt quá </a:t>
                </a:r>
                <a:r>
                  <a:rPr lang="en-US" sz="2400" i="0">
                    <a:latin typeface="Cambria Math" panose="02040503050406030204" pitchFamily="18" charset="0"/>
                  </a:rPr>
                  <a:t>(|𝑉|)/2</a:t>
                </a:r>
                <a:r>
                  <a:rPr lang="en-US" sz="2400">
                    <a:effectLst/>
                  </a:rPr>
                  <a:t>vì mỗi cạnh nối 2 đỉnh).</a:t>
                </a:r>
              </a:p>
              <a:p>
                <a:pPr marL="0" marR="0" lvl="1" indent="-285750">
                  <a:buFont typeface="+mj-lt"/>
                  <a:buAutoNum type="arabicPeriod"/>
                </a:pPr>
                <a:r>
                  <a:rPr lang="en-US" sz="2400">
                    <a:effectLst/>
                  </a:rPr>
                  <a:t>Do đó, số lần ta có thể thực hiện tăng cặp ghép tối đa chỉ là </a:t>
                </a:r>
                <a:r>
                  <a:rPr lang="en-US" sz="2400" i="0">
                    <a:latin typeface="Cambria Math" panose="02040503050406030204" pitchFamily="18" charset="0"/>
                  </a:rPr>
                  <a:t>𝑂(|𝑉|)</a:t>
                </a:r>
                <a:r>
                  <a:rPr lang="en-US" sz="2400">
                    <a:effectLst/>
                  </a:rPr>
                  <a:t>lần.</a:t>
                </a:r>
              </a:p>
              <a:p>
                <a:pPr marL="0" marR="0" lvl="0" indent="-342900">
                  <a:buFont typeface="+mj-lt"/>
                  <a:buAutoNum type="arabicPeriod"/>
                </a:pPr>
                <a:r>
                  <a:rPr lang="en-US" sz="2400" b="1">
                    <a:effectLst/>
                  </a:rPr>
                  <a:t>Cách tính tổng độ phức tạp:</a:t>
                </a:r>
                <a:endParaRPr lang="en-US" sz="2400">
                  <a:effectLst/>
                </a:endParaRPr>
              </a:p>
              <a:p>
                <a:pPr marL="0" marR="0" lvl="1" indent="-285750">
                  <a:buFont typeface="+mj-lt"/>
                  <a:buAutoNum type="arabicPeriod"/>
                </a:pPr>
                <a:r>
                  <a:rPr lang="en-US" sz="2400" i="0">
                    <a:latin typeface="Cambria Math" panose="02040503050406030204" pitchFamily="18" charset="0"/>
                  </a:rPr>
                  <a:t>"Tổng thời gian"=("</a:t>
                </a:r>
                <a:r>
                  <a:rPr lang="en-US" sz="2400" i="0"/>
                  <a:t>Số lần tìm tối đa</a:t>
                </a:r>
                <a:r>
                  <a:rPr lang="en-US" sz="2400" i="0">
                    <a:latin typeface="Cambria Math" panose="02040503050406030204" pitchFamily="18" charset="0"/>
                  </a:rPr>
                  <a:t>" )×("</a:t>
                </a:r>
                <a:r>
                  <a:rPr lang="en-US" sz="2400" i="0"/>
                  <a:t>Thời gian chạy BFS mỗi lần</a:t>
                </a:r>
                <a:r>
                  <a:rPr lang="en-US" sz="2400" i="0">
                    <a:latin typeface="Cambria Math" panose="02040503050406030204" pitchFamily="18" charset="0"/>
                  </a:rPr>
                  <a:t>" )</a:t>
                </a:r>
                <a:endParaRPr lang="en-US" sz="2400">
                  <a:effectLst/>
                </a:endParaRPr>
              </a:p>
              <a:p>
                <a:pPr marL="0" marR="0" lvl="1" indent="-285750">
                  <a:buFont typeface="+mj-lt"/>
                  <a:buAutoNum type="arabicPeriod"/>
                </a:pPr>
                <a:r>
                  <a:rPr lang="en-US" sz="2400" i="0">
                    <a:latin typeface="Cambria Math" panose="02040503050406030204" pitchFamily="18" charset="0"/>
                  </a:rPr>
                  <a:t>"Tổng thời gian"=|𝑉|×𝑂(|𝑉|+|𝐸|)=</a:t>
                </a:r>
                <a:r>
                  <a:rPr lang="en-US" sz="2400" b="1" i="0">
                    <a:latin typeface="Cambria Math" panose="02040503050406030204" pitchFamily="18" charset="0"/>
                  </a:rPr>
                  <a:t>𝐎</a:t>
                </a:r>
                <a:r>
                  <a:rPr lang="en-US" sz="2400" b="0" i="0">
                    <a:latin typeface="Cambria Math" panose="02040503050406030204" pitchFamily="18" charset="0"/>
                  </a:rPr>
                  <a:t>(|</a:t>
                </a:r>
                <a:r>
                  <a:rPr lang="en-US" sz="2400" b="1" i="0">
                    <a:latin typeface="Cambria Math" panose="02040503050406030204" pitchFamily="18" charset="0"/>
                  </a:rPr>
                  <a:t>𝐕</a:t>
                </a:r>
                <a:r>
                  <a:rPr lang="en-US" sz="2400" b="0" i="0">
                    <a:latin typeface="Cambria Math" panose="02040503050406030204" pitchFamily="18" charset="0"/>
                  </a:rPr>
                  <a:t>|</a:t>
                </a:r>
                <a:r>
                  <a:rPr lang="en-US" sz="2400" b="1" i="0">
                    <a:latin typeface="Cambria Math" panose="02040503050406030204" pitchFamily="18" charset="0"/>
                  </a:rPr>
                  <a:t>𝟐</a:t>
                </a:r>
                <a:r>
                  <a:rPr lang="en-US" sz="2400" b="0" i="0">
                    <a:latin typeface="Cambria Math" panose="02040503050406030204" pitchFamily="18" charset="0"/>
                  </a:rPr>
                  <a:t>+|</a:t>
                </a:r>
                <a:r>
                  <a:rPr lang="en-US" sz="2400" b="1" i="0">
                    <a:latin typeface="Cambria Math" panose="02040503050406030204" pitchFamily="18" charset="0"/>
                  </a:rPr>
                  <a:t>𝐕</a:t>
                </a:r>
                <a:r>
                  <a:rPr lang="en-US" sz="2400" b="0" i="0">
                    <a:latin typeface="Cambria Math" panose="02040503050406030204" pitchFamily="18" charset="0"/>
                  </a:rPr>
                  <a:t>|⋅|</a:t>
                </a:r>
                <a:r>
                  <a:rPr lang="en-US" sz="2400" b="1" i="0">
                    <a:latin typeface="Cambria Math" panose="02040503050406030204" pitchFamily="18" charset="0"/>
                  </a:rPr>
                  <a:t>𝐄</a:t>
                </a:r>
                <a:r>
                  <a:rPr lang="en-US" sz="2400" b="0" i="0">
                    <a:latin typeface="Cambria Math" panose="02040503050406030204" pitchFamily="18" charset="0"/>
                  </a:rPr>
                  <a:t>|)</a:t>
                </a:r>
                <a:endParaRPr lang="en-US" sz="2400">
                  <a:effectLst/>
                  <a:latin typeface="Google Sans Text"/>
                </a:endParaRPr>
              </a:p>
              <a:p>
                <a:endParaRPr lang="en-US"/>
              </a:p>
            </p:txBody>
          </p:sp>
        </mc:Fallback>
      </mc:AlternateContent>
      <p:sp>
        <p:nvSpPr>
          <p:cNvPr id="4" name="Slide Number Placeholder 3"/>
          <p:cNvSpPr>
            <a:spLocks noGrp="1"/>
          </p:cNvSpPr>
          <p:nvPr>
            <p:ph type="sldNum" sz="quarter" idx="5"/>
          </p:nvPr>
        </p:nvSpPr>
        <p:spPr/>
        <p:txBody>
          <a:bodyPr/>
          <a:lstStyle/>
          <a:p>
            <a:fld id="{7389A7E7-7298-40E5-A655-E0A9B5A825F1}" type="slidenum">
              <a:rPr lang="en-US" smtClean="0"/>
              <a:t>26</a:t>
            </a:fld>
            <a:endParaRPr lang="en-US"/>
          </a:p>
        </p:txBody>
      </p:sp>
    </p:spTree>
    <p:extLst>
      <p:ext uri="{BB962C8B-B14F-4D97-AF65-F5344CB8AC3E}">
        <p14:creationId xmlns:p14="http://schemas.microsoft.com/office/powerpoint/2010/main" val="2777730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Input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3 15</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3 3 4</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3 1 2 3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3 1 2 3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3 15</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7 3 4</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3 1 2 3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2 1 2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3 1 2 3</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0 0</a:t>
            </a:r>
          </a:p>
          <a:p>
            <a:r>
              <a:rPr lang="en-US" sz="1200" b="1" kern="1200" dirty="0">
                <a:solidFill>
                  <a:schemeClr val="tx1"/>
                </a:solidFill>
                <a:effectLst/>
                <a:latin typeface="+mn-lt"/>
                <a:ea typeface="+mn-ea"/>
                <a:cs typeface="+mn-cs"/>
              </a:rPr>
              <a:t>Output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8 11 12</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1 6 7</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2 3 4 5</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0</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389A7E7-7298-40E5-A655-E0A9B5A825F1}" type="slidenum">
              <a:rPr lang="en-US" smtClean="0"/>
              <a:t>33</a:t>
            </a:fld>
            <a:endParaRPr lang="en-US"/>
          </a:p>
        </p:txBody>
      </p:sp>
    </p:spTree>
    <p:extLst>
      <p:ext uri="{BB962C8B-B14F-4D97-AF65-F5344CB8AC3E}">
        <p14:creationId xmlns:p14="http://schemas.microsoft.com/office/powerpoint/2010/main" val="2404574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36.png"/><Relationship Id="rId3" Type="http://schemas.openxmlformats.org/officeDocument/2006/relationships/image" Target="../media/image9.png"/><Relationship Id="rId7" Type="http://schemas.openxmlformats.org/officeDocument/2006/relationships/image" Target="../media/image17.png"/><Relationship Id="rId12" Type="http://schemas.openxmlformats.org/officeDocument/2006/relationships/image" Target="../media/image33.png"/><Relationship Id="rId17" Type="http://schemas.openxmlformats.org/officeDocument/2006/relationships/image" Target="../media/image35.png"/><Relationship Id="rId2" Type="http://schemas.openxmlformats.org/officeDocument/2006/relationships/image" Target="../media/image13.png"/><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32.png"/><Relationship Id="rId5" Type="http://schemas.openxmlformats.org/officeDocument/2006/relationships/image" Target="../media/image11.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31.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11.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16.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0.png"/><Relationship Id="rId5" Type="http://schemas.openxmlformats.org/officeDocument/2006/relationships/image" Target="../media/image15.png"/><Relationship Id="rId15" Type="http://schemas.openxmlformats.org/officeDocument/2006/relationships/image" Target="../media/image44.png"/><Relationship Id="rId10" Type="http://schemas.openxmlformats.org/officeDocument/2006/relationships/image" Target="../media/image10.png"/><Relationship Id="rId19" Type="http://schemas.openxmlformats.org/officeDocument/2006/relationships/image" Target="../media/image48.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43.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11.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16.png"/><Relationship Id="rId16" Type="http://schemas.openxmlformats.org/officeDocument/2006/relationships/image" Target="../media/image45.png"/><Relationship Id="rId20"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0.png"/><Relationship Id="rId5" Type="http://schemas.openxmlformats.org/officeDocument/2006/relationships/image" Target="../media/image15.png"/><Relationship Id="rId15" Type="http://schemas.openxmlformats.org/officeDocument/2006/relationships/image" Target="../media/image44.png"/><Relationship Id="rId10" Type="http://schemas.openxmlformats.org/officeDocument/2006/relationships/image" Target="../media/image10.png"/><Relationship Id="rId19" Type="http://schemas.openxmlformats.org/officeDocument/2006/relationships/image" Target="../media/image48.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54.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54.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55.png"/><Relationship Id="rId5" Type="http://schemas.openxmlformats.org/officeDocument/2006/relationships/image" Target="../media/image10.png"/><Relationship Id="rId15" Type="http://schemas.openxmlformats.org/officeDocument/2006/relationships/image" Target="../media/image56.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57.png"/></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54.png"/><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55.png"/><Relationship Id="rId5" Type="http://schemas.openxmlformats.org/officeDocument/2006/relationships/image" Target="../media/image10.png"/><Relationship Id="rId15" Type="http://schemas.openxmlformats.org/officeDocument/2006/relationships/image" Target="../media/image56.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57.png"/></Relationships>
</file>

<file path=ppt/slides/_rels/slide1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64.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63.png"/><Relationship Id="rId2" Type="http://schemas.openxmlformats.org/officeDocument/2006/relationships/image" Target="../media/image54.png"/><Relationship Id="rId16" Type="http://schemas.openxmlformats.org/officeDocument/2006/relationships/image" Target="../media/image62.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0.png"/><Relationship Id="rId5" Type="http://schemas.openxmlformats.org/officeDocument/2006/relationships/image" Target="../media/image10.png"/><Relationship Id="rId15" Type="http://schemas.openxmlformats.org/officeDocument/2006/relationships/image" Target="../media/image61.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58.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65.png"/></Relationships>
</file>

<file path=ppt/slides/_rels/slide1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69.png"/><Relationship Id="rId18" Type="http://schemas.openxmlformats.org/officeDocument/2006/relationships/image" Target="../media/image23.png"/><Relationship Id="rId3" Type="http://schemas.openxmlformats.org/officeDocument/2006/relationships/image" Target="../media/image66.png"/><Relationship Id="rId21" Type="http://schemas.openxmlformats.org/officeDocument/2006/relationships/image" Target="../media/image73.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72.png"/><Relationship Id="rId2" Type="http://schemas.openxmlformats.org/officeDocument/2006/relationships/image" Target="../media/image54.png"/><Relationship Id="rId16" Type="http://schemas.openxmlformats.org/officeDocument/2006/relationships/image" Target="../media/image71.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0.png"/><Relationship Id="rId5" Type="http://schemas.openxmlformats.org/officeDocument/2006/relationships/image" Target="../media/image10.png"/><Relationship Id="rId15" Type="http://schemas.openxmlformats.org/officeDocument/2006/relationships/image" Target="../media/image61.png"/><Relationship Id="rId23" Type="http://schemas.openxmlformats.org/officeDocument/2006/relationships/image" Target="../media/image28.png"/><Relationship Id="rId10" Type="http://schemas.openxmlformats.org/officeDocument/2006/relationships/image" Target="../media/image68.png"/><Relationship Id="rId19" Type="http://schemas.openxmlformats.org/officeDocument/2006/relationships/image" Target="../media/image24.png"/><Relationship Id="rId4" Type="http://schemas.openxmlformats.org/officeDocument/2006/relationships/image" Target="../media/image58.png"/><Relationship Id="rId9" Type="http://schemas.openxmlformats.org/officeDocument/2006/relationships/image" Target="../media/image14.png"/><Relationship Id="rId14" Type="http://schemas.openxmlformats.org/officeDocument/2006/relationships/image" Target="../media/image70.png"/><Relationship Id="rId22" Type="http://schemas.openxmlformats.org/officeDocument/2006/relationships/image" Target="../media/image65.png"/></Relationships>
</file>

<file path=ppt/slides/_rels/slide19.xml.rels><?xml version="1.0" encoding="UTF-8" standalone="yes"?>
<Relationships xmlns="http://schemas.openxmlformats.org/package/2006/relationships"><Relationship Id="rId13" Type="http://schemas.openxmlformats.org/officeDocument/2006/relationships/image" Target="../media/image65.png"/><Relationship Id="rId18" Type="http://schemas.openxmlformats.org/officeDocument/2006/relationships/image" Target="../media/image82.png"/><Relationship Id="rId26" Type="http://schemas.openxmlformats.org/officeDocument/2006/relationships/image" Target="../media/image90.png"/><Relationship Id="rId3" Type="http://schemas.openxmlformats.org/officeDocument/2006/relationships/image" Target="../media/image60.png"/><Relationship Id="rId21" Type="http://schemas.openxmlformats.org/officeDocument/2006/relationships/image" Target="../media/image85.png"/><Relationship Id="rId7" Type="http://schemas.openxmlformats.org/officeDocument/2006/relationships/image" Target="../media/image75.png"/><Relationship Id="rId12" Type="http://schemas.openxmlformats.org/officeDocument/2006/relationships/image" Target="../media/image77.png"/><Relationship Id="rId17" Type="http://schemas.openxmlformats.org/officeDocument/2006/relationships/image" Target="../media/image81.png"/><Relationship Id="rId25" Type="http://schemas.openxmlformats.org/officeDocument/2006/relationships/image" Target="../media/image89.png"/><Relationship Id="rId33" Type="http://schemas.openxmlformats.org/officeDocument/2006/relationships/image" Target="../media/image97.png"/><Relationship Id="rId2" Type="http://schemas.openxmlformats.org/officeDocument/2006/relationships/image" Target="../media/image54.png"/><Relationship Id="rId16" Type="http://schemas.openxmlformats.org/officeDocument/2006/relationships/image" Target="../media/image80.png"/><Relationship Id="rId20" Type="http://schemas.openxmlformats.org/officeDocument/2006/relationships/image" Target="../media/image84.png"/><Relationship Id="rId29"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6.png"/><Relationship Id="rId24" Type="http://schemas.openxmlformats.org/officeDocument/2006/relationships/image" Target="../media/image88.png"/><Relationship Id="rId32" Type="http://schemas.openxmlformats.org/officeDocument/2006/relationships/image" Target="../media/image96.png"/><Relationship Id="rId5" Type="http://schemas.openxmlformats.org/officeDocument/2006/relationships/image" Target="../media/image8.png"/><Relationship Id="rId15" Type="http://schemas.openxmlformats.org/officeDocument/2006/relationships/image" Target="../media/image79.png"/><Relationship Id="rId23" Type="http://schemas.openxmlformats.org/officeDocument/2006/relationships/image" Target="../media/image87.png"/><Relationship Id="rId28" Type="http://schemas.openxmlformats.org/officeDocument/2006/relationships/image" Target="../media/image92.png"/><Relationship Id="rId10" Type="http://schemas.openxmlformats.org/officeDocument/2006/relationships/image" Target="../media/image67.png"/><Relationship Id="rId19" Type="http://schemas.openxmlformats.org/officeDocument/2006/relationships/image" Target="../media/image83.png"/><Relationship Id="rId31" Type="http://schemas.openxmlformats.org/officeDocument/2006/relationships/image" Target="../media/image95.png"/><Relationship Id="rId4" Type="http://schemas.openxmlformats.org/officeDocument/2006/relationships/image" Target="../media/image74.png"/><Relationship Id="rId9" Type="http://schemas.openxmlformats.org/officeDocument/2006/relationships/image" Target="../media/image39.png"/><Relationship Id="rId14" Type="http://schemas.openxmlformats.org/officeDocument/2006/relationships/image" Target="../media/image78.png"/><Relationship Id="rId22" Type="http://schemas.openxmlformats.org/officeDocument/2006/relationships/image" Target="../media/image86.png"/><Relationship Id="rId27" Type="http://schemas.openxmlformats.org/officeDocument/2006/relationships/image" Target="../media/image91.png"/><Relationship Id="rId30" Type="http://schemas.openxmlformats.org/officeDocument/2006/relationships/image" Target="../media/image94.png"/><Relationship Id="rId8"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79.png"/><Relationship Id="rId18" Type="http://schemas.openxmlformats.org/officeDocument/2006/relationships/image" Target="../media/image84.png"/><Relationship Id="rId26" Type="http://schemas.openxmlformats.org/officeDocument/2006/relationships/image" Target="../media/image102.png"/><Relationship Id="rId3" Type="http://schemas.openxmlformats.org/officeDocument/2006/relationships/image" Target="../media/image59.png"/><Relationship Id="rId21" Type="http://schemas.openxmlformats.org/officeDocument/2006/relationships/image" Target="../media/image101.png"/><Relationship Id="rId7" Type="http://schemas.openxmlformats.org/officeDocument/2006/relationships/image" Target="../media/image75.png"/><Relationship Id="rId12" Type="http://schemas.openxmlformats.org/officeDocument/2006/relationships/image" Target="../media/image99.png"/><Relationship Id="rId17" Type="http://schemas.openxmlformats.org/officeDocument/2006/relationships/image" Target="../media/image83.png"/><Relationship Id="rId25" Type="http://schemas.openxmlformats.org/officeDocument/2006/relationships/image" Target="../media/image91.png"/><Relationship Id="rId2" Type="http://schemas.openxmlformats.org/officeDocument/2006/relationships/image" Target="../media/image54.png"/><Relationship Id="rId16" Type="http://schemas.openxmlformats.org/officeDocument/2006/relationships/image" Target="../media/image82.png"/><Relationship Id="rId20" Type="http://schemas.openxmlformats.org/officeDocument/2006/relationships/image" Target="../media/image86.png"/><Relationship Id="rId29" Type="http://schemas.openxmlformats.org/officeDocument/2006/relationships/image" Target="../media/image104.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98.png"/><Relationship Id="rId24" Type="http://schemas.openxmlformats.org/officeDocument/2006/relationships/image" Target="../media/image90.png"/><Relationship Id="rId5" Type="http://schemas.openxmlformats.org/officeDocument/2006/relationships/image" Target="../media/image8.png"/><Relationship Id="rId15" Type="http://schemas.openxmlformats.org/officeDocument/2006/relationships/image" Target="../media/image81.png"/><Relationship Id="rId23" Type="http://schemas.openxmlformats.org/officeDocument/2006/relationships/image" Target="../media/image89.png"/><Relationship Id="rId28" Type="http://schemas.openxmlformats.org/officeDocument/2006/relationships/image" Target="../media/image94.png"/><Relationship Id="rId10" Type="http://schemas.openxmlformats.org/officeDocument/2006/relationships/image" Target="../media/image77.png"/><Relationship Id="rId19" Type="http://schemas.openxmlformats.org/officeDocument/2006/relationships/image" Target="../media/image85.png"/><Relationship Id="rId31" Type="http://schemas.openxmlformats.org/officeDocument/2006/relationships/image" Target="../media/image106.png"/><Relationship Id="rId4" Type="http://schemas.openxmlformats.org/officeDocument/2006/relationships/image" Target="../media/image74.png"/><Relationship Id="rId9" Type="http://schemas.openxmlformats.org/officeDocument/2006/relationships/image" Target="../media/image67.png"/><Relationship Id="rId14" Type="http://schemas.openxmlformats.org/officeDocument/2006/relationships/image" Target="../media/image100.png"/><Relationship Id="rId22" Type="http://schemas.openxmlformats.org/officeDocument/2006/relationships/image" Target="../media/image88.png"/><Relationship Id="rId27" Type="http://schemas.openxmlformats.org/officeDocument/2006/relationships/image" Target="../media/image103.png"/><Relationship Id="rId30" Type="http://schemas.openxmlformats.org/officeDocument/2006/relationships/image" Target="../media/image105.png"/></Relationships>
</file>

<file path=ppt/slides/_rels/slide21.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4.png"/><Relationship Id="rId18" Type="http://schemas.openxmlformats.org/officeDocument/2006/relationships/image" Target="../media/image118.png"/><Relationship Id="rId3" Type="http://schemas.openxmlformats.org/officeDocument/2006/relationships/image" Target="../media/image107.png"/><Relationship Id="rId21" Type="http://schemas.openxmlformats.org/officeDocument/2006/relationships/image" Target="../media/image121.png"/><Relationship Id="rId7" Type="http://schemas.openxmlformats.org/officeDocument/2006/relationships/image" Target="../media/image12.png"/><Relationship Id="rId12" Type="http://schemas.openxmlformats.org/officeDocument/2006/relationships/image" Target="../media/image113.png"/><Relationship Id="rId17" Type="http://schemas.openxmlformats.org/officeDocument/2006/relationships/image" Target="../media/image24.png"/><Relationship Id="rId2" Type="http://schemas.openxmlformats.org/officeDocument/2006/relationships/image" Target="../media/image54.png"/><Relationship Id="rId16" Type="http://schemas.openxmlformats.org/officeDocument/2006/relationships/image" Target="../media/image117.png"/><Relationship Id="rId20" Type="http://schemas.openxmlformats.org/officeDocument/2006/relationships/image" Target="../media/image120.png"/><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69.png"/><Relationship Id="rId5" Type="http://schemas.openxmlformats.org/officeDocument/2006/relationships/image" Target="../media/image109.png"/><Relationship Id="rId15" Type="http://schemas.openxmlformats.org/officeDocument/2006/relationships/image" Target="../media/image116.png"/><Relationship Id="rId10" Type="http://schemas.openxmlformats.org/officeDocument/2006/relationships/image" Target="../media/image17.png"/><Relationship Id="rId19" Type="http://schemas.openxmlformats.org/officeDocument/2006/relationships/image" Target="../media/image119.png"/><Relationship Id="rId4" Type="http://schemas.openxmlformats.org/officeDocument/2006/relationships/image" Target="../media/image108.png"/><Relationship Id="rId9" Type="http://schemas.openxmlformats.org/officeDocument/2006/relationships/image" Target="../media/image112.png"/><Relationship Id="rId14" Type="http://schemas.openxmlformats.org/officeDocument/2006/relationships/image" Target="../media/image115.png"/></Relationships>
</file>

<file path=ppt/slides/_rels/slide22.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22.png"/><Relationship Id="rId21" Type="http://schemas.openxmlformats.org/officeDocument/2006/relationships/image" Target="../media/image139.png"/><Relationship Id="rId7" Type="http://schemas.openxmlformats.org/officeDocument/2006/relationships/image" Target="../media/image126.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image" Target="../media/image54.png"/><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7.png"/><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5.png"/><Relationship Id="rId24" Type="http://schemas.openxmlformats.org/officeDocument/2006/relationships/image" Target="../media/image142.png"/><Relationship Id="rId5" Type="http://schemas.openxmlformats.org/officeDocument/2006/relationships/image" Target="../media/image124.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6.png"/><Relationship Id="rId10" Type="http://schemas.openxmlformats.org/officeDocument/2006/relationships/image" Target="../media/image129.png"/><Relationship Id="rId19" Type="http://schemas.openxmlformats.org/officeDocument/2006/relationships/image" Target="../media/image137.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2.png"/><Relationship Id="rId22" Type="http://schemas.openxmlformats.org/officeDocument/2006/relationships/image" Target="../media/image140.png"/><Relationship Id="rId27" Type="http://schemas.openxmlformats.org/officeDocument/2006/relationships/image" Target="../media/image145.png"/></Relationships>
</file>

<file path=ppt/slides/_rels/slide2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22.png"/><Relationship Id="rId21" Type="http://schemas.openxmlformats.org/officeDocument/2006/relationships/image" Target="../media/image139.png"/><Relationship Id="rId7" Type="http://schemas.openxmlformats.org/officeDocument/2006/relationships/image" Target="../media/image126.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image" Target="../media/image54.png"/><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7.png"/><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5.png"/><Relationship Id="rId24" Type="http://schemas.openxmlformats.org/officeDocument/2006/relationships/image" Target="../media/image142.png"/><Relationship Id="rId5" Type="http://schemas.openxmlformats.org/officeDocument/2006/relationships/image" Target="../media/image124.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9.png"/><Relationship Id="rId10" Type="http://schemas.openxmlformats.org/officeDocument/2006/relationships/image" Target="../media/image129.png"/><Relationship Id="rId19" Type="http://schemas.openxmlformats.org/officeDocument/2006/relationships/image" Target="../media/image137.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2.png"/><Relationship Id="rId22" Type="http://schemas.openxmlformats.org/officeDocument/2006/relationships/image" Target="../media/image148.png"/><Relationship Id="rId27" Type="http://schemas.openxmlformats.org/officeDocument/2006/relationships/image" Target="../media/image145.png"/></Relationships>
</file>

<file path=ppt/slides/_rels/slide24.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155.png"/><Relationship Id="rId18" Type="http://schemas.openxmlformats.org/officeDocument/2006/relationships/image" Target="../media/image160.png"/><Relationship Id="rId3" Type="http://schemas.openxmlformats.org/officeDocument/2006/relationships/image" Target="../media/image110.png"/><Relationship Id="rId7" Type="http://schemas.openxmlformats.org/officeDocument/2006/relationships/image" Target="../media/image125.png"/><Relationship Id="rId12" Type="http://schemas.openxmlformats.org/officeDocument/2006/relationships/image" Target="../media/image154.png"/><Relationship Id="rId17" Type="http://schemas.openxmlformats.org/officeDocument/2006/relationships/image" Target="../media/image159.png"/><Relationship Id="rId2" Type="http://schemas.openxmlformats.org/officeDocument/2006/relationships/image" Target="../media/image54.png"/><Relationship Id="rId16" Type="http://schemas.openxmlformats.org/officeDocument/2006/relationships/image" Target="../media/image158.png"/><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53.png"/><Relationship Id="rId5" Type="http://schemas.openxmlformats.org/officeDocument/2006/relationships/image" Target="../media/image107.png"/><Relationship Id="rId15" Type="http://schemas.openxmlformats.org/officeDocument/2006/relationships/image" Target="../media/image157.pn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50.png"/><Relationship Id="rId9" Type="http://schemas.openxmlformats.org/officeDocument/2006/relationships/image" Target="../media/image151.png"/><Relationship Id="rId14" Type="http://schemas.openxmlformats.org/officeDocument/2006/relationships/image" Target="../media/image156.png"/></Relationships>
</file>

<file path=ppt/slides/_rels/slide25.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70.png"/></Relationships>
</file>

<file path=ppt/slides/_rels/slide34.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62000" y="4598640"/>
            <a:ext cx="1628775" cy="922050"/>
          </a:xfrm>
          <a:prstGeom prst="roundRect">
            <a:avLst>
              <a:gd name="adj" fmla="val 23076"/>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200"/>
          </a:p>
        </p:txBody>
      </p:sp>
      <p:sp>
        <p:nvSpPr>
          <p:cNvPr id="3" name="Rounded Rectangle 2"/>
          <p:cNvSpPr/>
          <p:nvPr/>
        </p:nvSpPr>
        <p:spPr>
          <a:xfrm>
            <a:off x="2543175" y="4598640"/>
            <a:ext cx="1524000" cy="922050"/>
          </a:xfrm>
          <a:prstGeom prst="roundRect">
            <a:avLst>
              <a:gd name="adj" fmla="val 23076"/>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200"/>
          </a:p>
        </p:txBody>
      </p:sp>
      <p:sp>
        <p:nvSpPr>
          <p:cNvPr id="4" name="Rounded Rectangle 3"/>
          <p:cNvSpPr/>
          <p:nvPr/>
        </p:nvSpPr>
        <p:spPr>
          <a:xfrm>
            <a:off x="4219575" y="4598640"/>
            <a:ext cx="1466850" cy="922050"/>
          </a:xfrm>
          <a:prstGeom prst="roundRect">
            <a:avLst>
              <a:gd name="adj" fmla="val 2307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200"/>
          </a:p>
        </p:txBody>
      </p:sp>
      <p:sp>
        <p:nvSpPr>
          <p:cNvPr id="8" name="TextBox 7"/>
          <p:cNvSpPr txBox="1"/>
          <p:nvPr/>
        </p:nvSpPr>
        <p:spPr>
          <a:xfrm>
            <a:off x="762000" y="2011709"/>
            <a:ext cx="6702219" cy="430887"/>
          </a:xfrm>
          <a:prstGeom prst="rect">
            <a:avLst/>
          </a:prstGeom>
          <a:noFill/>
        </p:spPr>
        <p:txBody>
          <a:bodyPr wrap="none" lIns="0" tIns="0" rIns="0" bIns="0" anchor="t">
            <a:spAutoFit/>
          </a:bodyPr>
          <a:lstStyle/>
          <a:p>
            <a:pPr algn="l"/>
            <a:r>
              <a:rPr sz="2800" b="1" i="0" u="none">
                <a:solidFill>
                  <a:srgbClr val="60A5FA"/>
                </a:solidFill>
                <a:latin typeface="Be Vietnam Pro"/>
              </a:rPr>
              <a:t>LÝ THUYẾT ĐỒ THỊ &amp; LÝ THUYẾT THUẬT TOÁN</a:t>
            </a:r>
          </a:p>
        </p:txBody>
      </p:sp>
      <p:sp>
        <p:nvSpPr>
          <p:cNvPr id="9" name="TextBox 8"/>
          <p:cNvSpPr txBox="1"/>
          <p:nvPr/>
        </p:nvSpPr>
        <p:spPr>
          <a:xfrm>
            <a:off x="762000" y="2354609"/>
            <a:ext cx="9101137" cy="527580"/>
          </a:xfrm>
          <a:prstGeom prst="rect">
            <a:avLst/>
          </a:prstGeom>
          <a:noFill/>
        </p:spPr>
        <p:txBody>
          <a:bodyPr wrap="square" lIns="0" tIns="0" rIns="0" bIns="0" anchor="t">
            <a:spAutoFit/>
          </a:bodyPr>
          <a:lstStyle/>
          <a:p>
            <a:pPr algn="l">
              <a:lnSpc>
                <a:spcPts val="4484"/>
              </a:lnSpc>
            </a:pPr>
            <a:r>
              <a:rPr sz="2800" b="1" i="0" u="none">
                <a:solidFill>
                  <a:srgbClr val="F8FAFC"/>
                </a:solidFill>
                <a:latin typeface="Be Vietnam Pro"/>
              </a:rPr>
              <a:t>Cặp Ghép Cực Đại Trên Đồ Thị Hai Phía</a:t>
            </a:r>
          </a:p>
        </p:txBody>
      </p:sp>
      <p:sp>
        <p:nvSpPr>
          <p:cNvPr id="10" name="TextBox 9"/>
          <p:cNvSpPr txBox="1"/>
          <p:nvPr/>
        </p:nvSpPr>
        <p:spPr>
          <a:xfrm>
            <a:off x="762000" y="3684240"/>
            <a:ext cx="10919460" cy="610936"/>
          </a:xfrm>
          <a:prstGeom prst="rect">
            <a:avLst/>
          </a:prstGeom>
          <a:noFill/>
        </p:spPr>
        <p:txBody>
          <a:bodyPr wrap="square" lIns="0" tIns="0" rIns="0" bIns="0" anchor="t">
            <a:spAutoFit/>
          </a:bodyPr>
          <a:lstStyle/>
          <a:p>
            <a:pPr algn="l">
              <a:lnSpc>
                <a:spcPts val="2250"/>
              </a:lnSpc>
            </a:pPr>
            <a:r>
              <a:rPr sz="2800" b="0" i="0" u="none">
                <a:solidFill>
                  <a:srgbClr val="94A3B8"/>
                </a:solidFill>
                <a:latin typeface="Be Vietnam Pro"/>
              </a:rPr>
              <a:t>Bài toán tối ưu phân công, thuật toán đường mở (Augmenting Path) và minh họa từng bước trực quan cho học sinh.</a:t>
            </a:r>
          </a:p>
        </p:txBody>
      </p:sp>
      <p:sp>
        <p:nvSpPr>
          <p:cNvPr id="11" name="TextBox 10"/>
          <p:cNvSpPr txBox="1"/>
          <p:nvPr/>
        </p:nvSpPr>
        <p:spPr>
          <a:xfrm>
            <a:off x="971550" y="4721111"/>
            <a:ext cx="1495425" cy="677108"/>
          </a:xfrm>
          <a:prstGeom prst="rect">
            <a:avLst/>
          </a:prstGeom>
          <a:noFill/>
        </p:spPr>
        <p:txBody>
          <a:bodyPr wrap="square" lIns="0" tIns="0" rIns="0" bIns="0" anchor="t">
            <a:spAutoFit/>
          </a:bodyPr>
          <a:lstStyle/>
          <a:p>
            <a:pPr algn="l"/>
            <a:r>
              <a:rPr sz="2200" b="1" i="0" u="none">
                <a:solidFill>
                  <a:srgbClr val="1E40AF"/>
                </a:solidFill>
                <a:latin typeface="Be Vietnam Pro"/>
              </a:rPr>
              <a:t>Bipartite Matching</a:t>
            </a:r>
          </a:p>
        </p:txBody>
      </p:sp>
      <p:sp>
        <p:nvSpPr>
          <p:cNvPr id="12" name="TextBox 11"/>
          <p:cNvSpPr txBox="1"/>
          <p:nvPr/>
        </p:nvSpPr>
        <p:spPr>
          <a:xfrm>
            <a:off x="2619375" y="4636740"/>
            <a:ext cx="1428750" cy="677108"/>
          </a:xfrm>
          <a:prstGeom prst="rect">
            <a:avLst/>
          </a:prstGeom>
          <a:noFill/>
        </p:spPr>
        <p:txBody>
          <a:bodyPr wrap="square" lIns="0" tIns="0" rIns="0" bIns="0" anchor="t">
            <a:spAutoFit/>
          </a:bodyPr>
          <a:lstStyle/>
          <a:p>
            <a:pPr algn="l"/>
            <a:r>
              <a:rPr sz="2200" b="1" i="0" u="none">
                <a:solidFill>
                  <a:srgbClr val="065F46"/>
                </a:solidFill>
                <a:latin typeface="Be Vietnam Pro"/>
              </a:rPr>
              <a:t>Thuật Toán Kuhn</a:t>
            </a:r>
          </a:p>
        </p:txBody>
      </p:sp>
      <p:sp>
        <p:nvSpPr>
          <p:cNvPr id="13" name="TextBox 12"/>
          <p:cNvSpPr txBox="1"/>
          <p:nvPr/>
        </p:nvSpPr>
        <p:spPr>
          <a:xfrm>
            <a:off x="4352925" y="4721111"/>
            <a:ext cx="1333500" cy="677108"/>
          </a:xfrm>
          <a:prstGeom prst="rect">
            <a:avLst/>
          </a:prstGeom>
          <a:noFill/>
        </p:spPr>
        <p:txBody>
          <a:bodyPr wrap="square" lIns="0" tIns="0" rIns="0" bIns="0" anchor="t">
            <a:spAutoFit/>
          </a:bodyPr>
          <a:lstStyle/>
          <a:p>
            <a:pPr algn="l"/>
            <a:r>
              <a:rPr sz="2200" b="1" i="0" u="none">
                <a:solidFill>
                  <a:srgbClr val="92400E"/>
                </a:solidFill>
                <a:latin typeface="Be Vietnam Pro"/>
              </a:rPr>
              <a:t>Chuyên Đề HSG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767012"/>
            <a:ext cx="3505200" cy="2181225"/>
          </a:xfrm>
          <a:prstGeom prst="roundRect">
            <a:avLst>
              <a:gd name="adj" fmla="val 698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Rounded Rectangle 2"/>
          <p:cNvSpPr/>
          <p:nvPr/>
        </p:nvSpPr>
        <p:spPr>
          <a:xfrm>
            <a:off x="4343400" y="2767012"/>
            <a:ext cx="3505200" cy="2181225"/>
          </a:xfrm>
          <a:prstGeom prst="roundRect">
            <a:avLst>
              <a:gd name="adj" fmla="val 698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Rounded Rectangle 3"/>
          <p:cNvSpPr/>
          <p:nvPr/>
        </p:nvSpPr>
        <p:spPr>
          <a:xfrm>
            <a:off x="8077200" y="2881312"/>
            <a:ext cx="3505200" cy="1952625"/>
          </a:xfrm>
          <a:prstGeom prst="roundRect">
            <a:avLst>
              <a:gd name="adj" fmla="val 780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pic>
        <p:nvPicPr>
          <p:cNvPr id="5" name="Picture 4" descr="image.png"/>
          <p:cNvPicPr>
            <a:picLocks noChangeAspect="1"/>
          </p:cNvPicPr>
          <p:nvPr/>
        </p:nvPicPr>
        <p:blipFill>
          <a:blip r:embed="rId2"/>
          <a:stretch>
            <a:fillRect/>
          </a:stretch>
        </p:blipFill>
        <p:spPr>
          <a:xfrm>
            <a:off x="885825" y="3043237"/>
            <a:ext cx="457200" cy="457200"/>
          </a:xfrm>
          <a:prstGeom prst="rect">
            <a:avLst/>
          </a:prstGeom>
        </p:spPr>
      </p:pic>
      <p:pic>
        <p:nvPicPr>
          <p:cNvPr id="6" name="Picture 5" descr="image.png"/>
          <p:cNvPicPr>
            <a:picLocks noChangeAspect="1"/>
          </p:cNvPicPr>
          <p:nvPr/>
        </p:nvPicPr>
        <p:blipFill>
          <a:blip r:embed="rId3"/>
          <a:stretch>
            <a:fillRect/>
          </a:stretch>
        </p:blipFill>
        <p:spPr>
          <a:xfrm>
            <a:off x="4619625" y="3043237"/>
            <a:ext cx="457200" cy="457200"/>
          </a:xfrm>
          <a:prstGeom prst="rect">
            <a:avLst/>
          </a:prstGeom>
        </p:spPr>
      </p:pic>
      <p:pic>
        <p:nvPicPr>
          <p:cNvPr id="7" name="Picture 6" descr="image.png"/>
          <p:cNvPicPr>
            <a:picLocks noChangeAspect="1"/>
          </p:cNvPicPr>
          <p:nvPr/>
        </p:nvPicPr>
        <p:blipFill>
          <a:blip r:embed="rId4"/>
          <a:stretch>
            <a:fillRect/>
          </a:stretch>
        </p:blipFill>
        <p:spPr>
          <a:xfrm>
            <a:off x="8353425" y="3157537"/>
            <a:ext cx="457200" cy="457200"/>
          </a:xfrm>
          <a:prstGeom prst="rect">
            <a:avLst/>
          </a:prstGeom>
        </p:spPr>
      </p:pic>
      <p:pic>
        <p:nvPicPr>
          <p:cNvPr id="8" name="Picture 7" descr="image.png"/>
          <p:cNvPicPr>
            <a:picLocks noChangeAspect="1"/>
          </p:cNvPicPr>
          <p:nvPr/>
        </p:nvPicPr>
        <p:blipFill>
          <a:blip r:embed="rId5"/>
          <a:stretch>
            <a:fillRect/>
          </a:stretch>
        </p:blipFill>
        <p:spPr>
          <a:xfrm>
            <a:off x="981075" y="3167062"/>
            <a:ext cx="266700" cy="209550"/>
          </a:xfrm>
          <a:prstGeom prst="rect">
            <a:avLst/>
          </a:prstGeom>
        </p:spPr>
      </p:pic>
      <p:pic>
        <p:nvPicPr>
          <p:cNvPr id="9" name="Picture 8" descr="image.png"/>
          <p:cNvPicPr>
            <a:picLocks noChangeAspect="1"/>
          </p:cNvPicPr>
          <p:nvPr/>
        </p:nvPicPr>
        <p:blipFill>
          <a:blip r:embed="rId6"/>
          <a:stretch>
            <a:fillRect/>
          </a:stretch>
        </p:blipFill>
        <p:spPr>
          <a:xfrm>
            <a:off x="4714875" y="3167062"/>
            <a:ext cx="266700" cy="209550"/>
          </a:xfrm>
          <a:prstGeom prst="rect">
            <a:avLst/>
          </a:prstGeom>
        </p:spPr>
      </p:pic>
      <p:pic>
        <p:nvPicPr>
          <p:cNvPr id="10" name="Picture 9" descr="image.png"/>
          <p:cNvPicPr>
            <a:picLocks noChangeAspect="1"/>
          </p:cNvPicPr>
          <p:nvPr/>
        </p:nvPicPr>
        <p:blipFill>
          <a:blip r:embed="rId7"/>
          <a:stretch>
            <a:fillRect/>
          </a:stretch>
        </p:blipFill>
        <p:spPr>
          <a:xfrm>
            <a:off x="8477250" y="3281362"/>
            <a:ext cx="209550" cy="209550"/>
          </a:xfrm>
          <a:prstGeom prst="rect">
            <a:avLst/>
          </a:prstGeom>
        </p:spPr>
      </p:pic>
      <p:sp>
        <p:nvSpPr>
          <p:cNvPr id="11" name="TextBox 10"/>
          <p:cNvSpPr txBox="1"/>
          <p:nvPr/>
        </p:nvSpPr>
        <p:spPr>
          <a:xfrm>
            <a:off x="609600" y="457200"/>
            <a:ext cx="1766446" cy="215444"/>
          </a:xfrm>
          <a:prstGeom prst="rect">
            <a:avLst/>
          </a:prstGeom>
          <a:noFill/>
        </p:spPr>
        <p:txBody>
          <a:bodyPr wrap="none" lIns="0" tIns="0" rIns="0" bIns="0" anchor="t">
            <a:spAutoFit/>
          </a:bodyPr>
          <a:lstStyle/>
          <a:p>
            <a:pPr algn="l"/>
            <a:r>
              <a:rPr sz="1400" b="1" i="0" u="none">
                <a:solidFill>
                  <a:srgbClr val="2563EB"/>
                </a:solidFill>
                <a:latin typeface="Be Vietnam Pro"/>
              </a:rPr>
              <a:t>1. ĐẶT VẤN ĐỀ THỰC TẾ</a:t>
            </a:r>
          </a:p>
        </p:txBody>
      </p:sp>
      <p:sp>
        <p:nvSpPr>
          <p:cNvPr id="12" name="TextBox 11"/>
          <p:cNvSpPr txBox="1"/>
          <p:nvPr/>
        </p:nvSpPr>
        <p:spPr>
          <a:xfrm>
            <a:off x="609600" y="1148036"/>
            <a:ext cx="6090385" cy="410433"/>
          </a:xfrm>
          <a:prstGeom prst="rect">
            <a:avLst/>
          </a:prstGeom>
          <a:noFill/>
        </p:spPr>
        <p:txBody>
          <a:bodyPr wrap="none" lIns="0" tIns="0" rIns="0" bIns="0" anchor="t">
            <a:spAutoFit/>
          </a:bodyPr>
          <a:lstStyle/>
          <a:p>
            <a:pPr algn="l">
              <a:lnSpc>
                <a:spcPts val="3000"/>
              </a:lnSpc>
            </a:pPr>
            <a:r>
              <a:rPr sz="3600" b="1" i="0" u="none">
                <a:solidFill>
                  <a:srgbClr val="0F172A"/>
                </a:solidFill>
                <a:latin typeface="Be Vietnam Pro"/>
              </a:rPr>
              <a:t>Từ Thực Tế Đến Mô Hình Đồ Thị</a:t>
            </a:r>
          </a:p>
        </p:txBody>
      </p:sp>
      <p:sp>
        <p:nvSpPr>
          <p:cNvPr id="13" name="TextBox 12"/>
          <p:cNvSpPr txBox="1"/>
          <p:nvPr/>
        </p:nvSpPr>
        <p:spPr>
          <a:xfrm>
            <a:off x="885825" y="3652837"/>
            <a:ext cx="1639873" cy="307777"/>
          </a:xfrm>
          <a:prstGeom prst="rect">
            <a:avLst/>
          </a:prstGeom>
          <a:noFill/>
        </p:spPr>
        <p:txBody>
          <a:bodyPr wrap="none" lIns="0" tIns="0" rIns="0" bIns="0" anchor="t">
            <a:spAutoFit/>
          </a:bodyPr>
          <a:lstStyle/>
          <a:p>
            <a:pPr algn="l"/>
            <a:r>
              <a:rPr sz="2000" b="1" i="0" u="none">
                <a:solidFill>
                  <a:srgbClr val="0F172A"/>
                </a:solidFill>
                <a:latin typeface="Be Vietnam Pro"/>
              </a:rPr>
              <a:t>Phân Công Việc</a:t>
            </a:r>
          </a:p>
        </p:txBody>
      </p:sp>
      <p:sp>
        <p:nvSpPr>
          <p:cNvPr id="14" name="TextBox 13"/>
          <p:cNvSpPr txBox="1"/>
          <p:nvPr/>
        </p:nvSpPr>
        <p:spPr>
          <a:xfrm>
            <a:off x="885825" y="3986212"/>
            <a:ext cx="3048000" cy="695703"/>
          </a:xfrm>
          <a:prstGeom prst="rect">
            <a:avLst/>
          </a:prstGeom>
          <a:noFill/>
        </p:spPr>
        <p:txBody>
          <a:bodyPr wrap="square" lIns="0" tIns="0" rIns="0" bIns="0" anchor="t">
            <a:spAutoFit/>
          </a:bodyPr>
          <a:lstStyle/>
          <a:p>
            <a:pPr algn="l">
              <a:lnSpc>
                <a:spcPts val="1800"/>
              </a:lnSpc>
            </a:pPr>
            <a:r>
              <a:rPr b="0" i="0" u="none">
                <a:solidFill>
                  <a:srgbClr val="475569"/>
                </a:solidFill>
                <a:latin typeface="Be Vietnam Pro"/>
              </a:rPr>
              <a:t>Ghép </a:t>
            </a:r>
            <a:r>
              <a:rPr lang="en-US">
                <a:solidFill>
                  <a:srgbClr val="475569"/>
                </a:solidFill>
                <a:latin typeface="Be Vietnam Pro"/>
              </a:rPr>
              <a:t>N</a:t>
            </a:r>
            <a:r>
              <a:rPr b="0" i="0" u="none">
                <a:solidFill>
                  <a:srgbClr val="475569"/>
                </a:solidFill>
                <a:latin typeface="Be Vietnam Pro"/>
              </a:rPr>
              <a:t> nhân viên với </a:t>
            </a:r>
            <a:r>
              <a:rPr lang="en-US" b="0" i="0" u="none">
                <a:solidFill>
                  <a:srgbClr val="475569"/>
                </a:solidFill>
                <a:latin typeface="Be Vietnam Pro"/>
              </a:rPr>
              <a:t>M</a:t>
            </a:r>
            <a:r>
              <a:rPr b="0" i="0" u="none">
                <a:solidFill>
                  <a:srgbClr val="475569"/>
                </a:solidFill>
                <a:latin typeface="Be Vietnam Pro"/>
              </a:rPr>
              <a:t> công việc thích hợp sao cho số người có việc là nhiều nhất.</a:t>
            </a:r>
          </a:p>
        </p:txBody>
      </p:sp>
      <p:sp>
        <p:nvSpPr>
          <p:cNvPr id="15" name="TextBox 14"/>
          <p:cNvSpPr txBox="1"/>
          <p:nvPr/>
        </p:nvSpPr>
        <p:spPr>
          <a:xfrm>
            <a:off x="4619625" y="3652837"/>
            <a:ext cx="2070888" cy="307777"/>
          </a:xfrm>
          <a:prstGeom prst="rect">
            <a:avLst/>
          </a:prstGeom>
          <a:noFill/>
        </p:spPr>
        <p:txBody>
          <a:bodyPr wrap="none" lIns="0" tIns="0" rIns="0" bIns="0" anchor="t">
            <a:spAutoFit/>
          </a:bodyPr>
          <a:lstStyle/>
          <a:p>
            <a:pPr algn="l"/>
            <a:r>
              <a:rPr sz="2000" b="1" i="0" u="none">
                <a:solidFill>
                  <a:srgbClr val="0F172A"/>
                </a:solidFill>
                <a:latin typeface="Be Vietnam Pro"/>
              </a:rPr>
              <a:t>Tuyển Sinh Đào Tạo</a:t>
            </a:r>
          </a:p>
        </p:txBody>
      </p:sp>
      <p:sp>
        <p:nvSpPr>
          <p:cNvPr id="16" name="TextBox 15"/>
          <p:cNvSpPr txBox="1"/>
          <p:nvPr/>
        </p:nvSpPr>
        <p:spPr>
          <a:xfrm>
            <a:off x="4619625" y="3986212"/>
            <a:ext cx="3048000" cy="695703"/>
          </a:xfrm>
          <a:prstGeom prst="rect">
            <a:avLst/>
          </a:prstGeom>
          <a:noFill/>
        </p:spPr>
        <p:txBody>
          <a:bodyPr wrap="square" lIns="0" tIns="0" rIns="0" bIns="0" anchor="t">
            <a:spAutoFit/>
          </a:bodyPr>
          <a:lstStyle/>
          <a:p>
            <a:pPr algn="l">
              <a:lnSpc>
                <a:spcPts val="1800"/>
              </a:lnSpc>
            </a:pPr>
            <a:r>
              <a:rPr b="0" i="0" u="none">
                <a:solidFill>
                  <a:srgbClr val="475569"/>
                </a:solidFill>
                <a:latin typeface="Be Vietnam Pro"/>
              </a:rPr>
              <a:t>Xếp học sinh vào các lớp học nguyện vọng sao cho không bị trùng lịch và tối đa số học sinh.</a:t>
            </a:r>
          </a:p>
        </p:txBody>
      </p:sp>
      <p:sp>
        <p:nvSpPr>
          <p:cNvPr id="17" name="TextBox 16"/>
          <p:cNvSpPr txBox="1"/>
          <p:nvPr/>
        </p:nvSpPr>
        <p:spPr>
          <a:xfrm>
            <a:off x="8353425" y="3767137"/>
            <a:ext cx="2021644" cy="307777"/>
          </a:xfrm>
          <a:prstGeom prst="rect">
            <a:avLst/>
          </a:prstGeom>
          <a:noFill/>
        </p:spPr>
        <p:txBody>
          <a:bodyPr wrap="none" lIns="0" tIns="0" rIns="0" bIns="0" anchor="t">
            <a:spAutoFit/>
          </a:bodyPr>
          <a:lstStyle/>
          <a:p>
            <a:pPr algn="l"/>
            <a:r>
              <a:rPr sz="2000" b="1" i="0" u="none">
                <a:solidFill>
                  <a:srgbClr val="0F172A"/>
                </a:solidFill>
                <a:latin typeface="Be Vietnam Pro"/>
              </a:rPr>
              <a:t>Bài Toán Hôn Nhân</a:t>
            </a:r>
          </a:p>
        </p:txBody>
      </p:sp>
      <p:sp>
        <p:nvSpPr>
          <p:cNvPr id="18" name="TextBox 17"/>
          <p:cNvSpPr txBox="1"/>
          <p:nvPr/>
        </p:nvSpPr>
        <p:spPr>
          <a:xfrm>
            <a:off x="8353425" y="4100512"/>
            <a:ext cx="3048000" cy="692497"/>
          </a:xfrm>
          <a:prstGeom prst="rect">
            <a:avLst/>
          </a:prstGeom>
          <a:noFill/>
        </p:spPr>
        <p:txBody>
          <a:bodyPr wrap="square" lIns="0" tIns="0" rIns="0" bIns="0" anchor="t">
            <a:spAutoFit/>
          </a:bodyPr>
          <a:lstStyle/>
          <a:p>
            <a:pPr algn="l">
              <a:lnSpc>
                <a:spcPts val="1800"/>
              </a:lnSpc>
            </a:pPr>
            <a:r>
              <a:rPr b="0" i="0" u="none">
                <a:solidFill>
                  <a:srgbClr val="475569"/>
                </a:solidFill>
                <a:latin typeface="Be Vietnam Pro"/>
              </a:rPr>
              <a:t>Ghép đôi giữa hai tập hợp đối tượng dựa trên tiêu chí quen biết hoặc độ phù hợp.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0" y="1992263"/>
            <a:ext cx="5591175" cy="2790825"/>
          </a:xfrm>
          <a:prstGeom prst="roundRect">
            <a:avLst>
              <a:gd name="adj" fmla="val 546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ounded Rectangle 2"/>
          <p:cNvSpPr/>
          <p:nvPr/>
        </p:nvSpPr>
        <p:spPr>
          <a:xfrm>
            <a:off x="7024687" y="2944763"/>
            <a:ext cx="419100" cy="4191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Rounded Rectangle 3"/>
          <p:cNvSpPr/>
          <p:nvPr/>
        </p:nvSpPr>
        <p:spPr>
          <a:xfrm>
            <a:off x="7024687" y="3516263"/>
            <a:ext cx="419100" cy="4191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 name="Rounded Rectangle 4"/>
          <p:cNvSpPr/>
          <p:nvPr/>
        </p:nvSpPr>
        <p:spPr>
          <a:xfrm>
            <a:off x="7024687" y="4087763"/>
            <a:ext cx="419100" cy="4191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Rounded Rectangle 5"/>
          <p:cNvSpPr/>
          <p:nvPr/>
        </p:nvSpPr>
        <p:spPr>
          <a:xfrm>
            <a:off x="10301287" y="2944763"/>
            <a:ext cx="419100" cy="4191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Rounded Rectangle 6"/>
          <p:cNvSpPr/>
          <p:nvPr/>
        </p:nvSpPr>
        <p:spPr>
          <a:xfrm>
            <a:off x="10301287" y="3516263"/>
            <a:ext cx="419100" cy="4191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ounded Rectangle 7"/>
          <p:cNvSpPr/>
          <p:nvPr/>
        </p:nvSpPr>
        <p:spPr>
          <a:xfrm>
            <a:off x="10301287" y="4087763"/>
            <a:ext cx="419100" cy="4191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pic>
        <p:nvPicPr>
          <p:cNvPr id="9" name="Picture 8" descr="image.png"/>
          <p:cNvPicPr>
            <a:picLocks noChangeAspect="1"/>
          </p:cNvPicPr>
          <p:nvPr/>
        </p:nvPicPr>
        <p:blipFill>
          <a:blip r:embed="rId2"/>
          <a:stretch>
            <a:fillRect/>
          </a:stretch>
        </p:blipFill>
        <p:spPr>
          <a:xfrm>
            <a:off x="8796337" y="3440063"/>
            <a:ext cx="200025" cy="228600"/>
          </a:xfrm>
          <a:prstGeom prst="rect">
            <a:avLst/>
          </a:prstGeom>
        </p:spPr>
      </p:pic>
      <p:sp>
        <p:nvSpPr>
          <p:cNvPr id="10" name="TextBox 9"/>
          <p:cNvSpPr txBox="1"/>
          <p:nvPr/>
        </p:nvSpPr>
        <p:spPr>
          <a:xfrm>
            <a:off x="609600" y="457200"/>
            <a:ext cx="1442703" cy="169277"/>
          </a:xfrm>
          <a:prstGeom prst="rect">
            <a:avLst/>
          </a:prstGeom>
          <a:noFill/>
        </p:spPr>
        <p:txBody>
          <a:bodyPr wrap="none" lIns="0" tIns="0" rIns="0" bIns="0" anchor="t">
            <a:spAutoFit/>
          </a:bodyPr>
          <a:lstStyle/>
          <a:p>
            <a:pPr algn="l"/>
            <a:r>
              <a:rPr sz="1100" b="1" i="0" u="none">
                <a:solidFill>
                  <a:srgbClr val="2563EB"/>
                </a:solidFill>
                <a:latin typeface="Be Vietnam Pro"/>
              </a:rPr>
              <a:t>2. KHÁI NIỆM NỀN TẢNG</a:t>
            </a:r>
          </a:p>
        </p:txBody>
      </p:sp>
      <p:sp>
        <p:nvSpPr>
          <p:cNvPr id="11" name="TextBox 10"/>
          <p:cNvSpPr txBox="1"/>
          <p:nvPr/>
        </p:nvSpPr>
        <p:spPr>
          <a:xfrm>
            <a:off x="609600" y="704850"/>
            <a:ext cx="4724114" cy="384721"/>
          </a:xfrm>
          <a:prstGeom prst="rect">
            <a:avLst/>
          </a:prstGeom>
          <a:noFill/>
        </p:spPr>
        <p:txBody>
          <a:bodyPr wrap="none" lIns="0" tIns="0" rIns="0" bIns="0" anchor="t">
            <a:spAutoFit/>
          </a:bodyPr>
          <a:lstStyle/>
          <a:p>
            <a:pPr algn="l">
              <a:lnSpc>
                <a:spcPts val="3000"/>
              </a:lnSpc>
            </a:pPr>
            <a:r>
              <a:rPr sz="2800" b="1" i="0" u="none">
                <a:solidFill>
                  <a:srgbClr val="0F172A"/>
                </a:solidFill>
                <a:latin typeface="Be Vietnam Pro"/>
              </a:rPr>
              <a:t>Đồ Thị Hai Phía &amp; Tập Cặp Ghép</a:t>
            </a:r>
          </a:p>
        </p:txBody>
      </p:sp>
      <p:sp>
        <p:nvSpPr>
          <p:cNvPr id="12" name="TextBox 11"/>
          <p:cNvSpPr txBox="1"/>
          <p:nvPr/>
        </p:nvSpPr>
        <p:spPr>
          <a:xfrm>
            <a:off x="7067499" y="2268488"/>
            <a:ext cx="3648178" cy="246221"/>
          </a:xfrm>
          <a:prstGeom prst="rect">
            <a:avLst/>
          </a:prstGeom>
          <a:noFill/>
        </p:spPr>
        <p:txBody>
          <a:bodyPr wrap="none" lIns="0" tIns="0" rIns="0" bIns="0" anchor="t">
            <a:spAutoFit/>
          </a:bodyPr>
          <a:lstStyle/>
          <a:p>
            <a:pPr algn="ctr"/>
            <a:r>
              <a:rPr sz="1600" b="1" i="0" u="none">
                <a:solidFill>
                  <a:srgbClr val="64748B"/>
                </a:solidFill>
                <a:latin typeface="Be Vietnam Pro"/>
              </a:rPr>
              <a:t>MÔ HÌNH ĐỒ THỊ HAI PHÍA (TẬP X &amp; TẬP Y)</a:t>
            </a:r>
          </a:p>
        </p:txBody>
      </p:sp>
      <p:sp>
        <p:nvSpPr>
          <p:cNvPr id="13" name="TextBox 12"/>
          <p:cNvSpPr txBox="1"/>
          <p:nvPr/>
        </p:nvSpPr>
        <p:spPr>
          <a:xfrm>
            <a:off x="714375" y="2463751"/>
            <a:ext cx="3113673" cy="307777"/>
          </a:xfrm>
          <a:prstGeom prst="rect">
            <a:avLst/>
          </a:prstGeom>
          <a:noFill/>
        </p:spPr>
        <p:txBody>
          <a:bodyPr wrap="none" lIns="0" tIns="0" rIns="0" bIns="0" anchor="t">
            <a:spAutoFit/>
          </a:bodyPr>
          <a:lstStyle/>
          <a:p>
            <a:pPr algn="l"/>
            <a:r>
              <a:rPr sz="2000" b="1" i="0" u="none">
                <a:solidFill>
                  <a:srgbClr val="0F172A"/>
                </a:solidFill>
                <a:latin typeface="Be Vietnam Pro"/>
              </a:rPr>
              <a:t>1. Đồ Thị Hai Phía G = (X, Y, E)</a:t>
            </a:r>
          </a:p>
        </p:txBody>
      </p:sp>
      <p:sp>
        <p:nvSpPr>
          <p:cNvPr id="14" name="TextBox 13"/>
          <p:cNvSpPr txBox="1"/>
          <p:nvPr/>
        </p:nvSpPr>
        <p:spPr>
          <a:xfrm>
            <a:off x="714375" y="2806651"/>
            <a:ext cx="5133975" cy="485775"/>
          </a:xfrm>
          <a:prstGeom prst="rect">
            <a:avLst/>
          </a:prstGeom>
          <a:noFill/>
        </p:spPr>
        <p:txBody>
          <a:bodyPr wrap="square" lIns="0" tIns="0" rIns="0" bIns="0" anchor="t">
            <a:spAutoFit/>
          </a:bodyPr>
          <a:lstStyle/>
          <a:p>
            <a:pPr algn="l">
              <a:lnSpc>
                <a:spcPts val="1912"/>
              </a:lnSpc>
            </a:pPr>
            <a:r>
              <a:rPr b="0" i="0" u="none">
                <a:solidFill>
                  <a:srgbClr val="475569"/>
                </a:solidFill>
                <a:latin typeface="Be Vietnam Pro"/>
              </a:rPr>
              <a:t>Tập đỉnh chia thành hai tập rời nhau X và Y. Mọi cạnh e </a:t>
            </a:r>
            <a:r>
              <a:rPr lang="en-US" b="0" i="0" u="none">
                <a:solidFill>
                  <a:srgbClr val="475569"/>
                </a:solidFill>
                <a:latin typeface="Be Vietnam Pro"/>
              </a:rPr>
              <a:t>thuộc</a:t>
            </a:r>
            <a:r>
              <a:rPr b="0" i="0" u="none">
                <a:solidFill>
                  <a:srgbClr val="475569"/>
                </a:solidFill>
                <a:latin typeface="Be Vietnam Pro"/>
              </a:rPr>
              <a:t> E chỉ nối một đỉnh thuộc </a:t>
            </a:r>
            <a:r>
              <a:rPr lang="en-US" b="0" i="0" u="none">
                <a:solidFill>
                  <a:srgbClr val="475569"/>
                </a:solidFill>
                <a:latin typeface="Be Vietnam Pro"/>
              </a:rPr>
              <a:t>X</a:t>
            </a:r>
            <a:r>
              <a:rPr b="0" i="0" u="none">
                <a:solidFill>
                  <a:srgbClr val="475569"/>
                </a:solidFill>
                <a:latin typeface="Be Vietnam Pro"/>
              </a:rPr>
              <a:t> với một đỉnh thuộc </a:t>
            </a:r>
            <a:r>
              <a:rPr lang="en-US" b="0" i="0" u="none">
                <a:solidFill>
                  <a:srgbClr val="475569"/>
                </a:solidFill>
                <a:latin typeface="Be Vietnam Pro"/>
              </a:rPr>
              <a:t>Y</a:t>
            </a:r>
            <a:r>
              <a:rPr b="0" i="0" u="none">
                <a:solidFill>
                  <a:srgbClr val="475569"/>
                </a:solidFill>
                <a:latin typeface="Be Vietnam Pro"/>
              </a:rPr>
              <a:t>.</a:t>
            </a:r>
          </a:p>
        </p:txBody>
      </p:sp>
      <p:sp>
        <p:nvSpPr>
          <p:cNvPr id="15" name="TextBox 14"/>
          <p:cNvSpPr txBox="1"/>
          <p:nvPr/>
        </p:nvSpPr>
        <p:spPr>
          <a:xfrm>
            <a:off x="714375" y="3482926"/>
            <a:ext cx="2845138" cy="307777"/>
          </a:xfrm>
          <a:prstGeom prst="rect">
            <a:avLst/>
          </a:prstGeom>
          <a:noFill/>
        </p:spPr>
        <p:txBody>
          <a:bodyPr wrap="none" lIns="0" tIns="0" rIns="0" bIns="0" anchor="t">
            <a:spAutoFit/>
          </a:bodyPr>
          <a:lstStyle/>
          <a:p>
            <a:pPr algn="l"/>
            <a:r>
              <a:rPr sz="2000" b="1" i="0" u="none">
                <a:solidFill>
                  <a:srgbClr val="0F172A"/>
                </a:solidFill>
                <a:latin typeface="Be Vietnam Pro"/>
              </a:rPr>
              <a:t>2. Tập Cặp Ghép M </a:t>
            </a:r>
            <a:r>
              <a:rPr lang="en-US" sz="2000" b="1" i="0" u="none">
                <a:solidFill>
                  <a:srgbClr val="0F172A"/>
                </a:solidFill>
                <a:latin typeface="Be Vietnam Pro"/>
              </a:rPr>
              <a:t>thuộc </a:t>
            </a:r>
            <a:r>
              <a:rPr sz="2000" b="1" i="0" u="none">
                <a:solidFill>
                  <a:srgbClr val="0F172A"/>
                </a:solidFill>
                <a:latin typeface="Be Vietnam Pro"/>
              </a:rPr>
              <a:t>E</a:t>
            </a:r>
          </a:p>
        </p:txBody>
      </p:sp>
      <p:sp>
        <p:nvSpPr>
          <p:cNvPr id="16" name="TextBox 15"/>
          <p:cNvSpPr txBox="1"/>
          <p:nvPr/>
        </p:nvSpPr>
        <p:spPr>
          <a:xfrm>
            <a:off x="714375" y="3825826"/>
            <a:ext cx="5133975" cy="487313"/>
          </a:xfrm>
          <a:prstGeom prst="rect">
            <a:avLst/>
          </a:prstGeom>
          <a:noFill/>
        </p:spPr>
        <p:txBody>
          <a:bodyPr wrap="square" lIns="0" tIns="0" rIns="0" bIns="0" anchor="t">
            <a:spAutoFit/>
          </a:bodyPr>
          <a:lstStyle/>
          <a:p>
            <a:pPr algn="l">
              <a:lnSpc>
                <a:spcPts val="1912"/>
              </a:lnSpc>
            </a:pPr>
            <a:r>
              <a:rPr b="0" i="0" u="none">
                <a:solidFill>
                  <a:srgbClr val="475569"/>
                </a:solidFill>
                <a:latin typeface="Be Vietnam Pro"/>
              </a:rPr>
              <a:t>Một tập hợp các cạnh M sao cho </a:t>
            </a:r>
            <a:r>
              <a:rPr b="1" i="0" u="none">
                <a:solidFill>
                  <a:srgbClr val="475569"/>
                </a:solidFill>
                <a:latin typeface="Be Vietnam Pro"/>
              </a:rPr>
              <a:t>không có 2 cạnh nào chung đỉnh</a:t>
            </a:r>
            <a:r>
              <a:rPr b="0" i="0" u="none">
                <a:solidFill>
                  <a:srgbClr val="475569"/>
                </a:solidFill>
                <a:latin typeface="Be Vietnam Pro"/>
              </a:rPr>
              <a:t>.</a:t>
            </a:r>
          </a:p>
        </p:txBody>
      </p:sp>
      <p:sp>
        <p:nvSpPr>
          <p:cNvPr id="17" name="TextBox 16"/>
          <p:cNvSpPr txBox="1"/>
          <p:nvPr/>
        </p:nvSpPr>
        <p:spPr>
          <a:xfrm>
            <a:off x="7058860" y="2601863"/>
            <a:ext cx="398379" cy="215444"/>
          </a:xfrm>
          <a:prstGeom prst="rect">
            <a:avLst/>
          </a:prstGeom>
          <a:noFill/>
        </p:spPr>
        <p:txBody>
          <a:bodyPr wrap="none" lIns="0" tIns="0" rIns="0" bIns="0" anchor="t">
            <a:spAutoFit/>
          </a:bodyPr>
          <a:lstStyle/>
          <a:p>
            <a:pPr algn="ctr"/>
            <a:r>
              <a:rPr sz="1400" b="1" i="0" u="none">
                <a:solidFill>
                  <a:srgbClr val="2563EB"/>
                </a:solidFill>
                <a:latin typeface="Be Vietnam Pro"/>
              </a:rPr>
              <a:t>Tập X</a:t>
            </a:r>
          </a:p>
        </p:txBody>
      </p:sp>
      <p:sp>
        <p:nvSpPr>
          <p:cNvPr id="18" name="TextBox 17"/>
          <p:cNvSpPr txBox="1"/>
          <p:nvPr/>
        </p:nvSpPr>
        <p:spPr>
          <a:xfrm>
            <a:off x="6881812" y="3046591"/>
            <a:ext cx="704850" cy="215444"/>
          </a:xfrm>
          <a:prstGeom prst="rect">
            <a:avLst/>
          </a:prstGeom>
          <a:noFill/>
        </p:spPr>
        <p:txBody>
          <a:bodyPr wrap="square" lIns="0" tIns="0" rIns="0" bIns="0" anchor="ctr">
            <a:spAutoFit/>
          </a:bodyPr>
          <a:lstStyle/>
          <a:p>
            <a:pPr algn="ctr"/>
            <a:r>
              <a:rPr sz="1400" b="1" i="0" u="none">
                <a:solidFill>
                  <a:srgbClr val="FFFFFF"/>
                </a:solidFill>
                <a:latin typeface="Be Vietnam Pro"/>
              </a:rPr>
              <a:t>X1</a:t>
            </a:r>
          </a:p>
        </p:txBody>
      </p:sp>
      <p:sp>
        <p:nvSpPr>
          <p:cNvPr id="19" name="TextBox 18"/>
          <p:cNvSpPr txBox="1"/>
          <p:nvPr/>
        </p:nvSpPr>
        <p:spPr>
          <a:xfrm>
            <a:off x="6881812" y="3618091"/>
            <a:ext cx="704850" cy="215444"/>
          </a:xfrm>
          <a:prstGeom prst="rect">
            <a:avLst/>
          </a:prstGeom>
          <a:noFill/>
        </p:spPr>
        <p:txBody>
          <a:bodyPr wrap="square" lIns="0" tIns="0" rIns="0" bIns="0" anchor="ctr">
            <a:spAutoFit/>
          </a:bodyPr>
          <a:lstStyle/>
          <a:p>
            <a:pPr algn="ctr"/>
            <a:r>
              <a:rPr sz="1400" b="1" i="0" u="none">
                <a:solidFill>
                  <a:srgbClr val="FFFFFF"/>
                </a:solidFill>
                <a:latin typeface="Be Vietnam Pro"/>
              </a:rPr>
              <a:t>X2</a:t>
            </a:r>
          </a:p>
        </p:txBody>
      </p:sp>
      <p:sp>
        <p:nvSpPr>
          <p:cNvPr id="20" name="TextBox 19"/>
          <p:cNvSpPr txBox="1"/>
          <p:nvPr/>
        </p:nvSpPr>
        <p:spPr>
          <a:xfrm>
            <a:off x="6881812" y="4189591"/>
            <a:ext cx="704850" cy="215444"/>
          </a:xfrm>
          <a:prstGeom prst="rect">
            <a:avLst/>
          </a:prstGeom>
          <a:noFill/>
        </p:spPr>
        <p:txBody>
          <a:bodyPr wrap="square" lIns="0" tIns="0" rIns="0" bIns="0" anchor="ctr">
            <a:spAutoFit/>
          </a:bodyPr>
          <a:lstStyle/>
          <a:p>
            <a:pPr algn="ctr"/>
            <a:r>
              <a:rPr sz="1400" b="1" i="0" u="none">
                <a:solidFill>
                  <a:srgbClr val="FFFFFF"/>
                </a:solidFill>
                <a:latin typeface="Be Vietnam Pro"/>
              </a:rPr>
              <a:t>X3</a:t>
            </a:r>
          </a:p>
        </p:txBody>
      </p:sp>
      <p:sp>
        <p:nvSpPr>
          <p:cNvPr id="21" name="TextBox 20"/>
          <p:cNvSpPr txBox="1"/>
          <p:nvPr/>
        </p:nvSpPr>
        <p:spPr>
          <a:xfrm>
            <a:off x="10333904" y="2601863"/>
            <a:ext cx="391966" cy="215444"/>
          </a:xfrm>
          <a:prstGeom prst="rect">
            <a:avLst/>
          </a:prstGeom>
          <a:noFill/>
        </p:spPr>
        <p:txBody>
          <a:bodyPr wrap="none" lIns="0" tIns="0" rIns="0" bIns="0" anchor="t">
            <a:spAutoFit/>
          </a:bodyPr>
          <a:lstStyle/>
          <a:p>
            <a:pPr algn="ctr"/>
            <a:r>
              <a:rPr sz="1400" b="1" i="0" u="none">
                <a:solidFill>
                  <a:srgbClr val="059669"/>
                </a:solidFill>
                <a:latin typeface="Be Vietnam Pro"/>
              </a:rPr>
              <a:t>Tập Y</a:t>
            </a:r>
          </a:p>
        </p:txBody>
      </p:sp>
      <p:sp>
        <p:nvSpPr>
          <p:cNvPr id="22" name="TextBox 21"/>
          <p:cNvSpPr txBox="1"/>
          <p:nvPr/>
        </p:nvSpPr>
        <p:spPr>
          <a:xfrm>
            <a:off x="10158412" y="3046591"/>
            <a:ext cx="704850" cy="215444"/>
          </a:xfrm>
          <a:prstGeom prst="rect">
            <a:avLst/>
          </a:prstGeom>
          <a:noFill/>
        </p:spPr>
        <p:txBody>
          <a:bodyPr wrap="square" lIns="0" tIns="0" rIns="0" bIns="0" anchor="ctr">
            <a:spAutoFit/>
          </a:bodyPr>
          <a:lstStyle/>
          <a:p>
            <a:pPr algn="ctr"/>
            <a:r>
              <a:rPr sz="1400" b="1" i="0" u="none">
                <a:solidFill>
                  <a:srgbClr val="F8FAFC"/>
                </a:solidFill>
                <a:latin typeface="Be Vietnam Pro"/>
              </a:rPr>
              <a:t>Y1</a:t>
            </a:r>
          </a:p>
        </p:txBody>
      </p:sp>
      <p:sp>
        <p:nvSpPr>
          <p:cNvPr id="23" name="TextBox 22"/>
          <p:cNvSpPr txBox="1"/>
          <p:nvPr/>
        </p:nvSpPr>
        <p:spPr>
          <a:xfrm>
            <a:off x="10158412" y="3618091"/>
            <a:ext cx="704850" cy="215444"/>
          </a:xfrm>
          <a:prstGeom prst="rect">
            <a:avLst/>
          </a:prstGeom>
          <a:noFill/>
        </p:spPr>
        <p:txBody>
          <a:bodyPr wrap="square" lIns="0" tIns="0" rIns="0" bIns="0" anchor="ctr">
            <a:spAutoFit/>
          </a:bodyPr>
          <a:lstStyle/>
          <a:p>
            <a:pPr algn="ctr"/>
            <a:r>
              <a:rPr sz="1400" b="1" i="0" u="none">
                <a:solidFill>
                  <a:srgbClr val="F8FAFC"/>
                </a:solidFill>
                <a:latin typeface="Be Vietnam Pro"/>
              </a:rPr>
              <a:t>Y2</a:t>
            </a:r>
          </a:p>
        </p:txBody>
      </p:sp>
      <p:sp>
        <p:nvSpPr>
          <p:cNvPr id="24" name="TextBox 23"/>
          <p:cNvSpPr txBox="1"/>
          <p:nvPr/>
        </p:nvSpPr>
        <p:spPr>
          <a:xfrm>
            <a:off x="10158412" y="4189591"/>
            <a:ext cx="704850" cy="215444"/>
          </a:xfrm>
          <a:prstGeom prst="rect">
            <a:avLst/>
          </a:prstGeom>
          <a:noFill/>
        </p:spPr>
        <p:txBody>
          <a:bodyPr wrap="square" lIns="0" tIns="0" rIns="0" bIns="0" anchor="ctr">
            <a:spAutoFit/>
          </a:bodyPr>
          <a:lstStyle/>
          <a:p>
            <a:pPr algn="ctr"/>
            <a:r>
              <a:rPr sz="1400" b="1" i="0" u="none">
                <a:solidFill>
                  <a:srgbClr val="F8FAFC"/>
                </a:solidFill>
                <a:latin typeface="Be Vietnam Pro"/>
              </a:rPr>
              <a:t>Y3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048000"/>
            <a:ext cx="3505200" cy="1619250"/>
          </a:xfrm>
          <a:prstGeom prst="roundRect">
            <a:avLst>
              <a:gd name="adj" fmla="val 941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Rounded Rectangle 2"/>
          <p:cNvSpPr/>
          <p:nvPr/>
        </p:nvSpPr>
        <p:spPr>
          <a:xfrm>
            <a:off x="4343400" y="3162300"/>
            <a:ext cx="3505200" cy="1390650"/>
          </a:xfrm>
          <a:prstGeom prst="roundRect">
            <a:avLst>
              <a:gd name="adj" fmla="val 1095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Rounded Rectangle 3"/>
          <p:cNvSpPr/>
          <p:nvPr/>
        </p:nvSpPr>
        <p:spPr>
          <a:xfrm>
            <a:off x="8077200" y="3048000"/>
            <a:ext cx="3505200" cy="1619250"/>
          </a:xfrm>
          <a:prstGeom prst="roundRect">
            <a:avLst>
              <a:gd name="adj" fmla="val 941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ectangle 4"/>
          <p:cNvSpPr/>
          <p:nvPr/>
        </p:nvSpPr>
        <p:spPr>
          <a:xfrm>
            <a:off x="609600" y="465772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609600" y="3048000"/>
            <a:ext cx="350520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ectangle 6"/>
          <p:cNvSpPr/>
          <p:nvPr/>
        </p:nvSpPr>
        <p:spPr>
          <a:xfrm>
            <a:off x="609600" y="3048000"/>
            <a:ext cx="9525" cy="1619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ectangle 7"/>
          <p:cNvSpPr/>
          <p:nvPr/>
        </p:nvSpPr>
        <p:spPr>
          <a:xfrm>
            <a:off x="4105275" y="3048000"/>
            <a:ext cx="9525" cy="1619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ectangle 8"/>
          <p:cNvSpPr/>
          <p:nvPr/>
        </p:nvSpPr>
        <p:spPr>
          <a:xfrm>
            <a:off x="4343400" y="454342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9"/>
          <p:cNvSpPr/>
          <p:nvPr/>
        </p:nvSpPr>
        <p:spPr>
          <a:xfrm>
            <a:off x="4343400" y="3162300"/>
            <a:ext cx="35052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Rectangle 10"/>
          <p:cNvSpPr/>
          <p:nvPr/>
        </p:nvSpPr>
        <p:spPr>
          <a:xfrm>
            <a:off x="4343400" y="3162300"/>
            <a:ext cx="9525" cy="13906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Rectangle 11"/>
          <p:cNvSpPr/>
          <p:nvPr/>
        </p:nvSpPr>
        <p:spPr>
          <a:xfrm>
            <a:off x="7839075" y="3162300"/>
            <a:ext cx="9525" cy="13906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ectangle 12"/>
          <p:cNvSpPr/>
          <p:nvPr/>
        </p:nvSpPr>
        <p:spPr>
          <a:xfrm>
            <a:off x="8077200" y="4657725"/>
            <a:ext cx="35052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3"/>
          <p:cNvSpPr/>
          <p:nvPr/>
        </p:nvSpPr>
        <p:spPr>
          <a:xfrm>
            <a:off x="8077200" y="3048000"/>
            <a:ext cx="35052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Rectangle 14"/>
          <p:cNvSpPr/>
          <p:nvPr/>
        </p:nvSpPr>
        <p:spPr>
          <a:xfrm>
            <a:off x="8077200" y="3048000"/>
            <a:ext cx="9525" cy="1619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Rectangle 15"/>
          <p:cNvSpPr/>
          <p:nvPr/>
        </p:nvSpPr>
        <p:spPr>
          <a:xfrm>
            <a:off x="11572875" y="3048000"/>
            <a:ext cx="9525" cy="16192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Be Vietnam Pro"/>
              </a:rPr>
              <a:t>3. THUẬT NGỮ CỐT LÕI</a:t>
            </a:r>
          </a:p>
        </p:txBody>
      </p:sp>
      <p:sp>
        <p:nvSpPr>
          <p:cNvPr id="18" name="TextBox 17"/>
          <p:cNvSpPr txBox="1"/>
          <p:nvPr/>
        </p:nvSpPr>
        <p:spPr>
          <a:xfrm>
            <a:off x="609600" y="704850"/>
            <a:ext cx="5489964" cy="369781"/>
          </a:xfrm>
          <a:prstGeom prst="rect">
            <a:avLst/>
          </a:prstGeom>
          <a:noFill/>
        </p:spPr>
        <p:txBody>
          <a:bodyPr wrap="none" lIns="0" tIns="0" rIns="0" bIns="0" anchor="t">
            <a:spAutoFit/>
          </a:bodyPr>
          <a:lstStyle/>
          <a:p>
            <a:pPr algn="l">
              <a:lnSpc>
                <a:spcPts val="3000"/>
              </a:lnSpc>
            </a:pPr>
            <a:r>
              <a:rPr sz="2400" b="1" i="0" u="none">
                <a:solidFill>
                  <a:srgbClr val="0F172A"/>
                </a:solidFill>
                <a:latin typeface="Be Vietnam Pro"/>
              </a:rPr>
              <a:t>Phân Loại Đỉnh &amp; Cạnh Trong Cặp Ghép M</a:t>
            </a:r>
          </a:p>
        </p:txBody>
      </p:sp>
      <p:sp>
        <p:nvSpPr>
          <p:cNvPr id="19" name="TextBox 18"/>
          <p:cNvSpPr txBox="1"/>
          <p:nvPr/>
        </p:nvSpPr>
        <p:spPr>
          <a:xfrm>
            <a:off x="885825" y="3352800"/>
            <a:ext cx="2941190" cy="276999"/>
          </a:xfrm>
          <a:prstGeom prst="rect">
            <a:avLst/>
          </a:prstGeom>
          <a:noFill/>
        </p:spPr>
        <p:txBody>
          <a:bodyPr wrap="none" lIns="0" tIns="0" rIns="0" bIns="0" anchor="t">
            <a:spAutoFit/>
          </a:bodyPr>
          <a:lstStyle/>
          <a:p>
            <a:pPr algn="l"/>
            <a:r>
              <a:rPr b="1" i="0" u="none">
                <a:solidFill>
                  <a:srgbClr val="0F172A"/>
                </a:solidFill>
                <a:latin typeface="Be Vietnam Pro"/>
              </a:rPr>
              <a:t>Đỉnh Đã Ghép (Matched Node)</a:t>
            </a:r>
          </a:p>
        </p:txBody>
      </p:sp>
      <p:sp>
        <p:nvSpPr>
          <p:cNvPr id="20" name="TextBox 19"/>
          <p:cNvSpPr txBox="1"/>
          <p:nvPr/>
        </p:nvSpPr>
        <p:spPr>
          <a:xfrm>
            <a:off x="885825" y="3705225"/>
            <a:ext cx="3048000" cy="692497"/>
          </a:xfrm>
          <a:prstGeom prst="rect">
            <a:avLst/>
          </a:prstGeom>
          <a:noFill/>
        </p:spPr>
        <p:txBody>
          <a:bodyPr wrap="square" lIns="0" tIns="0" rIns="0" bIns="0" anchor="t">
            <a:spAutoFit/>
          </a:bodyPr>
          <a:lstStyle/>
          <a:p>
            <a:pPr algn="l">
              <a:lnSpc>
                <a:spcPts val="1800"/>
              </a:lnSpc>
            </a:pPr>
            <a:r>
              <a:rPr sz="1600" b="0" i="0" u="none">
                <a:solidFill>
                  <a:srgbClr val="475569"/>
                </a:solidFill>
                <a:latin typeface="Be Vietnam Pro"/>
              </a:rPr>
              <a:t>Đỉnh kề với một cạnh thuộc tập cặp ghép $M$. Đã được phân công thành công.</a:t>
            </a:r>
          </a:p>
        </p:txBody>
      </p:sp>
      <p:sp>
        <p:nvSpPr>
          <p:cNvPr id="21" name="TextBox 20"/>
          <p:cNvSpPr txBox="1"/>
          <p:nvPr/>
        </p:nvSpPr>
        <p:spPr>
          <a:xfrm>
            <a:off x="4619625" y="3467100"/>
            <a:ext cx="2257028" cy="276999"/>
          </a:xfrm>
          <a:prstGeom prst="rect">
            <a:avLst/>
          </a:prstGeom>
          <a:noFill/>
        </p:spPr>
        <p:txBody>
          <a:bodyPr wrap="none" lIns="0" tIns="0" rIns="0" bIns="0" anchor="t">
            <a:spAutoFit/>
          </a:bodyPr>
          <a:lstStyle/>
          <a:p>
            <a:pPr algn="l"/>
            <a:r>
              <a:rPr b="1" i="0" u="none">
                <a:solidFill>
                  <a:srgbClr val="0F172A"/>
                </a:solidFill>
                <a:latin typeface="Be Vietnam Pro"/>
              </a:rPr>
              <a:t>Đỉnh Tự Do (Free Node)</a:t>
            </a:r>
          </a:p>
        </p:txBody>
      </p:sp>
      <p:sp>
        <p:nvSpPr>
          <p:cNvPr id="22" name="TextBox 21"/>
          <p:cNvSpPr txBox="1"/>
          <p:nvPr/>
        </p:nvSpPr>
        <p:spPr>
          <a:xfrm>
            <a:off x="4619625" y="3819525"/>
            <a:ext cx="3048000" cy="692497"/>
          </a:xfrm>
          <a:prstGeom prst="rect">
            <a:avLst/>
          </a:prstGeom>
          <a:noFill/>
        </p:spPr>
        <p:txBody>
          <a:bodyPr wrap="square" lIns="0" tIns="0" rIns="0" bIns="0" anchor="t">
            <a:spAutoFit/>
          </a:bodyPr>
          <a:lstStyle/>
          <a:p>
            <a:pPr algn="l">
              <a:lnSpc>
                <a:spcPts val="1800"/>
              </a:lnSpc>
            </a:pPr>
            <a:r>
              <a:rPr sz="1600" b="0" i="0" u="none">
                <a:solidFill>
                  <a:srgbClr val="475569"/>
                </a:solidFill>
                <a:latin typeface="Be Vietnam Pro"/>
              </a:rPr>
              <a:t>Đỉnh chưa kề với cạnh nào thuộc $M$. Cần tìm đối tượng ghép nối phù hợp.</a:t>
            </a:r>
          </a:p>
        </p:txBody>
      </p:sp>
      <p:sp>
        <p:nvSpPr>
          <p:cNvPr id="23" name="TextBox 22"/>
          <p:cNvSpPr txBox="1"/>
          <p:nvPr/>
        </p:nvSpPr>
        <p:spPr>
          <a:xfrm>
            <a:off x="8353425" y="3352800"/>
            <a:ext cx="2459263" cy="276999"/>
          </a:xfrm>
          <a:prstGeom prst="rect">
            <a:avLst/>
          </a:prstGeom>
          <a:noFill/>
        </p:spPr>
        <p:txBody>
          <a:bodyPr wrap="none" lIns="0" tIns="0" rIns="0" bIns="0" anchor="t">
            <a:spAutoFit/>
          </a:bodyPr>
          <a:lstStyle/>
          <a:p>
            <a:pPr algn="l"/>
            <a:r>
              <a:rPr b="1" i="0" u="none">
                <a:solidFill>
                  <a:srgbClr val="0F172A"/>
                </a:solidFill>
                <a:latin typeface="Be Vietnam Pro"/>
              </a:rPr>
              <a:t>Cạnh Ghép vs Cạnh Tự Do</a:t>
            </a:r>
          </a:p>
        </p:txBody>
      </p:sp>
      <p:sp>
        <p:nvSpPr>
          <p:cNvPr id="24" name="TextBox 23"/>
          <p:cNvSpPr txBox="1"/>
          <p:nvPr/>
        </p:nvSpPr>
        <p:spPr>
          <a:xfrm>
            <a:off x="8353425" y="3705225"/>
            <a:ext cx="3048000" cy="685800"/>
          </a:xfrm>
          <a:prstGeom prst="rect">
            <a:avLst/>
          </a:prstGeom>
          <a:noFill/>
        </p:spPr>
        <p:txBody>
          <a:bodyPr wrap="square" lIns="0" tIns="0" rIns="0" bIns="0" anchor="t">
            <a:spAutoFit/>
          </a:bodyPr>
          <a:lstStyle/>
          <a:p>
            <a:pPr algn="l">
              <a:lnSpc>
                <a:spcPts val="1800"/>
              </a:lnSpc>
            </a:pPr>
            <a:r>
              <a:rPr sz="1600" b="1" i="0" u="none">
                <a:solidFill>
                  <a:srgbClr val="475569"/>
                </a:solidFill>
                <a:latin typeface="Be Vietnam Pro"/>
              </a:rPr>
              <a:t>Cạnh thuộc M:</a:t>
            </a:r>
            <a:r>
              <a:rPr sz="1600" b="0" i="0" u="none">
                <a:solidFill>
                  <a:srgbClr val="475569"/>
                </a:solidFill>
                <a:latin typeface="Be Vietnam Pro"/>
              </a:rPr>
              <a:t> Cạnh đang chọn.</a:t>
            </a:r>
            <a:r>
              <a:rPr sz="2400"/>
              <a:t>
</a:t>
            </a:r>
            <a:r>
              <a:rPr sz="1600" b="1" i="0" u="none">
                <a:solidFill>
                  <a:srgbClr val="475569"/>
                </a:solidFill>
                <a:latin typeface="Be Vietnam Pro"/>
              </a:rPr>
              <a:t>Cạnh tự do:</a:t>
            </a:r>
            <a:r>
              <a:rPr sz="1600" b="0" i="0" u="none">
                <a:solidFill>
                  <a:srgbClr val="475569"/>
                </a:solidFill>
                <a:latin typeface="Be Vietnam Pro"/>
              </a:rPr>
              <a:t> Cạnh thuộc $E$ nhưng chưa thuộc $M$.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a:extLst>
              <a:ext uri="{FF2B5EF4-FFF2-40B4-BE49-F238E27FC236}">
                <a16:creationId xmlns:a16="http://schemas.microsoft.com/office/drawing/2014/main" id="{1D51078A-C021-8A57-958F-AFFB36F04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1926" y="20002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a:extLst>
              <a:ext uri="{FF2B5EF4-FFF2-40B4-BE49-F238E27FC236}">
                <a16:creationId xmlns:a16="http://schemas.microsoft.com/office/drawing/2014/main" id="{F5329270-5056-B43A-7242-5FEB1C8E5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6038" y="2000250"/>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15276A6C-45C6-EFCF-B341-31A88E2FAF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1888" y="20002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a:extLst>
              <a:ext uri="{FF2B5EF4-FFF2-40B4-BE49-F238E27FC236}">
                <a16:creationId xmlns:a16="http://schemas.microsoft.com/office/drawing/2014/main" id="{D94A37DF-111A-B209-D95B-76E167816D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6626" y="20002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a:extLst>
              <a:ext uri="{FF2B5EF4-FFF2-40B4-BE49-F238E27FC236}">
                <a16:creationId xmlns:a16="http://schemas.microsoft.com/office/drawing/2014/main" id="{F03B79E6-5151-05E8-1AB7-471BE3EF0B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02476" y="20002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a:extLst>
              <a:ext uri="{FF2B5EF4-FFF2-40B4-BE49-F238E27FC236}">
                <a16:creationId xmlns:a16="http://schemas.microsoft.com/office/drawing/2014/main" id="{A0C767CC-37AB-5207-FAA1-DC4D6AAE38D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1926" y="39433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0">
            <a:extLst>
              <a:ext uri="{FF2B5EF4-FFF2-40B4-BE49-F238E27FC236}">
                <a16:creationId xmlns:a16="http://schemas.microsoft.com/office/drawing/2014/main" id="{A4E1B8A7-C32A-8A78-8C26-5096016E0CB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6038" y="3943350"/>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1">
            <a:extLst>
              <a:ext uri="{FF2B5EF4-FFF2-40B4-BE49-F238E27FC236}">
                <a16:creationId xmlns:a16="http://schemas.microsoft.com/office/drawing/2014/main" id="{7254D870-4C32-2A3A-FAB1-39CE0B5E885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41888" y="39433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2">
            <a:extLst>
              <a:ext uri="{FF2B5EF4-FFF2-40B4-BE49-F238E27FC236}">
                <a16:creationId xmlns:a16="http://schemas.microsoft.com/office/drawing/2014/main" id="{8AE9AA3B-F747-B0B8-2273-00957646C3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6626" y="39433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3">
            <a:extLst>
              <a:ext uri="{FF2B5EF4-FFF2-40B4-BE49-F238E27FC236}">
                <a16:creationId xmlns:a16="http://schemas.microsoft.com/office/drawing/2014/main" id="{F679E2F3-C67A-6A15-9187-6C0B4D36369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02476" y="39433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
            <a:extLst>
              <a:ext uri="{FF2B5EF4-FFF2-40B4-BE49-F238E27FC236}">
                <a16:creationId xmlns:a16="http://schemas.microsoft.com/office/drawing/2014/main" id="{88AC9F9F-8957-5FEC-D077-E836C207228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98813" y="2493963"/>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5">
            <a:extLst>
              <a:ext uri="{FF2B5EF4-FFF2-40B4-BE49-F238E27FC236}">
                <a16:creationId xmlns:a16="http://schemas.microsoft.com/office/drawing/2014/main" id="{10E19549-E2D1-2771-8D9A-9B32B3FD30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98788" y="2579688"/>
            <a:ext cx="190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6">
            <a:extLst>
              <a:ext uri="{FF2B5EF4-FFF2-40B4-BE49-F238E27FC236}">
                <a16:creationId xmlns:a16="http://schemas.microsoft.com/office/drawing/2014/main" id="{38A9BDD2-2AC4-B04E-4346-7BB7DFD1811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1338" y="2493963"/>
            <a:ext cx="197167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7">
            <a:extLst>
              <a:ext uri="{FF2B5EF4-FFF2-40B4-BE49-F238E27FC236}">
                <a16:creationId xmlns:a16="http://schemas.microsoft.com/office/drawing/2014/main" id="{2A5C046A-C4B1-1AF9-7CEC-8B65F4D575A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51313" y="2579688"/>
            <a:ext cx="10953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8">
            <a:extLst>
              <a:ext uri="{FF2B5EF4-FFF2-40B4-BE49-F238E27FC236}">
                <a16:creationId xmlns:a16="http://schemas.microsoft.com/office/drawing/2014/main" id="{8BD12F00-9A9E-2ECB-41AC-24B4E11ACF5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9738" y="2486025"/>
            <a:ext cx="10001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9">
            <a:extLst>
              <a:ext uri="{FF2B5EF4-FFF2-40B4-BE49-F238E27FC236}">
                <a16:creationId xmlns:a16="http://schemas.microsoft.com/office/drawing/2014/main" id="{A495D810-0C9D-8087-0712-068EDE937BF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51338" y="24939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0">
            <a:extLst>
              <a:ext uri="{FF2B5EF4-FFF2-40B4-BE49-F238E27FC236}">
                <a16:creationId xmlns:a16="http://schemas.microsoft.com/office/drawing/2014/main" id="{9BA3C995-177C-6F8E-7830-030201216320}"/>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59651" y="2579688"/>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1">
            <a:extLst>
              <a:ext uri="{FF2B5EF4-FFF2-40B4-BE49-F238E27FC236}">
                <a16:creationId xmlns:a16="http://schemas.microsoft.com/office/drawing/2014/main" id="{6D71213A-5786-5BE4-F375-62FD65F71F2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37188" y="24939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2">
            <a:extLst>
              <a:ext uri="{FF2B5EF4-FFF2-40B4-BE49-F238E27FC236}">
                <a16:creationId xmlns:a16="http://schemas.microsoft.com/office/drawing/2014/main" id="{FBF2490E-EC7A-88FB-8AE6-85E36C2314C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208588" y="2486025"/>
            <a:ext cx="93503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23">
            <a:extLst>
              <a:ext uri="{FF2B5EF4-FFF2-40B4-BE49-F238E27FC236}">
                <a16:creationId xmlns:a16="http://schemas.microsoft.com/office/drawing/2014/main" id="{28D9B7D1-B716-A3BE-39D1-B53359D4FBC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02376" y="2579688"/>
            <a:ext cx="222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24">
            <a:extLst>
              <a:ext uri="{FF2B5EF4-FFF2-40B4-BE49-F238E27FC236}">
                <a16:creationId xmlns:a16="http://schemas.microsoft.com/office/drawing/2014/main" id="{E3DA0B96-8C56-5C22-D8F8-6B7EA66BA31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51313" y="2493963"/>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25">
            <a:extLst>
              <a:ext uri="{FF2B5EF4-FFF2-40B4-BE49-F238E27FC236}">
                <a16:creationId xmlns:a16="http://schemas.microsoft.com/office/drawing/2014/main" id="{5B874389-DE17-887D-F163-AAD19AC4EFBC}"/>
              </a:ext>
            </a:extLst>
          </p:cNvPr>
          <p:cNvSpPr txBox="1">
            <a:spLocks noChangeArrowheads="1"/>
          </p:cNvSpPr>
          <p:nvPr/>
        </p:nvSpPr>
        <p:spPr bwMode="auto">
          <a:xfrm>
            <a:off x="7775576" y="3173413"/>
            <a:ext cx="14620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5000"/>
              </a:lnSpc>
            </a:pPr>
            <a:r>
              <a:rPr lang="en-US" altLang="en-US" sz="2400" b="1">
                <a:solidFill>
                  <a:srgbClr val="000000"/>
                </a:solidFill>
              </a:rPr>
              <a:t>Matching</a:t>
            </a:r>
          </a:p>
        </p:txBody>
      </p:sp>
      <p:pic>
        <p:nvPicPr>
          <p:cNvPr id="47" name="Picture 26">
            <a:extLst>
              <a:ext uri="{FF2B5EF4-FFF2-40B4-BE49-F238E27FC236}">
                <a16:creationId xmlns:a16="http://schemas.microsoft.com/office/drawing/2014/main" id="{0FBAAADF-7993-3E19-7ED1-065DDFBD637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388226" y="3219450"/>
            <a:ext cx="30638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 Box 27">
            <a:extLst>
              <a:ext uri="{FF2B5EF4-FFF2-40B4-BE49-F238E27FC236}">
                <a16:creationId xmlns:a16="http://schemas.microsoft.com/office/drawing/2014/main" id="{7D51EC70-C3BB-04F6-2072-2D99085A9834}"/>
              </a:ext>
            </a:extLst>
          </p:cNvPr>
          <p:cNvSpPr txBox="1">
            <a:spLocks noChangeArrowheads="1"/>
          </p:cNvSpPr>
          <p:nvPr/>
        </p:nvSpPr>
        <p:spPr bwMode="auto">
          <a:xfrm>
            <a:off x="6645276" y="4865688"/>
            <a:ext cx="17954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5000"/>
              </a:lnSpc>
            </a:pPr>
            <a:r>
              <a:rPr lang="en-US" altLang="en-US" sz="2400" b="1">
                <a:solidFill>
                  <a:srgbClr val="000000"/>
                </a:solidFill>
              </a:rPr>
              <a:t>Free Vertex</a:t>
            </a:r>
          </a:p>
        </p:txBody>
      </p:sp>
      <p:pic>
        <p:nvPicPr>
          <p:cNvPr id="51" name="Picture 28">
            <a:extLst>
              <a:ext uri="{FF2B5EF4-FFF2-40B4-BE49-F238E27FC236}">
                <a16:creationId xmlns:a16="http://schemas.microsoft.com/office/drawing/2014/main" id="{5DBF87AC-6BC9-6460-41A0-909761AA415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284913" y="4522788"/>
            <a:ext cx="3238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TextBox 52">
            <a:extLst>
              <a:ext uri="{FF2B5EF4-FFF2-40B4-BE49-F238E27FC236}">
                <a16:creationId xmlns:a16="http://schemas.microsoft.com/office/drawing/2014/main" id="{638E925A-996C-F6C2-D7D6-5330DD187150}"/>
              </a:ext>
            </a:extLst>
          </p:cNvPr>
          <p:cNvSpPr txBox="1"/>
          <p:nvPr/>
        </p:nvSpPr>
        <p:spPr>
          <a:xfrm>
            <a:off x="609600" y="457200"/>
            <a:ext cx="3427220" cy="430887"/>
          </a:xfrm>
          <a:prstGeom prst="rect">
            <a:avLst/>
          </a:prstGeom>
          <a:noFill/>
        </p:spPr>
        <p:txBody>
          <a:bodyPr wrap="none" lIns="0" tIns="0" rIns="0" bIns="0" anchor="t">
            <a:spAutoFit/>
          </a:bodyPr>
          <a:lstStyle/>
          <a:p>
            <a:pPr algn="l"/>
            <a:r>
              <a:rPr sz="2800" b="1" i="0" u="none">
                <a:solidFill>
                  <a:srgbClr val="2563EB"/>
                </a:solidFill>
                <a:latin typeface="Be Vietnam Pro"/>
              </a:rPr>
              <a:t>3. THUẬT NGỮ CỐT LÕI</a:t>
            </a:r>
          </a:p>
        </p:txBody>
      </p:sp>
    </p:spTree>
    <p:extLst>
      <p:ext uri="{BB962C8B-B14F-4D97-AF65-F5344CB8AC3E}">
        <p14:creationId xmlns:p14="http://schemas.microsoft.com/office/powerpoint/2010/main" val="223145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5DDC707-D499-9300-F977-0B791F1EC984}"/>
              </a:ext>
            </a:extLst>
          </p:cNvPr>
          <p:cNvSpPr txBox="1">
            <a:spLocks noChangeArrowheads="1"/>
          </p:cNvSpPr>
          <p:nvPr/>
        </p:nvSpPr>
        <p:spPr>
          <a:xfrm>
            <a:off x="539592" y="1099344"/>
            <a:ext cx="10715942" cy="3797300"/>
          </a:xfrm>
          <a:prstGeom prst="rect">
            <a:avLst/>
          </a:prstGeom>
        </p:spPr>
        <p:txBody>
          <a:bodyPr lIns="0" tIns="0" rIns="0" bIns="0"/>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indent="-342900">
              <a:lnSpc>
                <a:spcPct val="100000"/>
              </a:lnSpc>
              <a:spcBef>
                <a:spcPct val="0"/>
              </a:spcBef>
              <a:buClr>
                <a:srgbClr val="000000"/>
              </a:buClr>
              <a:buFontTx/>
              <a:buChar char="•"/>
            </a:pPr>
            <a:r>
              <a:rPr lang="en-US" sz="3200" b="1"/>
              <a:t>Cặp ghép cực đại</a:t>
            </a:r>
            <a:r>
              <a:rPr lang="en-US" sz="3200"/>
              <a:t> (</a:t>
            </a:r>
            <a:r>
              <a:rPr lang="en-US" sz="3200" i="1"/>
              <a:t>Maximum Matching</a:t>
            </a:r>
            <a:r>
              <a:rPr lang="en-US" sz="3200"/>
              <a:t>): Là cặp ghép chứa </a:t>
            </a:r>
            <a:r>
              <a:rPr lang="en-US" sz="3200" b="1"/>
              <a:t>số lượng cạnh lớn nhất</a:t>
            </a:r>
            <a:r>
              <a:rPr lang="en-US" sz="3200"/>
              <a:t> (nhiều cạnh nhất có thể).</a:t>
            </a:r>
          </a:p>
          <a:p>
            <a:pPr lvl="1" indent="-342900">
              <a:lnSpc>
                <a:spcPct val="100000"/>
              </a:lnSpc>
              <a:spcBef>
                <a:spcPct val="0"/>
              </a:spcBef>
              <a:buClr>
                <a:srgbClr val="000000"/>
              </a:buClr>
              <a:buFontTx/>
              <a:buChar char="•"/>
            </a:pPr>
            <a:r>
              <a:rPr lang="en-US" sz="3200"/>
              <a:t>Cặp ghép cực đại </a:t>
            </a:r>
            <a:r>
              <a:rPr lang="en-US" sz="3200" b="1"/>
              <a:t>không nhất thiết phải là duy nhất</a:t>
            </a:r>
            <a:r>
              <a:rPr lang="en-US" sz="3200"/>
              <a:t> (</a:t>
            </a:r>
            <a:r>
              <a:rPr lang="en-US" sz="3200" i="1"/>
              <a:t>Maximum matching is not unique</a:t>
            </a:r>
            <a:r>
              <a:rPr lang="en-US" sz="3200"/>
              <a:t>).</a:t>
            </a:r>
            <a:endParaRPr lang="en-US" altLang="en-US" sz="3200">
              <a:solidFill>
                <a:srgbClr val="000000"/>
              </a:solidFill>
            </a:endParaRPr>
          </a:p>
        </p:txBody>
      </p:sp>
      <p:pic>
        <p:nvPicPr>
          <p:cNvPr id="3" name="Picture 5">
            <a:extLst>
              <a:ext uri="{FF2B5EF4-FFF2-40B4-BE49-F238E27FC236}">
                <a16:creationId xmlns:a16="http://schemas.microsoft.com/office/drawing/2014/main" id="{8B6A9C67-8E7B-D191-9ECB-34E807EA1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3667918"/>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a:extLst>
              <a:ext uri="{FF2B5EF4-FFF2-40B4-BE49-F238E27FC236}">
                <a16:creationId xmlns:a16="http://schemas.microsoft.com/office/drawing/2014/main" id="{A0DB73B3-C983-F494-89B2-AB649FC40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112" y="3667918"/>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a:extLst>
              <a:ext uri="{FF2B5EF4-FFF2-40B4-BE49-F238E27FC236}">
                <a16:creationId xmlns:a16="http://schemas.microsoft.com/office/drawing/2014/main" id="{947CC9D9-22F6-B213-BB14-C012CDE79E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7962" y="3667918"/>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a:extLst>
              <a:ext uri="{FF2B5EF4-FFF2-40B4-BE49-F238E27FC236}">
                <a16:creationId xmlns:a16="http://schemas.microsoft.com/office/drawing/2014/main" id="{0BD5F6FC-072D-E368-8235-AAA4A99A9B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2700" y="3667918"/>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a:extLst>
              <a:ext uri="{FF2B5EF4-FFF2-40B4-BE49-F238E27FC236}">
                <a16:creationId xmlns:a16="http://schemas.microsoft.com/office/drawing/2014/main" id="{C9ED6030-6BBD-A2D3-EB93-13D4DF3A81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48550" y="3667918"/>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a:extLst>
              <a:ext uri="{FF2B5EF4-FFF2-40B4-BE49-F238E27FC236}">
                <a16:creationId xmlns:a16="http://schemas.microsoft.com/office/drawing/2014/main" id="{ED09CDFC-E216-F9E5-F4D4-F41688B942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5611018"/>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a:extLst>
              <a:ext uri="{FF2B5EF4-FFF2-40B4-BE49-F238E27FC236}">
                <a16:creationId xmlns:a16="http://schemas.microsoft.com/office/drawing/2014/main" id="{101162E9-88EA-1EF9-37EC-3A2C32BA9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112" y="5611018"/>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2">
            <a:extLst>
              <a:ext uri="{FF2B5EF4-FFF2-40B4-BE49-F238E27FC236}">
                <a16:creationId xmlns:a16="http://schemas.microsoft.com/office/drawing/2014/main" id="{5A772A71-F289-733F-67F5-34B022BC18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7962" y="5611018"/>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3">
            <a:extLst>
              <a:ext uri="{FF2B5EF4-FFF2-40B4-BE49-F238E27FC236}">
                <a16:creationId xmlns:a16="http://schemas.microsoft.com/office/drawing/2014/main" id="{6AE733F8-0ADC-D291-3626-6E947E4735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2700" y="5611018"/>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4">
            <a:extLst>
              <a:ext uri="{FF2B5EF4-FFF2-40B4-BE49-F238E27FC236}">
                <a16:creationId xmlns:a16="http://schemas.microsoft.com/office/drawing/2014/main" id="{FBA51C05-AD00-1189-C914-90ED5958ED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48550" y="5611018"/>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5">
            <a:extLst>
              <a:ext uri="{FF2B5EF4-FFF2-40B4-BE49-F238E27FC236}">
                <a16:creationId xmlns:a16="http://schemas.microsoft.com/office/drawing/2014/main" id="{CA70B530-5B14-C781-81BE-D165E961F5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4887" y="4161631"/>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6">
            <a:extLst>
              <a:ext uri="{FF2B5EF4-FFF2-40B4-BE49-F238E27FC236}">
                <a16:creationId xmlns:a16="http://schemas.microsoft.com/office/drawing/2014/main" id="{05280EDE-ECBD-2B95-AABC-1994DEF506B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6287" y="4247356"/>
            <a:ext cx="68263"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7">
            <a:extLst>
              <a:ext uri="{FF2B5EF4-FFF2-40B4-BE49-F238E27FC236}">
                <a16:creationId xmlns:a16="http://schemas.microsoft.com/office/drawing/2014/main" id="{DB3A05D9-823D-BC66-7676-2FE5270AB59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7412" y="4161631"/>
            <a:ext cx="197167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8">
            <a:extLst>
              <a:ext uri="{FF2B5EF4-FFF2-40B4-BE49-F238E27FC236}">
                <a16:creationId xmlns:a16="http://schemas.microsoft.com/office/drawing/2014/main" id="{8F709F8F-61E9-F4EE-1E9B-05617662CA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6750" y="4229893"/>
            <a:ext cx="113665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9">
            <a:extLst>
              <a:ext uri="{FF2B5EF4-FFF2-40B4-BE49-F238E27FC236}">
                <a16:creationId xmlns:a16="http://schemas.microsoft.com/office/drawing/2014/main" id="{1C2A4EB2-BB2E-DF02-2FC7-05B2CD43756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44862" y="4161631"/>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0">
            <a:extLst>
              <a:ext uri="{FF2B5EF4-FFF2-40B4-BE49-F238E27FC236}">
                <a16:creationId xmlns:a16="http://schemas.microsoft.com/office/drawing/2014/main" id="{C419DF9C-75E6-FA46-5559-D97F92E776F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97412" y="4161631"/>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1">
            <a:extLst>
              <a:ext uri="{FF2B5EF4-FFF2-40B4-BE49-F238E27FC236}">
                <a16:creationId xmlns:a16="http://schemas.microsoft.com/office/drawing/2014/main" id="{7945E1C3-2D39-95E0-1AD8-BB9BB3240BA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05725" y="4247356"/>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2">
            <a:extLst>
              <a:ext uri="{FF2B5EF4-FFF2-40B4-BE49-F238E27FC236}">
                <a16:creationId xmlns:a16="http://schemas.microsoft.com/office/drawing/2014/main" id="{ED3F97A4-9E9A-2B00-E8DB-95E37CF8388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83262" y="4161631"/>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3">
            <a:extLst>
              <a:ext uri="{FF2B5EF4-FFF2-40B4-BE49-F238E27FC236}">
                <a16:creationId xmlns:a16="http://schemas.microsoft.com/office/drawing/2014/main" id="{2F9A2F44-4603-0151-0F38-B9847BF7D04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73712" y="4161631"/>
            <a:ext cx="8953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4">
            <a:extLst>
              <a:ext uri="{FF2B5EF4-FFF2-40B4-BE49-F238E27FC236}">
                <a16:creationId xmlns:a16="http://schemas.microsoft.com/office/drawing/2014/main" id="{7C83790D-3C83-CFAE-2481-AF08AE76B3B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630987" y="4247356"/>
            <a:ext cx="666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5">
            <a:extLst>
              <a:ext uri="{FF2B5EF4-FFF2-40B4-BE49-F238E27FC236}">
                <a16:creationId xmlns:a16="http://schemas.microsoft.com/office/drawing/2014/main" id="{EAFF473A-3578-6AB7-ED57-88C8E279F9A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68812" y="4153693"/>
            <a:ext cx="94297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a:extLst>
              <a:ext uri="{FF2B5EF4-FFF2-40B4-BE49-F238E27FC236}">
                <a16:creationId xmlns:a16="http://schemas.microsoft.com/office/drawing/2014/main" id="{629BB1B6-5780-1B70-3BF8-8D8F0DA879CD}"/>
              </a:ext>
            </a:extLst>
          </p:cNvPr>
          <p:cNvSpPr txBox="1"/>
          <p:nvPr/>
        </p:nvSpPr>
        <p:spPr>
          <a:xfrm>
            <a:off x="609600" y="457200"/>
            <a:ext cx="3427220" cy="430887"/>
          </a:xfrm>
          <a:prstGeom prst="rect">
            <a:avLst/>
          </a:prstGeom>
          <a:noFill/>
        </p:spPr>
        <p:txBody>
          <a:bodyPr wrap="none" lIns="0" tIns="0" rIns="0" bIns="0" anchor="t">
            <a:spAutoFit/>
          </a:bodyPr>
          <a:lstStyle/>
          <a:p>
            <a:pPr algn="l"/>
            <a:r>
              <a:rPr sz="2800" b="1" i="0" u="none">
                <a:solidFill>
                  <a:srgbClr val="2563EB"/>
                </a:solidFill>
                <a:latin typeface="Be Vietnam Pro"/>
              </a:rPr>
              <a:t>3. THUẬT NGỮ CỐT LÕI</a:t>
            </a:r>
          </a:p>
        </p:txBody>
      </p:sp>
    </p:spTree>
    <p:extLst>
      <p:ext uri="{BB962C8B-B14F-4D97-AF65-F5344CB8AC3E}">
        <p14:creationId xmlns:p14="http://schemas.microsoft.com/office/powerpoint/2010/main" val="49037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80060" y="1651635"/>
            <a:ext cx="10972800" cy="1119187"/>
          </a:xfrm>
          <a:prstGeom prst="roundRect">
            <a:avLst>
              <a:gd name="adj" fmla="val 136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Rounded Rectangle 2"/>
          <p:cNvSpPr/>
          <p:nvPr/>
        </p:nvSpPr>
        <p:spPr>
          <a:xfrm>
            <a:off x="480060" y="2961322"/>
            <a:ext cx="10972800" cy="1119187"/>
          </a:xfrm>
          <a:prstGeom prst="roundRect">
            <a:avLst>
              <a:gd name="adj" fmla="val 13617"/>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Rounded Rectangle 3"/>
          <p:cNvSpPr/>
          <p:nvPr/>
        </p:nvSpPr>
        <p:spPr>
          <a:xfrm>
            <a:off x="480060" y="4271010"/>
            <a:ext cx="10972800" cy="1019175"/>
          </a:xfrm>
          <a:prstGeom prst="roundRect">
            <a:avLst>
              <a:gd name="adj" fmla="val 14953"/>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ounded Rectangle 4"/>
          <p:cNvSpPr/>
          <p:nvPr/>
        </p:nvSpPr>
        <p:spPr>
          <a:xfrm>
            <a:off x="756285" y="1927860"/>
            <a:ext cx="2209800" cy="247650"/>
          </a:xfrm>
          <a:prstGeom prst="roundRect">
            <a:avLst>
              <a:gd name="adj" fmla="val 23076"/>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ounded Rectangle 5"/>
          <p:cNvSpPr/>
          <p:nvPr/>
        </p:nvSpPr>
        <p:spPr>
          <a:xfrm>
            <a:off x="756285" y="3237547"/>
            <a:ext cx="2190750" cy="247650"/>
          </a:xfrm>
          <a:prstGeom prst="roundRect">
            <a:avLst>
              <a:gd name="adj" fmla="val 23076"/>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Be Vietnam Pro"/>
              </a:rPr>
              <a:t>4. TRỌNG TÂM LÝ THUYẾT</a:t>
            </a:r>
          </a:p>
        </p:txBody>
      </p:sp>
      <p:sp>
        <p:nvSpPr>
          <p:cNvPr id="8" name="TextBox 7"/>
          <p:cNvSpPr txBox="1"/>
          <p:nvPr/>
        </p:nvSpPr>
        <p:spPr>
          <a:xfrm>
            <a:off x="609600" y="704850"/>
            <a:ext cx="11582400" cy="381000"/>
          </a:xfrm>
          <a:prstGeom prst="rect">
            <a:avLst/>
          </a:prstGeom>
          <a:noFill/>
        </p:spPr>
        <p:txBody>
          <a:bodyPr wrap="none" lIns="0" tIns="0" rIns="0" bIns="0" anchor="t">
            <a:spAutoFit/>
          </a:bodyPr>
          <a:lstStyle/>
          <a:p>
            <a:pPr algn="l">
              <a:lnSpc>
                <a:spcPts val="3000"/>
              </a:lnSpc>
            </a:pPr>
            <a:r>
              <a:rPr sz="2400" b="1" i="0" u="none">
                <a:solidFill>
                  <a:srgbClr val="0F172A"/>
                </a:solidFill>
                <a:latin typeface="Be Vietnam Pro"/>
              </a:rPr>
              <a:t>Đường Pha &amp; Đường Mở (Augmenting Path)</a:t>
            </a:r>
          </a:p>
        </p:txBody>
      </p:sp>
      <p:sp>
        <p:nvSpPr>
          <p:cNvPr id="9" name="TextBox 8"/>
          <p:cNvSpPr txBox="1"/>
          <p:nvPr/>
        </p:nvSpPr>
        <p:spPr>
          <a:xfrm>
            <a:off x="756285" y="2251710"/>
            <a:ext cx="10258642" cy="243656"/>
          </a:xfrm>
          <a:prstGeom prst="rect">
            <a:avLst/>
          </a:prstGeom>
          <a:noFill/>
        </p:spPr>
        <p:txBody>
          <a:bodyPr wrap="none" lIns="0" tIns="0" rIns="0" bIns="0" anchor="t">
            <a:spAutoFit/>
          </a:bodyPr>
          <a:lstStyle/>
          <a:p>
            <a:pPr algn="l">
              <a:lnSpc>
                <a:spcPts val="1912"/>
              </a:lnSpc>
            </a:pPr>
            <a:r>
              <a:rPr b="0" i="0" u="none">
                <a:solidFill>
                  <a:srgbClr val="334155"/>
                </a:solidFill>
                <a:latin typeface="Be Vietnam Pro"/>
              </a:rPr>
              <a:t>Đường đi đơn mà các cạnh trên đó </a:t>
            </a:r>
            <a:r>
              <a:rPr b="1" i="0" u="none">
                <a:solidFill>
                  <a:srgbClr val="334155"/>
                </a:solidFill>
                <a:latin typeface="Be Vietnam Pro"/>
              </a:rPr>
              <a:t>xen kẽ nhau</a:t>
            </a:r>
            <a:r>
              <a:rPr b="0" i="0" u="none">
                <a:solidFill>
                  <a:srgbClr val="334155"/>
                </a:solidFill>
                <a:latin typeface="Be Vietnam Pro"/>
              </a:rPr>
              <a:t> giữa cạnh không thuộc $M$ (cạnh tự do) và cạnh thuộc $M$.</a:t>
            </a:r>
          </a:p>
        </p:txBody>
      </p:sp>
      <p:sp>
        <p:nvSpPr>
          <p:cNvPr id="10" name="TextBox 9"/>
          <p:cNvSpPr txBox="1"/>
          <p:nvPr/>
        </p:nvSpPr>
        <p:spPr>
          <a:xfrm>
            <a:off x="756285" y="3561397"/>
            <a:ext cx="10567035" cy="487313"/>
          </a:xfrm>
          <a:prstGeom prst="rect">
            <a:avLst/>
          </a:prstGeom>
          <a:noFill/>
        </p:spPr>
        <p:txBody>
          <a:bodyPr wrap="square" lIns="0" tIns="0" rIns="0" bIns="0" anchor="t">
            <a:spAutoFit/>
          </a:bodyPr>
          <a:lstStyle/>
          <a:p>
            <a:pPr algn="l">
              <a:lnSpc>
                <a:spcPts val="1912"/>
              </a:lnSpc>
            </a:pPr>
            <a:r>
              <a:rPr b="0" i="0" u="none">
                <a:solidFill>
                  <a:srgbClr val="1E3A8A"/>
                </a:solidFill>
                <a:latin typeface="Be Vietnam Pro"/>
              </a:rPr>
              <a:t>Đường pha có </a:t>
            </a:r>
            <a:r>
              <a:rPr b="1" i="0" u="none">
                <a:solidFill>
                  <a:srgbClr val="1E3A8A"/>
                </a:solidFill>
                <a:latin typeface="Be Vietnam Pro"/>
              </a:rPr>
              <a:t>2 đỉnh đầu mút là 2 đỉnh tự do</a:t>
            </a:r>
            <a:r>
              <a:rPr b="0" i="0" u="none">
                <a:solidFill>
                  <a:srgbClr val="1E3A8A"/>
                </a:solidFill>
                <a:latin typeface="Be Vietnam Pro"/>
              </a:rPr>
              <a:t> (bắt đầu tại một đỉnh tự do thuộc $X$ và kết thúc tại một đỉnh tự do thuộc $Y$).</a:t>
            </a:r>
          </a:p>
        </p:txBody>
      </p:sp>
      <p:sp>
        <p:nvSpPr>
          <p:cNvPr id="11" name="TextBox 10"/>
          <p:cNvSpPr txBox="1"/>
          <p:nvPr/>
        </p:nvSpPr>
        <p:spPr>
          <a:xfrm>
            <a:off x="756285" y="4547235"/>
            <a:ext cx="3609193" cy="276999"/>
          </a:xfrm>
          <a:prstGeom prst="rect">
            <a:avLst/>
          </a:prstGeom>
          <a:noFill/>
        </p:spPr>
        <p:txBody>
          <a:bodyPr wrap="none" lIns="0" tIns="0" rIns="0" bIns="0" anchor="t">
            <a:spAutoFit/>
          </a:bodyPr>
          <a:lstStyle/>
          <a:p>
            <a:pPr algn="l"/>
            <a:r>
              <a:rPr b="1" i="0" u="none">
                <a:solidFill>
                  <a:srgbClr val="065F46"/>
                </a:solidFill>
                <a:latin typeface="Be Vietnam Pro"/>
              </a:rPr>
              <a:t>Tính Chất Quan Trọng Của Đường Mở</a:t>
            </a:r>
          </a:p>
        </p:txBody>
      </p:sp>
      <p:sp>
        <p:nvSpPr>
          <p:cNvPr id="12" name="TextBox 11"/>
          <p:cNvSpPr txBox="1"/>
          <p:nvPr/>
        </p:nvSpPr>
        <p:spPr>
          <a:xfrm>
            <a:off x="756285" y="4823460"/>
            <a:ext cx="10304809" cy="276999"/>
          </a:xfrm>
          <a:prstGeom prst="rect">
            <a:avLst/>
          </a:prstGeom>
          <a:noFill/>
        </p:spPr>
        <p:txBody>
          <a:bodyPr wrap="none" lIns="0" tIns="0" rIns="0" bIns="0" anchor="t">
            <a:spAutoFit/>
          </a:bodyPr>
          <a:lstStyle/>
          <a:p>
            <a:pPr algn="l"/>
            <a:r>
              <a:rPr b="0" i="0" u="none">
                <a:solidFill>
                  <a:srgbClr val="047857"/>
                </a:solidFill>
                <a:latin typeface="Be Vietnam Pro"/>
              </a:rPr>
              <a:t>Đường mở luôn có số cạnh tự do </a:t>
            </a:r>
            <a:r>
              <a:rPr b="1" i="0" u="none">
                <a:solidFill>
                  <a:srgbClr val="047857"/>
                </a:solidFill>
                <a:latin typeface="Be Vietnam Pro"/>
              </a:rPr>
              <a:t>nhiều hơn</a:t>
            </a:r>
            <a:r>
              <a:rPr b="0" i="0" u="none">
                <a:solidFill>
                  <a:srgbClr val="047857"/>
                </a:solidFill>
                <a:latin typeface="Be Vietnam Pro"/>
              </a:rPr>
              <a:t> số cạnh thuộc $M$ đúng 1 cạnh: </a:t>
            </a:r>
            <a:r>
              <a:rPr b="1" i="0" u="none">
                <a:solidFill>
                  <a:srgbClr val="047857"/>
                </a:solidFill>
                <a:latin typeface="Be Vietnam Pro"/>
              </a:rPr>
              <a:t>$N_{tự do} = N_{trong M} + 1$</a:t>
            </a:r>
            <a:r>
              <a:rPr b="0" i="0" u="none">
                <a:solidFill>
                  <a:srgbClr val="047857"/>
                </a:solidFill>
                <a:latin typeface="Be Vietnam Pro"/>
              </a:rPr>
              <a:t>.</a:t>
            </a:r>
          </a:p>
        </p:txBody>
      </p:sp>
      <p:sp>
        <p:nvSpPr>
          <p:cNvPr id="13" name="TextBox 12"/>
          <p:cNvSpPr txBox="1"/>
          <p:nvPr/>
        </p:nvSpPr>
        <p:spPr>
          <a:xfrm>
            <a:off x="870584" y="1927860"/>
            <a:ext cx="3023235" cy="215444"/>
          </a:xfrm>
          <a:prstGeom prst="rect">
            <a:avLst/>
          </a:prstGeom>
          <a:noFill/>
        </p:spPr>
        <p:txBody>
          <a:bodyPr wrap="square" lIns="0" tIns="0" rIns="0" bIns="0" anchor="t">
            <a:spAutoFit/>
          </a:bodyPr>
          <a:lstStyle/>
          <a:p>
            <a:pPr algn="l"/>
            <a:r>
              <a:rPr sz="1400" b="1" i="0" u="none">
                <a:solidFill>
                  <a:srgbClr val="92400E"/>
                </a:solidFill>
                <a:latin typeface="Be Vietnam Pro"/>
              </a:rPr>
              <a:t>Đường Pha (Alternating Path)</a:t>
            </a:r>
          </a:p>
        </p:txBody>
      </p:sp>
      <p:sp>
        <p:nvSpPr>
          <p:cNvPr id="14" name="TextBox 13"/>
          <p:cNvSpPr txBox="1"/>
          <p:nvPr/>
        </p:nvSpPr>
        <p:spPr>
          <a:xfrm>
            <a:off x="870584" y="3187423"/>
            <a:ext cx="4063365" cy="215444"/>
          </a:xfrm>
          <a:prstGeom prst="rect">
            <a:avLst/>
          </a:prstGeom>
          <a:noFill/>
        </p:spPr>
        <p:txBody>
          <a:bodyPr wrap="square" lIns="0" tIns="0" rIns="0" bIns="0" anchor="t">
            <a:spAutoFit/>
          </a:bodyPr>
          <a:lstStyle/>
          <a:p>
            <a:pPr algn="l"/>
            <a:r>
              <a:rPr sz="1400" b="1" i="0" u="none">
                <a:solidFill>
                  <a:srgbClr val="1E40AF"/>
                </a:solidFill>
                <a:latin typeface="Be Vietnam Pro"/>
              </a:rPr>
              <a:t>Đường Mở (Augmenting Path)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a:extLst>
              <a:ext uri="{FF2B5EF4-FFF2-40B4-BE49-F238E27FC236}">
                <a16:creationId xmlns:a16="http://schemas.microsoft.com/office/drawing/2014/main" id="{F3E8DCD5-F82F-F872-5B6A-CC6854818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8498" y="2342517"/>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a:extLst>
              <a:ext uri="{FF2B5EF4-FFF2-40B4-BE49-F238E27FC236}">
                <a16:creationId xmlns:a16="http://schemas.microsoft.com/office/drawing/2014/main" id="{A3378749-BA16-FBA2-015F-FFE326150EDB}"/>
              </a:ext>
            </a:extLst>
          </p:cNvPr>
          <p:cNvSpPr txBox="1">
            <a:spLocks noChangeArrowheads="1"/>
          </p:cNvSpPr>
          <p:nvPr/>
        </p:nvSpPr>
        <p:spPr bwMode="auto">
          <a:xfrm>
            <a:off x="3272473" y="2402842"/>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a</a:t>
            </a:r>
          </a:p>
        </p:txBody>
      </p:sp>
      <p:pic>
        <p:nvPicPr>
          <p:cNvPr id="7" name="Picture 7">
            <a:extLst>
              <a:ext uri="{FF2B5EF4-FFF2-40B4-BE49-F238E27FC236}">
                <a16:creationId xmlns:a16="http://schemas.microsoft.com/office/drawing/2014/main" id="{0C630BF7-BD6C-65E4-C2BD-D54BE4552A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9436" y="2342517"/>
            <a:ext cx="592137"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8">
            <a:extLst>
              <a:ext uri="{FF2B5EF4-FFF2-40B4-BE49-F238E27FC236}">
                <a16:creationId xmlns:a16="http://schemas.microsoft.com/office/drawing/2014/main" id="{4AEBD2B7-9EDF-C9B2-69A9-9A224D23DE00}"/>
              </a:ext>
            </a:extLst>
          </p:cNvPr>
          <p:cNvSpPr txBox="1">
            <a:spLocks noChangeArrowheads="1"/>
          </p:cNvSpPr>
          <p:nvPr/>
        </p:nvSpPr>
        <p:spPr bwMode="auto">
          <a:xfrm>
            <a:off x="4424998" y="2406017"/>
            <a:ext cx="4857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b</a:t>
            </a:r>
          </a:p>
        </p:txBody>
      </p:sp>
      <p:pic>
        <p:nvPicPr>
          <p:cNvPr id="11" name="Picture 9">
            <a:extLst>
              <a:ext uri="{FF2B5EF4-FFF2-40B4-BE49-F238E27FC236}">
                <a16:creationId xmlns:a16="http://schemas.microsoft.com/office/drawing/2014/main" id="{9720CC74-334F-A4F0-32DE-62918D5F65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7348" y="2342517"/>
            <a:ext cx="6000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0">
            <a:extLst>
              <a:ext uri="{FF2B5EF4-FFF2-40B4-BE49-F238E27FC236}">
                <a16:creationId xmlns:a16="http://schemas.microsoft.com/office/drawing/2014/main" id="{11493BAF-88F6-94A5-A01B-507617214007}"/>
              </a:ext>
            </a:extLst>
          </p:cNvPr>
          <p:cNvSpPr txBox="1">
            <a:spLocks noChangeArrowheads="1"/>
          </p:cNvSpPr>
          <p:nvPr/>
        </p:nvSpPr>
        <p:spPr bwMode="auto">
          <a:xfrm>
            <a:off x="5504498" y="2402842"/>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c</a:t>
            </a:r>
          </a:p>
        </p:txBody>
      </p:sp>
      <p:pic>
        <p:nvPicPr>
          <p:cNvPr id="15" name="Picture 11">
            <a:extLst>
              <a:ext uri="{FF2B5EF4-FFF2-40B4-BE49-F238E27FC236}">
                <a16:creationId xmlns:a16="http://schemas.microsoft.com/office/drawing/2014/main" id="{505636C2-00B9-5706-425B-67B414F7A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3198" y="2342517"/>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12">
            <a:extLst>
              <a:ext uri="{FF2B5EF4-FFF2-40B4-BE49-F238E27FC236}">
                <a16:creationId xmlns:a16="http://schemas.microsoft.com/office/drawing/2014/main" id="{4911225F-9F60-CBFA-170A-3A99D930F630}"/>
              </a:ext>
            </a:extLst>
          </p:cNvPr>
          <p:cNvSpPr txBox="1">
            <a:spLocks noChangeArrowheads="1"/>
          </p:cNvSpPr>
          <p:nvPr/>
        </p:nvSpPr>
        <p:spPr bwMode="auto">
          <a:xfrm>
            <a:off x="6583998" y="2402842"/>
            <a:ext cx="485775"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d</a:t>
            </a:r>
          </a:p>
        </p:txBody>
      </p:sp>
      <p:pic>
        <p:nvPicPr>
          <p:cNvPr id="19" name="Picture 13">
            <a:extLst>
              <a:ext uri="{FF2B5EF4-FFF2-40B4-BE49-F238E27FC236}">
                <a16:creationId xmlns:a16="http://schemas.microsoft.com/office/drawing/2014/main" id="{9EAB395C-960E-2074-7F8D-8EEDB751D0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9523" y="2342517"/>
            <a:ext cx="60166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14">
            <a:extLst>
              <a:ext uri="{FF2B5EF4-FFF2-40B4-BE49-F238E27FC236}">
                <a16:creationId xmlns:a16="http://schemas.microsoft.com/office/drawing/2014/main" id="{97A903A1-1217-5F44-0219-A2898F66313D}"/>
              </a:ext>
            </a:extLst>
          </p:cNvPr>
          <p:cNvSpPr txBox="1">
            <a:spLocks noChangeArrowheads="1"/>
          </p:cNvSpPr>
          <p:nvPr/>
        </p:nvSpPr>
        <p:spPr bwMode="auto">
          <a:xfrm>
            <a:off x="7665086" y="2402842"/>
            <a:ext cx="4873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e</a:t>
            </a:r>
          </a:p>
        </p:txBody>
      </p:sp>
      <p:pic>
        <p:nvPicPr>
          <p:cNvPr id="23" name="Picture 15">
            <a:extLst>
              <a:ext uri="{FF2B5EF4-FFF2-40B4-BE49-F238E27FC236}">
                <a16:creationId xmlns:a16="http://schemas.microsoft.com/office/drawing/2014/main" id="{4B30B363-D806-FDE5-F2B9-39DB5FB9EC4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8498" y="4285617"/>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6">
            <a:extLst>
              <a:ext uri="{FF2B5EF4-FFF2-40B4-BE49-F238E27FC236}">
                <a16:creationId xmlns:a16="http://schemas.microsoft.com/office/drawing/2014/main" id="{140C07FF-DF77-BAFC-0749-D97C55F886E2}"/>
              </a:ext>
            </a:extLst>
          </p:cNvPr>
          <p:cNvSpPr txBox="1">
            <a:spLocks noChangeArrowheads="1"/>
          </p:cNvSpPr>
          <p:nvPr/>
        </p:nvSpPr>
        <p:spPr bwMode="auto">
          <a:xfrm>
            <a:off x="3272473" y="4345942"/>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f</a:t>
            </a:r>
          </a:p>
        </p:txBody>
      </p:sp>
      <p:pic>
        <p:nvPicPr>
          <p:cNvPr id="27" name="Picture 17">
            <a:extLst>
              <a:ext uri="{FF2B5EF4-FFF2-40B4-BE49-F238E27FC236}">
                <a16:creationId xmlns:a16="http://schemas.microsoft.com/office/drawing/2014/main" id="{218C0D41-2F03-D818-12F3-48D66DB8E8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9436" y="4285617"/>
            <a:ext cx="592137"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18">
            <a:extLst>
              <a:ext uri="{FF2B5EF4-FFF2-40B4-BE49-F238E27FC236}">
                <a16:creationId xmlns:a16="http://schemas.microsoft.com/office/drawing/2014/main" id="{7B04DE85-F5DD-F10D-9ACA-1D5675900EE0}"/>
              </a:ext>
            </a:extLst>
          </p:cNvPr>
          <p:cNvSpPr txBox="1">
            <a:spLocks noChangeArrowheads="1"/>
          </p:cNvSpPr>
          <p:nvPr/>
        </p:nvSpPr>
        <p:spPr bwMode="auto">
          <a:xfrm>
            <a:off x="4424998" y="4349117"/>
            <a:ext cx="4857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g</a:t>
            </a:r>
          </a:p>
        </p:txBody>
      </p:sp>
      <p:pic>
        <p:nvPicPr>
          <p:cNvPr id="31" name="Picture 19">
            <a:extLst>
              <a:ext uri="{FF2B5EF4-FFF2-40B4-BE49-F238E27FC236}">
                <a16:creationId xmlns:a16="http://schemas.microsoft.com/office/drawing/2014/main" id="{8DAB7BA3-41A3-464E-971A-159B77FC33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47348" y="4285617"/>
            <a:ext cx="6000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20">
            <a:extLst>
              <a:ext uri="{FF2B5EF4-FFF2-40B4-BE49-F238E27FC236}">
                <a16:creationId xmlns:a16="http://schemas.microsoft.com/office/drawing/2014/main" id="{8C53BEF1-96E7-9A04-4701-2C8E7480ADDD}"/>
              </a:ext>
            </a:extLst>
          </p:cNvPr>
          <p:cNvSpPr txBox="1">
            <a:spLocks noChangeArrowheads="1"/>
          </p:cNvSpPr>
          <p:nvPr/>
        </p:nvSpPr>
        <p:spPr bwMode="auto">
          <a:xfrm>
            <a:off x="5504498" y="4345942"/>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h</a:t>
            </a:r>
          </a:p>
        </p:txBody>
      </p:sp>
      <p:pic>
        <p:nvPicPr>
          <p:cNvPr id="35" name="Picture 21">
            <a:extLst>
              <a:ext uri="{FF2B5EF4-FFF2-40B4-BE49-F238E27FC236}">
                <a16:creationId xmlns:a16="http://schemas.microsoft.com/office/drawing/2014/main" id="{998ED87F-F877-3387-2584-166AB6413B3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33198" y="4285617"/>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22">
            <a:extLst>
              <a:ext uri="{FF2B5EF4-FFF2-40B4-BE49-F238E27FC236}">
                <a16:creationId xmlns:a16="http://schemas.microsoft.com/office/drawing/2014/main" id="{582ABE0B-65EC-B818-475E-D3ED653C92B1}"/>
              </a:ext>
            </a:extLst>
          </p:cNvPr>
          <p:cNvSpPr txBox="1">
            <a:spLocks noChangeArrowheads="1"/>
          </p:cNvSpPr>
          <p:nvPr/>
        </p:nvSpPr>
        <p:spPr bwMode="auto">
          <a:xfrm>
            <a:off x="6583998" y="4345942"/>
            <a:ext cx="485775"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i</a:t>
            </a:r>
          </a:p>
        </p:txBody>
      </p:sp>
      <p:pic>
        <p:nvPicPr>
          <p:cNvPr id="39" name="Picture 23">
            <a:extLst>
              <a:ext uri="{FF2B5EF4-FFF2-40B4-BE49-F238E27FC236}">
                <a16:creationId xmlns:a16="http://schemas.microsoft.com/office/drawing/2014/main" id="{309D0CD4-9C0B-B59C-92C3-83B886615F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9523" y="4285617"/>
            <a:ext cx="60166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24">
            <a:extLst>
              <a:ext uri="{FF2B5EF4-FFF2-40B4-BE49-F238E27FC236}">
                <a16:creationId xmlns:a16="http://schemas.microsoft.com/office/drawing/2014/main" id="{93ED71AA-3B45-CF4B-933F-45E345C11C18}"/>
              </a:ext>
            </a:extLst>
          </p:cNvPr>
          <p:cNvSpPr txBox="1">
            <a:spLocks noChangeArrowheads="1"/>
          </p:cNvSpPr>
          <p:nvPr/>
        </p:nvSpPr>
        <p:spPr bwMode="auto">
          <a:xfrm>
            <a:off x="7665086" y="4345942"/>
            <a:ext cx="4873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j</a:t>
            </a:r>
          </a:p>
        </p:txBody>
      </p:sp>
      <p:pic>
        <p:nvPicPr>
          <p:cNvPr id="43" name="Picture 25">
            <a:extLst>
              <a:ext uri="{FF2B5EF4-FFF2-40B4-BE49-F238E27FC236}">
                <a16:creationId xmlns:a16="http://schemas.microsoft.com/office/drawing/2014/main" id="{CF5C9B2C-93A2-59E7-80AB-B75D25E4D2B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94723" y="2925129"/>
            <a:ext cx="476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26">
            <a:extLst>
              <a:ext uri="{FF2B5EF4-FFF2-40B4-BE49-F238E27FC236}">
                <a16:creationId xmlns:a16="http://schemas.microsoft.com/office/drawing/2014/main" id="{F0838E6E-C471-AAAF-1A9A-B8D052D1AAA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7248" y="2914017"/>
            <a:ext cx="1123950"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27">
            <a:extLst>
              <a:ext uri="{FF2B5EF4-FFF2-40B4-BE49-F238E27FC236}">
                <a16:creationId xmlns:a16="http://schemas.microsoft.com/office/drawing/2014/main" id="{D6F2AF9D-E29E-CC83-441F-7FD6167F6F4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83611" y="2828292"/>
            <a:ext cx="1012825"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28">
            <a:extLst>
              <a:ext uri="{FF2B5EF4-FFF2-40B4-BE49-F238E27FC236}">
                <a16:creationId xmlns:a16="http://schemas.microsoft.com/office/drawing/2014/main" id="{E5523526-5C56-2E23-8E2E-7627EEE40F4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3573" y="2828292"/>
            <a:ext cx="93345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29">
            <a:extLst>
              <a:ext uri="{FF2B5EF4-FFF2-40B4-BE49-F238E27FC236}">
                <a16:creationId xmlns:a16="http://schemas.microsoft.com/office/drawing/2014/main" id="{27AF7065-6D9C-A9EF-BF9F-BFA7DD59545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47648" y="2934654"/>
            <a:ext cx="49213"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30">
            <a:extLst>
              <a:ext uri="{FF2B5EF4-FFF2-40B4-BE49-F238E27FC236}">
                <a16:creationId xmlns:a16="http://schemas.microsoft.com/office/drawing/2014/main" id="{15EB2128-1143-BA2C-E811-CE5EB0AD4FF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09423" y="2925129"/>
            <a:ext cx="381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31">
            <a:extLst>
              <a:ext uri="{FF2B5EF4-FFF2-40B4-BE49-F238E27FC236}">
                <a16:creationId xmlns:a16="http://schemas.microsoft.com/office/drawing/2014/main" id="{9FBC89C7-C63D-4EEA-0E74-12E912EE914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47248" y="2925129"/>
            <a:ext cx="49213"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32">
            <a:extLst>
              <a:ext uri="{FF2B5EF4-FFF2-40B4-BE49-F238E27FC236}">
                <a16:creationId xmlns:a16="http://schemas.microsoft.com/office/drawing/2014/main" id="{00352686-6475-629B-0B99-7A24230CC18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33098" y="2914017"/>
            <a:ext cx="1114425"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33">
            <a:extLst>
              <a:ext uri="{FF2B5EF4-FFF2-40B4-BE49-F238E27FC236}">
                <a16:creationId xmlns:a16="http://schemas.microsoft.com/office/drawing/2014/main" id="{3DE80BBD-3EF0-C195-EAB3-ABF0693E020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33098" y="2906079"/>
            <a:ext cx="2192338"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Rectangle 3">
            <a:extLst>
              <a:ext uri="{FF2B5EF4-FFF2-40B4-BE49-F238E27FC236}">
                <a16:creationId xmlns:a16="http://schemas.microsoft.com/office/drawing/2014/main" id="{C12C9C24-06ED-0776-E3FB-F616980E5CFF}"/>
              </a:ext>
            </a:extLst>
          </p:cNvPr>
          <p:cNvSpPr txBox="1">
            <a:spLocks noChangeArrowheads="1"/>
          </p:cNvSpPr>
          <p:nvPr/>
        </p:nvSpPr>
        <p:spPr>
          <a:xfrm>
            <a:off x="525463" y="308929"/>
            <a:ext cx="8150225" cy="617854"/>
          </a:xfrm>
          <a:prstGeom prst="rect">
            <a:avLst/>
          </a:prstGeom>
        </p:spPr>
        <p:txBody>
          <a:bodyPr lIns="0" t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5000"/>
              </a:lnSpc>
            </a:pPr>
            <a:r>
              <a:rPr lang="en-US" altLang="en-US" sz="4900">
                <a:solidFill>
                  <a:srgbClr val="000000"/>
                </a:solidFill>
              </a:rPr>
              <a:t>Đường pha - Alternating Path</a:t>
            </a:r>
          </a:p>
        </p:txBody>
      </p:sp>
      <p:sp>
        <p:nvSpPr>
          <p:cNvPr id="62" name="TextBox 61">
            <a:extLst>
              <a:ext uri="{FF2B5EF4-FFF2-40B4-BE49-F238E27FC236}">
                <a16:creationId xmlns:a16="http://schemas.microsoft.com/office/drawing/2014/main" id="{FC7F192E-F650-0300-A725-C560CB8F1F9C}"/>
              </a:ext>
            </a:extLst>
          </p:cNvPr>
          <p:cNvSpPr txBox="1"/>
          <p:nvPr/>
        </p:nvSpPr>
        <p:spPr>
          <a:xfrm>
            <a:off x="525462" y="1080115"/>
            <a:ext cx="10824527" cy="954107"/>
          </a:xfrm>
          <a:prstGeom prst="rect">
            <a:avLst/>
          </a:prstGeom>
          <a:noFill/>
        </p:spPr>
        <p:txBody>
          <a:bodyPr wrap="square">
            <a:spAutoFit/>
          </a:bodyPr>
          <a:lstStyle/>
          <a:p>
            <a:r>
              <a:rPr lang="en-US" sz="2800" b="1"/>
              <a:t>Khái niệm:</a:t>
            </a:r>
            <a:r>
              <a:rPr lang="en-US" sz="2800"/>
              <a:t> Là đường đi có các cạnh </a:t>
            </a:r>
            <a:r>
              <a:rPr lang="en-US" sz="2800" b="1"/>
              <a:t>luân phiên (xen kẽ)</a:t>
            </a:r>
            <a:r>
              <a:rPr lang="en-US" sz="2800"/>
              <a:t> giữa </a:t>
            </a:r>
            <a:r>
              <a:rPr lang="en-US" sz="2800" b="1"/>
              <a:t>cạnh thuộc cặp ghép</a:t>
            </a:r>
            <a:r>
              <a:rPr lang="en-US" sz="2800"/>
              <a:t> (cạnh đỏ) và </a:t>
            </a:r>
            <a:r>
              <a:rPr lang="en-US" sz="2800" b="1"/>
              <a:t>cạnh không thuộc cặp ghép</a:t>
            </a:r>
            <a:r>
              <a:rPr lang="en-US" sz="2800"/>
              <a:t> (cạnh xanh).</a:t>
            </a:r>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0ACB3ADA-AC6E-5430-895A-9857B841AFFB}"/>
                  </a:ext>
                </a:extLst>
              </p:cNvPr>
              <p:cNvSpPr txBox="1"/>
              <p:nvPr/>
            </p:nvSpPr>
            <p:spPr>
              <a:xfrm>
                <a:off x="140614" y="5391102"/>
                <a:ext cx="11702494" cy="1323439"/>
              </a:xfrm>
              <a:prstGeom prst="rect">
                <a:avLst/>
              </a:prstGeom>
              <a:noFill/>
            </p:spPr>
            <p:txBody>
              <a:bodyPr wrap="square">
                <a:spAutoFit/>
              </a:bodyPr>
              <a:lstStyle/>
              <a:p>
                <a:pPr marL="0" marR="0" lvl="0" indent="-342900">
                  <a:buFont typeface="Arial" panose="020B0604020202020204" pitchFamily="34" charset="0"/>
                  <a:buChar char="•"/>
                </a:pPr>
                <a:r>
                  <a:rPr lang="en-US" sz="1600" b="1">
                    <a:effectLst/>
                    <a:latin typeface="+mn-lt"/>
                  </a:rPr>
                  <a:t>d-h-e</a:t>
                </a:r>
                <a:r>
                  <a:rPr lang="en-US" sz="1600">
                    <a:effectLst/>
                    <a:latin typeface="+mn-lt"/>
                  </a:rPr>
                  <a:t>: </a:t>
                </a:r>
                <a:r>
                  <a:rPr lang="en-US" sz="1600" b="1">
                    <a:effectLst/>
                    <a:latin typeface="+mn-lt"/>
                  </a:rPr>
                  <a:t>Đường đi xen kẽ </a:t>
                </a:r>
                <a:r>
                  <a:rPr lang="en-US" sz="1600" i="1">
                    <a:effectLst/>
                    <a:latin typeface="+mn-lt"/>
                  </a:rPr>
                  <a:t>(Đi từ cạnh đỏ d-h </a:t>
                </a:r>
                <a14:m>
                  <m:oMath xmlns:m="http://schemas.openxmlformats.org/officeDocument/2006/math">
                    <m:r>
                      <a:rPr lang="en-US" sz="1600" smtClean="0">
                        <a:latin typeface="Cambria Math" panose="02040503050406030204" pitchFamily="18" charset="0"/>
                      </a:rPr>
                      <m:t>→</m:t>
                    </m:r>
                  </m:oMath>
                </a14:m>
                <a:r>
                  <a:rPr lang="en-US" sz="1600" i="1">
                    <a:effectLst/>
                    <a:latin typeface="+mn-lt"/>
                  </a:rPr>
                  <a:t>chuyển sang cạnh xanh h-e)</a:t>
                </a:r>
                <a:endParaRPr lang="en-US" sz="1600">
                  <a:effectLst/>
                  <a:latin typeface="+mn-lt"/>
                </a:endParaRPr>
              </a:p>
              <a:p>
                <a:pPr marL="0" marR="0" lvl="0" indent="-342900">
                  <a:buFont typeface="Arial" panose="020B0604020202020204" pitchFamily="34" charset="0"/>
                  <a:buChar char="•"/>
                </a:pPr>
                <a:r>
                  <a:rPr lang="en-US" sz="1600" b="1">
                    <a:effectLst/>
                    <a:latin typeface="+mn-lt"/>
                  </a:rPr>
                  <a:t>a-f-b-h-d-i</a:t>
                </a:r>
                <a:r>
                  <a:rPr lang="en-US" sz="1600">
                    <a:effectLst/>
                    <a:latin typeface="+mn-lt"/>
                  </a:rPr>
                  <a:t>: </a:t>
                </a:r>
                <a:r>
                  <a:rPr lang="en-US" sz="1600" b="1">
                    <a:effectLst/>
                    <a:latin typeface="+mn-lt"/>
                  </a:rPr>
                  <a:t>Đường đi xen kẽ bắt đầu và kết thúc tại các đỉnh tự do </a:t>
                </a:r>
                <a:r>
                  <a:rPr lang="en-US" sz="1600" i="1">
                    <a:effectLst/>
                    <a:latin typeface="+mn-lt"/>
                  </a:rPr>
                  <a:t>(Đỉnh a và i là đỉnh tự do/màu vàng. Thứ tự cạnh: xanh a-f </a:t>
                </a:r>
                <a14:m>
                  <m:oMath xmlns:m="http://schemas.openxmlformats.org/officeDocument/2006/math">
                    <m:r>
                      <a:rPr lang="en-US" sz="1600" smtClean="0">
                        <a:latin typeface="Cambria Math" panose="02040503050406030204" pitchFamily="18" charset="0"/>
                      </a:rPr>
                      <m:t>→</m:t>
                    </m:r>
                  </m:oMath>
                </a14:m>
                <a:r>
                  <a:rPr lang="en-US" sz="1600" i="1">
                    <a:effectLst/>
                    <a:latin typeface="+mn-lt"/>
                  </a:rPr>
                  <a:t>đỏ f-b </a:t>
                </a:r>
                <a14:m>
                  <m:oMath xmlns:m="http://schemas.openxmlformats.org/officeDocument/2006/math">
                    <m:r>
                      <a:rPr lang="en-US" sz="1600" smtClean="0">
                        <a:latin typeface="Cambria Math" panose="02040503050406030204" pitchFamily="18" charset="0"/>
                      </a:rPr>
                      <m:t>→</m:t>
                    </m:r>
                  </m:oMath>
                </a14:m>
                <a:r>
                  <a:rPr lang="en-US" sz="1600" i="1">
                    <a:effectLst/>
                    <a:latin typeface="+mn-lt"/>
                  </a:rPr>
                  <a:t>xanh b-h </a:t>
                </a:r>
                <a14:m>
                  <m:oMath xmlns:m="http://schemas.openxmlformats.org/officeDocument/2006/math">
                    <m:r>
                      <a:rPr lang="en-US" sz="1600" smtClean="0">
                        <a:latin typeface="Cambria Math" panose="02040503050406030204" pitchFamily="18" charset="0"/>
                      </a:rPr>
                      <m:t>→</m:t>
                    </m:r>
                  </m:oMath>
                </a14:m>
                <a:r>
                  <a:rPr lang="en-US" sz="1600" i="1">
                    <a:effectLst/>
                    <a:latin typeface="+mn-lt"/>
                  </a:rPr>
                  <a:t>đỏ h-d </a:t>
                </a:r>
                <a14:m>
                  <m:oMath xmlns:m="http://schemas.openxmlformats.org/officeDocument/2006/math">
                    <m:r>
                      <a:rPr lang="en-US" sz="1600" smtClean="0">
                        <a:latin typeface="Cambria Math" panose="02040503050406030204" pitchFamily="18" charset="0"/>
                      </a:rPr>
                      <m:t>→</m:t>
                    </m:r>
                  </m:oMath>
                </a14:m>
                <a:r>
                  <a:rPr lang="en-US" sz="1600" i="1">
                    <a:effectLst/>
                    <a:latin typeface="+mn-lt"/>
                  </a:rPr>
                  <a:t>xanh d-i)</a:t>
                </a:r>
                <a:endParaRPr lang="en-US" sz="1600">
                  <a:effectLst/>
                  <a:latin typeface="+mn-lt"/>
                </a:endParaRPr>
              </a:p>
              <a:p>
                <a:pPr marL="0" marR="0" lvl="0" indent="-342900">
                  <a:buFont typeface="Arial" panose="020B0604020202020204" pitchFamily="34" charset="0"/>
                  <a:buChar char="•"/>
                </a:pPr>
                <a:r>
                  <a:rPr lang="en-US" sz="1600" b="1">
                    <a:effectLst/>
                    <a:latin typeface="+mn-lt"/>
                  </a:rPr>
                  <a:t>f-b-h-e</a:t>
                </a:r>
                <a:r>
                  <a:rPr lang="en-US" sz="1600">
                    <a:effectLst/>
                    <a:latin typeface="+mn-lt"/>
                  </a:rPr>
                  <a:t>: </a:t>
                </a:r>
                <a:r>
                  <a:rPr lang="en-US" sz="1600" b="1">
                    <a:effectLst/>
                    <a:latin typeface="+mn-lt"/>
                  </a:rPr>
                  <a:t>Không phải đường đi xen kẽ </a:t>
                </a:r>
                <a:r>
                  <a:rPr lang="en-US" sz="1600" i="1">
                    <a:effectLst/>
                    <a:latin typeface="+mn-lt"/>
                  </a:rPr>
                  <a:t>(Do có 2 cạnh xanh đi liên tiếp nhau là b-h và h-e, không thỏa mãn tính chất xen kẽ đỏ - xanh)</a:t>
                </a:r>
                <a:endParaRPr lang="en-US" sz="1600">
                  <a:effectLst/>
                  <a:latin typeface="+mn-lt"/>
                </a:endParaRPr>
              </a:p>
              <a:p>
                <a:pPr marL="0" marR="0" lvl="0" indent="-342900">
                  <a:buFont typeface="Arial" panose="020B0604020202020204" pitchFamily="34" charset="0"/>
                  <a:buChar char="•"/>
                </a:pPr>
                <a:r>
                  <a:rPr lang="en-US" sz="1600" b="1">
                    <a:effectLst/>
                  </a:rPr>
                  <a:t>e-j</a:t>
                </a:r>
                <a:r>
                  <a:rPr lang="en-US" sz="1600">
                    <a:effectLst/>
                  </a:rPr>
                  <a:t>: </a:t>
                </a:r>
                <a:r>
                  <a:rPr lang="en-US" sz="1600" b="1">
                    <a:effectLst/>
                  </a:rPr>
                  <a:t>Đường đi xen kẽ bắt đầu và kết thúc tại các đỉnh tự do </a:t>
                </a:r>
                <a:r>
                  <a:rPr lang="en-US" sz="1600" i="1">
                    <a:effectLst/>
                  </a:rPr>
                  <a:t>(Chỉ gồm 1 cạnh xanh e-j nối 2 đỉnh tự do màu vàng e và j)</a:t>
                </a:r>
                <a:endParaRPr lang="en-US" sz="1600">
                  <a:effectLst/>
                  <a:latin typeface="Google Sans Text"/>
                </a:endParaRPr>
              </a:p>
            </p:txBody>
          </p:sp>
        </mc:Choice>
        <mc:Fallback xmlns="">
          <p:sp>
            <p:nvSpPr>
              <p:cNvPr id="64" name="TextBox 63">
                <a:extLst>
                  <a:ext uri="{FF2B5EF4-FFF2-40B4-BE49-F238E27FC236}">
                    <a16:creationId xmlns:a16="http://schemas.microsoft.com/office/drawing/2014/main" id="{0ACB3ADA-AC6E-5430-895A-9857B841AFFB}"/>
                  </a:ext>
                </a:extLst>
              </p:cNvPr>
              <p:cNvSpPr txBox="1">
                <a:spLocks noRot="1" noChangeAspect="1" noMove="1" noResize="1" noEditPoints="1" noAdjustHandles="1" noChangeArrowheads="1" noChangeShapeType="1" noTextEdit="1"/>
              </p:cNvSpPr>
              <p:nvPr/>
            </p:nvSpPr>
            <p:spPr>
              <a:xfrm>
                <a:off x="140614" y="5391102"/>
                <a:ext cx="11702494" cy="1323439"/>
              </a:xfrm>
              <a:prstGeom prst="rect">
                <a:avLst/>
              </a:prstGeom>
              <a:blipFill>
                <a:blip r:embed="rId20"/>
                <a:stretch>
                  <a:fillRect l="-208" t="-1382" b="-5069"/>
                </a:stretch>
              </a:blipFill>
            </p:spPr>
            <p:txBody>
              <a:bodyPr/>
              <a:lstStyle/>
              <a:p>
                <a:r>
                  <a:rPr lang="en-US">
                    <a:noFill/>
                  </a:rPr>
                  <a:t> </a:t>
                </a:r>
              </a:p>
            </p:txBody>
          </p:sp>
        </mc:Fallback>
      </mc:AlternateContent>
    </p:spTree>
    <p:extLst>
      <p:ext uri="{BB962C8B-B14F-4D97-AF65-F5344CB8AC3E}">
        <p14:creationId xmlns:p14="http://schemas.microsoft.com/office/powerpoint/2010/main" val="2881037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a:extLst>
              <a:ext uri="{FF2B5EF4-FFF2-40B4-BE49-F238E27FC236}">
                <a16:creationId xmlns:a16="http://schemas.microsoft.com/office/drawing/2014/main" id="{BD0BFC08-675F-61BA-4E12-523375417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613" y="2160588"/>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
            <a:extLst>
              <a:ext uri="{FF2B5EF4-FFF2-40B4-BE49-F238E27FC236}">
                <a16:creationId xmlns:a16="http://schemas.microsoft.com/office/drawing/2014/main" id="{E19E94FD-6D6A-C558-C788-36AD8CD353AA}"/>
              </a:ext>
            </a:extLst>
          </p:cNvPr>
          <p:cNvSpPr txBox="1">
            <a:spLocks noChangeArrowheads="1"/>
          </p:cNvSpPr>
          <p:nvPr/>
        </p:nvSpPr>
        <p:spPr bwMode="auto">
          <a:xfrm>
            <a:off x="3303588" y="2220913"/>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a</a:t>
            </a:r>
          </a:p>
        </p:txBody>
      </p:sp>
      <p:pic>
        <p:nvPicPr>
          <p:cNvPr id="7" name="Picture 7">
            <a:extLst>
              <a:ext uri="{FF2B5EF4-FFF2-40B4-BE49-F238E27FC236}">
                <a16:creationId xmlns:a16="http://schemas.microsoft.com/office/drawing/2014/main" id="{B914CE1B-65FB-7BF7-6D93-FC651E5FF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551" y="2160588"/>
            <a:ext cx="592137"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8">
            <a:extLst>
              <a:ext uri="{FF2B5EF4-FFF2-40B4-BE49-F238E27FC236}">
                <a16:creationId xmlns:a16="http://schemas.microsoft.com/office/drawing/2014/main" id="{BF042F87-6D31-37DA-4F34-DF827F840F67}"/>
              </a:ext>
            </a:extLst>
          </p:cNvPr>
          <p:cNvSpPr txBox="1">
            <a:spLocks noChangeArrowheads="1"/>
          </p:cNvSpPr>
          <p:nvPr/>
        </p:nvSpPr>
        <p:spPr bwMode="auto">
          <a:xfrm>
            <a:off x="4456113" y="2224088"/>
            <a:ext cx="4857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b</a:t>
            </a:r>
          </a:p>
        </p:txBody>
      </p:sp>
      <p:pic>
        <p:nvPicPr>
          <p:cNvPr id="11" name="Picture 9">
            <a:extLst>
              <a:ext uri="{FF2B5EF4-FFF2-40B4-BE49-F238E27FC236}">
                <a16:creationId xmlns:a16="http://schemas.microsoft.com/office/drawing/2014/main" id="{851069AF-FB5A-8CF4-FCDB-536D931BB6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8463" y="2160588"/>
            <a:ext cx="6000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0">
            <a:extLst>
              <a:ext uri="{FF2B5EF4-FFF2-40B4-BE49-F238E27FC236}">
                <a16:creationId xmlns:a16="http://schemas.microsoft.com/office/drawing/2014/main" id="{BB1E0779-EDBB-AC27-572B-403C77BE656A}"/>
              </a:ext>
            </a:extLst>
          </p:cNvPr>
          <p:cNvSpPr txBox="1">
            <a:spLocks noChangeArrowheads="1"/>
          </p:cNvSpPr>
          <p:nvPr/>
        </p:nvSpPr>
        <p:spPr bwMode="auto">
          <a:xfrm>
            <a:off x="5535613" y="2220913"/>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c</a:t>
            </a:r>
          </a:p>
        </p:txBody>
      </p:sp>
      <p:pic>
        <p:nvPicPr>
          <p:cNvPr id="15" name="Picture 11">
            <a:extLst>
              <a:ext uri="{FF2B5EF4-FFF2-40B4-BE49-F238E27FC236}">
                <a16:creationId xmlns:a16="http://schemas.microsoft.com/office/drawing/2014/main" id="{C7C83E65-9269-4656-3BC0-85264311FA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4313" y="2160588"/>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12">
            <a:extLst>
              <a:ext uri="{FF2B5EF4-FFF2-40B4-BE49-F238E27FC236}">
                <a16:creationId xmlns:a16="http://schemas.microsoft.com/office/drawing/2014/main" id="{63371637-1010-C661-E71B-A1E14CC3E950}"/>
              </a:ext>
            </a:extLst>
          </p:cNvPr>
          <p:cNvSpPr txBox="1">
            <a:spLocks noChangeArrowheads="1"/>
          </p:cNvSpPr>
          <p:nvPr/>
        </p:nvSpPr>
        <p:spPr bwMode="auto">
          <a:xfrm>
            <a:off x="6615113" y="2220913"/>
            <a:ext cx="485775"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d</a:t>
            </a:r>
          </a:p>
        </p:txBody>
      </p:sp>
      <p:pic>
        <p:nvPicPr>
          <p:cNvPr id="19" name="Picture 13">
            <a:extLst>
              <a:ext uri="{FF2B5EF4-FFF2-40B4-BE49-F238E27FC236}">
                <a16:creationId xmlns:a16="http://schemas.microsoft.com/office/drawing/2014/main" id="{17CDB148-B1E9-EB25-E421-721BF18D57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0638" y="2160588"/>
            <a:ext cx="60166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14">
            <a:extLst>
              <a:ext uri="{FF2B5EF4-FFF2-40B4-BE49-F238E27FC236}">
                <a16:creationId xmlns:a16="http://schemas.microsoft.com/office/drawing/2014/main" id="{5CDB9622-6B8D-BE7F-EC0F-0748312A4B58}"/>
              </a:ext>
            </a:extLst>
          </p:cNvPr>
          <p:cNvSpPr txBox="1">
            <a:spLocks noChangeArrowheads="1"/>
          </p:cNvSpPr>
          <p:nvPr/>
        </p:nvSpPr>
        <p:spPr bwMode="auto">
          <a:xfrm>
            <a:off x="7696201" y="2220913"/>
            <a:ext cx="4873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e</a:t>
            </a:r>
          </a:p>
        </p:txBody>
      </p:sp>
      <p:pic>
        <p:nvPicPr>
          <p:cNvPr id="23" name="Picture 15">
            <a:extLst>
              <a:ext uri="{FF2B5EF4-FFF2-40B4-BE49-F238E27FC236}">
                <a16:creationId xmlns:a16="http://schemas.microsoft.com/office/drawing/2014/main" id="{208E01F3-C78D-5DCB-771B-B5E5C3F05D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9613" y="4103688"/>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 Box 16">
            <a:extLst>
              <a:ext uri="{FF2B5EF4-FFF2-40B4-BE49-F238E27FC236}">
                <a16:creationId xmlns:a16="http://schemas.microsoft.com/office/drawing/2014/main" id="{B94A39BF-41C8-81C5-2EEB-AC5E3999685A}"/>
              </a:ext>
            </a:extLst>
          </p:cNvPr>
          <p:cNvSpPr txBox="1">
            <a:spLocks noChangeArrowheads="1"/>
          </p:cNvSpPr>
          <p:nvPr/>
        </p:nvSpPr>
        <p:spPr bwMode="auto">
          <a:xfrm>
            <a:off x="3303588" y="4164013"/>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f</a:t>
            </a:r>
          </a:p>
        </p:txBody>
      </p:sp>
      <p:pic>
        <p:nvPicPr>
          <p:cNvPr id="27" name="Picture 17">
            <a:extLst>
              <a:ext uri="{FF2B5EF4-FFF2-40B4-BE49-F238E27FC236}">
                <a16:creationId xmlns:a16="http://schemas.microsoft.com/office/drawing/2014/main" id="{BD00E909-81CB-300E-BDFF-6CEE9163D6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00551" y="4103688"/>
            <a:ext cx="592137" cy="60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18">
            <a:extLst>
              <a:ext uri="{FF2B5EF4-FFF2-40B4-BE49-F238E27FC236}">
                <a16:creationId xmlns:a16="http://schemas.microsoft.com/office/drawing/2014/main" id="{1EA559D6-A5DB-80CC-A397-9921014DE5E7}"/>
              </a:ext>
            </a:extLst>
          </p:cNvPr>
          <p:cNvSpPr txBox="1">
            <a:spLocks noChangeArrowheads="1"/>
          </p:cNvSpPr>
          <p:nvPr/>
        </p:nvSpPr>
        <p:spPr bwMode="auto">
          <a:xfrm>
            <a:off x="4456113" y="4167188"/>
            <a:ext cx="4857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g</a:t>
            </a:r>
          </a:p>
        </p:txBody>
      </p:sp>
      <p:pic>
        <p:nvPicPr>
          <p:cNvPr id="31" name="Picture 19">
            <a:extLst>
              <a:ext uri="{FF2B5EF4-FFF2-40B4-BE49-F238E27FC236}">
                <a16:creationId xmlns:a16="http://schemas.microsoft.com/office/drawing/2014/main" id="{D33B3884-FE73-B088-A82E-FF5CB080978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78463" y="4103688"/>
            <a:ext cx="6000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20">
            <a:extLst>
              <a:ext uri="{FF2B5EF4-FFF2-40B4-BE49-F238E27FC236}">
                <a16:creationId xmlns:a16="http://schemas.microsoft.com/office/drawing/2014/main" id="{7577FAE3-678B-D83D-AB32-ADABD53038B0}"/>
              </a:ext>
            </a:extLst>
          </p:cNvPr>
          <p:cNvSpPr txBox="1">
            <a:spLocks noChangeArrowheads="1"/>
          </p:cNvSpPr>
          <p:nvPr/>
        </p:nvSpPr>
        <p:spPr bwMode="auto">
          <a:xfrm>
            <a:off x="5535613" y="4164013"/>
            <a:ext cx="487363"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h</a:t>
            </a:r>
          </a:p>
        </p:txBody>
      </p:sp>
      <p:pic>
        <p:nvPicPr>
          <p:cNvPr id="35" name="Picture 21">
            <a:extLst>
              <a:ext uri="{FF2B5EF4-FFF2-40B4-BE49-F238E27FC236}">
                <a16:creationId xmlns:a16="http://schemas.microsoft.com/office/drawing/2014/main" id="{38A80B27-897E-4C3D-EE91-7B1DE104AD6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64313" y="4103688"/>
            <a:ext cx="59213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22">
            <a:extLst>
              <a:ext uri="{FF2B5EF4-FFF2-40B4-BE49-F238E27FC236}">
                <a16:creationId xmlns:a16="http://schemas.microsoft.com/office/drawing/2014/main" id="{46775A1C-E499-CCB5-B55A-53576F3E0893}"/>
              </a:ext>
            </a:extLst>
          </p:cNvPr>
          <p:cNvSpPr txBox="1">
            <a:spLocks noChangeArrowheads="1"/>
          </p:cNvSpPr>
          <p:nvPr/>
        </p:nvSpPr>
        <p:spPr bwMode="auto">
          <a:xfrm>
            <a:off x="6615113" y="4164013"/>
            <a:ext cx="485775"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i</a:t>
            </a:r>
          </a:p>
        </p:txBody>
      </p:sp>
      <p:pic>
        <p:nvPicPr>
          <p:cNvPr id="39" name="Picture 23">
            <a:extLst>
              <a:ext uri="{FF2B5EF4-FFF2-40B4-BE49-F238E27FC236}">
                <a16:creationId xmlns:a16="http://schemas.microsoft.com/office/drawing/2014/main" id="{43FD5208-2332-A1FB-1F40-9D86870B3F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40638" y="4103688"/>
            <a:ext cx="60166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Text Box 24">
            <a:extLst>
              <a:ext uri="{FF2B5EF4-FFF2-40B4-BE49-F238E27FC236}">
                <a16:creationId xmlns:a16="http://schemas.microsoft.com/office/drawing/2014/main" id="{0109F7E0-710D-1CC4-A747-A817B4F1D68C}"/>
              </a:ext>
            </a:extLst>
          </p:cNvPr>
          <p:cNvSpPr txBox="1">
            <a:spLocks noChangeArrowheads="1"/>
          </p:cNvSpPr>
          <p:nvPr/>
        </p:nvSpPr>
        <p:spPr bwMode="auto">
          <a:xfrm>
            <a:off x="7696201" y="4164013"/>
            <a:ext cx="487362"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5000"/>
              </a:lnSpc>
            </a:pPr>
            <a:r>
              <a:rPr lang="en-US" altLang="en-US">
                <a:solidFill>
                  <a:srgbClr val="000000"/>
                </a:solidFill>
              </a:rPr>
              <a:t>j</a:t>
            </a:r>
          </a:p>
        </p:txBody>
      </p:sp>
      <p:pic>
        <p:nvPicPr>
          <p:cNvPr id="43" name="Picture 25">
            <a:extLst>
              <a:ext uri="{FF2B5EF4-FFF2-40B4-BE49-F238E27FC236}">
                <a16:creationId xmlns:a16="http://schemas.microsoft.com/office/drawing/2014/main" id="{7C9B5B71-B052-4E3F-510C-568E512B520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25838" y="2743200"/>
            <a:ext cx="476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26">
            <a:extLst>
              <a:ext uri="{FF2B5EF4-FFF2-40B4-BE49-F238E27FC236}">
                <a16:creationId xmlns:a16="http://schemas.microsoft.com/office/drawing/2014/main" id="{C5255DC8-B25C-3F54-CE08-7C1DB9ACB7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78363" y="2732088"/>
            <a:ext cx="1123950"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27">
            <a:extLst>
              <a:ext uri="{FF2B5EF4-FFF2-40B4-BE49-F238E27FC236}">
                <a16:creationId xmlns:a16="http://schemas.microsoft.com/office/drawing/2014/main" id="{7AE86F04-C0E4-5CAE-4577-6CA80657143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14726" y="2646363"/>
            <a:ext cx="1012825"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28">
            <a:extLst>
              <a:ext uri="{FF2B5EF4-FFF2-40B4-BE49-F238E27FC236}">
                <a16:creationId xmlns:a16="http://schemas.microsoft.com/office/drawing/2014/main" id="{828AFEAC-C0CF-CDC3-040A-F3EDF71D8E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54688" y="2646363"/>
            <a:ext cx="93345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29">
            <a:extLst>
              <a:ext uri="{FF2B5EF4-FFF2-40B4-BE49-F238E27FC236}">
                <a16:creationId xmlns:a16="http://schemas.microsoft.com/office/drawing/2014/main" id="{0774D111-CB1E-695E-62EB-9C3AEB34754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78763" y="2752725"/>
            <a:ext cx="49213"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30">
            <a:extLst>
              <a:ext uri="{FF2B5EF4-FFF2-40B4-BE49-F238E27FC236}">
                <a16:creationId xmlns:a16="http://schemas.microsoft.com/office/drawing/2014/main" id="{F9BBD1AB-5E6D-5545-7D81-D5D740A266F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40538" y="2743200"/>
            <a:ext cx="381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31">
            <a:extLst>
              <a:ext uri="{FF2B5EF4-FFF2-40B4-BE49-F238E27FC236}">
                <a16:creationId xmlns:a16="http://schemas.microsoft.com/office/drawing/2014/main" id="{58D72E58-EACA-8B7E-6023-CB2947093FB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78363" y="2743200"/>
            <a:ext cx="49213"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32">
            <a:extLst>
              <a:ext uri="{FF2B5EF4-FFF2-40B4-BE49-F238E27FC236}">
                <a16:creationId xmlns:a16="http://schemas.microsoft.com/office/drawing/2014/main" id="{1DBE7C68-D726-87BB-E1A7-E2516FD9141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64213" y="2732088"/>
            <a:ext cx="1114425"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33">
            <a:extLst>
              <a:ext uri="{FF2B5EF4-FFF2-40B4-BE49-F238E27FC236}">
                <a16:creationId xmlns:a16="http://schemas.microsoft.com/office/drawing/2014/main" id="{F00475C0-BB96-CB4E-AB51-F7726775E0C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764213" y="2724150"/>
            <a:ext cx="2192338"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Rectangle 3">
            <a:extLst>
              <a:ext uri="{FF2B5EF4-FFF2-40B4-BE49-F238E27FC236}">
                <a16:creationId xmlns:a16="http://schemas.microsoft.com/office/drawing/2014/main" id="{F78D5580-BADF-DA46-1108-765210BC3212}"/>
              </a:ext>
            </a:extLst>
          </p:cNvPr>
          <p:cNvSpPr txBox="1">
            <a:spLocks noChangeArrowheads="1"/>
          </p:cNvSpPr>
          <p:nvPr/>
        </p:nvSpPr>
        <p:spPr>
          <a:xfrm>
            <a:off x="525463" y="308929"/>
            <a:ext cx="8150225" cy="617854"/>
          </a:xfrm>
          <a:prstGeom prst="rect">
            <a:avLst/>
          </a:prstGeom>
        </p:spPr>
        <p:txBody>
          <a:bodyPr lIns="0" tIns="0" rIns="0" bIns="0" anchor="ct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5000"/>
              </a:lnSpc>
            </a:pPr>
            <a:r>
              <a:rPr lang="en-US" altLang="en-US" sz="4900">
                <a:solidFill>
                  <a:srgbClr val="000000"/>
                </a:solidFill>
              </a:rPr>
              <a:t>Đường mở - </a:t>
            </a:r>
            <a:r>
              <a:rPr lang="en-US" altLang="en-US" sz="4800">
                <a:solidFill>
                  <a:srgbClr val="000000"/>
                </a:solidFill>
              </a:rPr>
              <a:t>Augmenting Path</a:t>
            </a:r>
            <a:endParaRPr lang="en-US" altLang="en-US" sz="4900">
              <a:solidFill>
                <a:srgbClr val="000000"/>
              </a:solidFill>
            </a:endParaRPr>
          </a:p>
        </p:txBody>
      </p:sp>
      <p:sp>
        <p:nvSpPr>
          <p:cNvPr id="63" name="TextBox 62">
            <a:extLst>
              <a:ext uri="{FF2B5EF4-FFF2-40B4-BE49-F238E27FC236}">
                <a16:creationId xmlns:a16="http://schemas.microsoft.com/office/drawing/2014/main" id="{3BFFE256-1052-96FE-BC2F-139F018BC98B}"/>
              </a:ext>
            </a:extLst>
          </p:cNvPr>
          <p:cNvSpPr txBox="1"/>
          <p:nvPr/>
        </p:nvSpPr>
        <p:spPr>
          <a:xfrm>
            <a:off x="708660" y="1137643"/>
            <a:ext cx="10949939" cy="830997"/>
          </a:xfrm>
          <a:prstGeom prst="rect">
            <a:avLst/>
          </a:prstGeom>
          <a:noFill/>
        </p:spPr>
        <p:txBody>
          <a:bodyPr wrap="square">
            <a:spAutoFit/>
          </a:bodyPr>
          <a:lstStyle/>
          <a:p>
            <a:r>
              <a:rPr lang="en-US" sz="2400" b="1"/>
              <a:t>Định nghĩa:</a:t>
            </a:r>
            <a:r>
              <a:rPr lang="en-US" sz="2400"/>
              <a:t> Là </a:t>
            </a:r>
            <a:r>
              <a:rPr lang="en-US" sz="2400" b="1"/>
              <a:t>đường đi xen kẽ</a:t>
            </a:r>
            <a:r>
              <a:rPr lang="en-US" sz="2400"/>
              <a:t> bắt đầu và kết thúc đều tại các </a:t>
            </a:r>
            <a:r>
              <a:rPr lang="en-US" sz="2400" b="1"/>
              <a:t>đỉnh tự do</a:t>
            </a:r>
            <a:r>
              <a:rPr lang="en-US" sz="2400"/>
              <a:t> (chưa được ghép cặp).</a:t>
            </a:r>
          </a:p>
        </p:txBody>
      </p:sp>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57E0D694-0CD5-D554-37E3-F008548961AA}"/>
                  </a:ext>
                </a:extLst>
              </p:cNvPr>
              <p:cNvSpPr txBox="1"/>
              <p:nvPr/>
            </p:nvSpPr>
            <p:spPr>
              <a:xfrm>
                <a:off x="525463" y="5017770"/>
                <a:ext cx="11178539" cy="1754326"/>
              </a:xfrm>
              <a:prstGeom prst="rect">
                <a:avLst/>
              </a:prstGeom>
              <a:noFill/>
            </p:spPr>
            <p:txBody>
              <a:bodyPr wrap="square">
                <a:spAutoFit/>
              </a:bodyPr>
              <a:lstStyle/>
              <a:p>
                <a:pPr marL="0" marR="0" lvl="0" indent="-342900">
                  <a:buFont typeface="Arial" panose="020B0604020202020204" pitchFamily="34" charset="0"/>
                  <a:buChar char="•"/>
                </a:pPr>
                <a:r>
                  <a:rPr lang="en-US" b="1" dirty="0">
                    <a:effectLst/>
                    <a:latin typeface="+mn-lt"/>
                  </a:rPr>
                  <a:t>d-h-e</a:t>
                </a:r>
                <a:r>
                  <a:rPr lang="en-US" dirty="0">
                    <a:effectLst/>
                    <a:latin typeface="+mn-lt"/>
                  </a:rPr>
                  <a:t>: </a:t>
                </a:r>
                <a:r>
                  <a:rPr lang="en-US" b="1" dirty="0" err="1">
                    <a:effectLst/>
                    <a:latin typeface="+mn-lt"/>
                  </a:rPr>
                  <a:t>Chỉ</a:t>
                </a:r>
                <a:r>
                  <a:rPr lang="en-US" b="1" dirty="0">
                    <a:effectLst/>
                    <a:latin typeface="+mn-lt"/>
                  </a:rPr>
                  <a:t> </a:t>
                </a:r>
                <a:r>
                  <a:rPr lang="en-US" b="1" dirty="0" err="1">
                    <a:effectLst/>
                    <a:latin typeface="+mn-lt"/>
                  </a:rPr>
                  <a:t>là</a:t>
                </a:r>
                <a:r>
                  <a:rPr lang="en-US" b="1" dirty="0">
                    <a:effectLst/>
                    <a:latin typeface="+mn-lt"/>
                  </a:rPr>
                  <a:t> </a:t>
                </a:r>
                <a:r>
                  <a:rPr lang="en-US" b="1" dirty="0" err="1">
                    <a:effectLst/>
                    <a:latin typeface="+mn-lt"/>
                  </a:rPr>
                  <a:t>đường</a:t>
                </a:r>
                <a:r>
                  <a:rPr lang="en-US" b="1" dirty="0">
                    <a:effectLst/>
                    <a:latin typeface="+mn-lt"/>
                  </a:rPr>
                  <a:t> </a:t>
                </a:r>
                <a:r>
                  <a:rPr lang="en-US" b="1" dirty="0" err="1">
                    <a:effectLst/>
                    <a:latin typeface="+mn-lt"/>
                  </a:rPr>
                  <a:t>pha</a:t>
                </a:r>
                <a:r>
                  <a:rPr lang="en-US" b="1" dirty="0">
                    <a:effectLst/>
                    <a:latin typeface="+mn-lt"/>
                  </a:rPr>
                  <a:t> </a:t>
                </a:r>
                <a:r>
                  <a:rPr lang="en-US" i="1" dirty="0">
                    <a:effectLst/>
                    <a:latin typeface="+mn-lt"/>
                  </a:rPr>
                  <a:t>(</a:t>
                </a:r>
                <a:r>
                  <a:rPr lang="en-US" i="1" dirty="0" err="1">
                    <a:effectLst/>
                    <a:latin typeface="+mn-lt"/>
                  </a:rPr>
                  <a:t>chưa</a:t>
                </a:r>
                <a:r>
                  <a:rPr lang="en-US" i="1" dirty="0">
                    <a:effectLst/>
                    <a:latin typeface="+mn-lt"/>
                  </a:rPr>
                  <a:t> </a:t>
                </a:r>
                <a:r>
                  <a:rPr lang="en-US" i="1" dirty="0" err="1">
                    <a:effectLst/>
                    <a:latin typeface="+mn-lt"/>
                  </a:rPr>
                  <a:t>phải</a:t>
                </a:r>
                <a:r>
                  <a:rPr lang="en-US" i="1" dirty="0">
                    <a:effectLst/>
                    <a:latin typeface="+mn-lt"/>
                  </a:rPr>
                  <a:t> </a:t>
                </a:r>
                <a:r>
                  <a:rPr lang="en-US" i="1" dirty="0" err="1">
                    <a:effectLst/>
                    <a:latin typeface="+mn-lt"/>
                  </a:rPr>
                  <a:t>đường</a:t>
                </a:r>
                <a:r>
                  <a:rPr lang="en-US" i="1" dirty="0">
                    <a:effectLst/>
                    <a:latin typeface="+mn-lt"/>
                  </a:rPr>
                  <a:t> </a:t>
                </a:r>
                <a:r>
                  <a:rPr lang="en-US" i="1" dirty="0" err="1">
                    <a:effectLst/>
                    <a:latin typeface="+mn-lt"/>
                  </a:rPr>
                  <a:t>đi</a:t>
                </a:r>
                <a:r>
                  <a:rPr lang="en-US" i="1" dirty="0">
                    <a:effectLst/>
                    <a:latin typeface="+mn-lt"/>
                  </a:rPr>
                  <a:t> </a:t>
                </a:r>
                <a:r>
                  <a:rPr lang="en-US" i="1" dirty="0" err="1">
                    <a:effectLst/>
                    <a:latin typeface="+mn-lt"/>
                  </a:rPr>
                  <a:t>tăng</a:t>
                </a:r>
                <a:r>
                  <a:rPr lang="en-US" i="1" dirty="0">
                    <a:effectLst/>
                    <a:latin typeface="+mn-lt"/>
                  </a:rPr>
                  <a:t>) (</a:t>
                </a:r>
                <a:r>
                  <a:rPr lang="en-US" i="1" dirty="0" err="1">
                    <a:effectLst/>
                    <a:latin typeface="+mn-lt"/>
                  </a:rPr>
                  <a:t>Bắt</a:t>
                </a:r>
                <a:r>
                  <a:rPr lang="en-US" i="1" dirty="0">
                    <a:effectLst/>
                    <a:latin typeface="+mn-lt"/>
                  </a:rPr>
                  <a:t> </a:t>
                </a:r>
                <a:r>
                  <a:rPr lang="en-US" i="1" dirty="0" err="1">
                    <a:effectLst/>
                    <a:latin typeface="+mn-lt"/>
                  </a:rPr>
                  <a:t>đầu</a:t>
                </a:r>
                <a:r>
                  <a:rPr lang="en-US" i="1" dirty="0">
                    <a:effectLst/>
                    <a:latin typeface="+mn-lt"/>
                  </a:rPr>
                  <a:t> </a:t>
                </a:r>
                <a:r>
                  <a:rPr lang="en-US" i="1" dirty="0" err="1">
                    <a:effectLst/>
                    <a:latin typeface="+mn-lt"/>
                  </a:rPr>
                  <a:t>tại</a:t>
                </a:r>
                <a:r>
                  <a:rPr lang="en-US" i="1" dirty="0">
                    <a:effectLst/>
                    <a:latin typeface="+mn-lt"/>
                  </a:rPr>
                  <a:t> </a:t>
                </a:r>
                <a:r>
                  <a:rPr lang="en-US" i="1" dirty="0" err="1">
                    <a:effectLst/>
                    <a:latin typeface="+mn-lt"/>
                  </a:rPr>
                  <a:t>đỉnh</a:t>
                </a:r>
                <a:r>
                  <a:rPr lang="en-US" i="1" dirty="0">
                    <a:effectLst/>
                    <a:latin typeface="+mn-lt"/>
                  </a:rPr>
                  <a:t> d </a:t>
                </a:r>
                <a:r>
                  <a:rPr lang="en-US" i="1" dirty="0" err="1">
                    <a:effectLst/>
                    <a:latin typeface="+mn-lt"/>
                  </a:rPr>
                  <a:t>đã</a:t>
                </a:r>
                <a:r>
                  <a:rPr lang="en-US" i="1" dirty="0">
                    <a:effectLst/>
                    <a:latin typeface="+mn-lt"/>
                  </a:rPr>
                  <a:t> </a:t>
                </a:r>
                <a:r>
                  <a:rPr lang="en-US" i="1" dirty="0" err="1">
                    <a:effectLst/>
                    <a:latin typeface="+mn-lt"/>
                  </a:rPr>
                  <a:t>được</a:t>
                </a:r>
                <a:r>
                  <a:rPr lang="en-US" i="1" dirty="0">
                    <a:effectLst/>
                    <a:latin typeface="+mn-lt"/>
                  </a:rPr>
                  <a:t> </a:t>
                </a:r>
                <a:r>
                  <a:rPr lang="en-US" i="1" dirty="0" err="1">
                    <a:effectLst/>
                    <a:latin typeface="+mn-lt"/>
                  </a:rPr>
                  <a:t>ghép</a:t>
                </a:r>
                <a:r>
                  <a:rPr lang="en-US" i="1" dirty="0">
                    <a:effectLst/>
                    <a:latin typeface="+mn-lt"/>
                  </a:rPr>
                  <a:t> – </a:t>
                </a:r>
                <a:r>
                  <a:rPr lang="en-US" i="1" dirty="0" err="1">
                    <a:effectLst/>
                    <a:latin typeface="+mn-lt"/>
                  </a:rPr>
                  <a:t>màu</a:t>
                </a:r>
                <a:r>
                  <a:rPr lang="en-US" i="1" dirty="0">
                    <a:effectLst/>
                    <a:latin typeface="+mn-lt"/>
                  </a:rPr>
                  <a:t> </a:t>
                </a:r>
                <a:r>
                  <a:rPr lang="en-US" i="1" dirty="0" err="1">
                    <a:effectLst/>
                    <a:latin typeface="+mn-lt"/>
                  </a:rPr>
                  <a:t>xanh</a:t>
                </a:r>
                <a:r>
                  <a:rPr lang="en-US" i="1" dirty="0">
                    <a:effectLst/>
                    <a:latin typeface="+mn-lt"/>
                  </a:rPr>
                  <a:t> </a:t>
                </a:r>
                <a:r>
                  <a:rPr lang="en-US" i="1" dirty="0" err="1">
                    <a:effectLst/>
                    <a:latin typeface="+mn-lt"/>
                  </a:rPr>
                  <a:t>dương</a:t>
                </a:r>
                <a:r>
                  <a:rPr lang="en-US" i="1" dirty="0">
                    <a:effectLst/>
                    <a:latin typeface="+mn-lt"/>
                  </a:rPr>
                  <a:t>, </a:t>
                </a:r>
                <a:r>
                  <a:rPr lang="en-US" i="1" dirty="0" err="1">
                    <a:effectLst/>
                    <a:latin typeface="+mn-lt"/>
                  </a:rPr>
                  <a:t>nên</a:t>
                </a:r>
                <a:r>
                  <a:rPr lang="en-US" i="1" dirty="0">
                    <a:effectLst/>
                    <a:latin typeface="+mn-lt"/>
                  </a:rPr>
                  <a:t> </a:t>
                </a:r>
                <a:r>
                  <a:rPr lang="en-US" i="1" dirty="0" err="1">
                    <a:effectLst/>
                    <a:latin typeface="+mn-lt"/>
                  </a:rPr>
                  <a:t>không</a:t>
                </a:r>
                <a:r>
                  <a:rPr lang="en-US" i="1" dirty="0">
                    <a:effectLst/>
                    <a:latin typeface="+mn-lt"/>
                  </a:rPr>
                  <a:t> </a:t>
                </a:r>
                <a:r>
                  <a:rPr lang="en-US" i="1" dirty="0" err="1">
                    <a:effectLst/>
                    <a:latin typeface="+mn-lt"/>
                  </a:rPr>
                  <a:t>thỏa</a:t>
                </a:r>
                <a:r>
                  <a:rPr lang="en-US" i="1" dirty="0">
                    <a:effectLst/>
                    <a:latin typeface="+mn-lt"/>
                  </a:rPr>
                  <a:t> </a:t>
                </a:r>
                <a:r>
                  <a:rPr lang="en-US" i="1" dirty="0" err="1">
                    <a:effectLst/>
                    <a:latin typeface="+mn-lt"/>
                  </a:rPr>
                  <a:t>mãn</a:t>
                </a:r>
                <a:r>
                  <a:rPr lang="en-US" i="1" dirty="0">
                    <a:effectLst/>
                    <a:latin typeface="+mn-lt"/>
                  </a:rPr>
                  <a:t> </a:t>
                </a:r>
                <a:r>
                  <a:rPr lang="en-US" i="1" dirty="0" err="1">
                    <a:effectLst/>
                    <a:latin typeface="+mn-lt"/>
                  </a:rPr>
                  <a:t>điều</a:t>
                </a:r>
                <a:r>
                  <a:rPr lang="en-US" i="1" dirty="0">
                    <a:effectLst/>
                    <a:latin typeface="+mn-lt"/>
                  </a:rPr>
                  <a:t> </a:t>
                </a:r>
                <a:r>
                  <a:rPr lang="en-US" i="1" dirty="0" err="1">
                    <a:effectLst/>
                    <a:latin typeface="+mn-lt"/>
                  </a:rPr>
                  <a:t>kiện</a:t>
                </a:r>
                <a:r>
                  <a:rPr lang="en-US" i="1" dirty="0">
                    <a:effectLst/>
                    <a:latin typeface="+mn-lt"/>
                  </a:rPr>
                  <a:t> </a:t>
                </a:r>
                <a:r>
                  <a:rPr lang="en-US" i="1" dirty="0" err="1">
                    <a:effectLst/>
                    <a:latin typeface="+mn-lt"/>
                  </a:rPr>
                  <a:t>bắt</a:t>
                </a:r>
                <a:r>
                  <a:rPr lang="en-US" i="1" dirty="0">
                    <a:effectLst/>
                    <a:latin typeface="+mn-lt"/>
                  </a:rPr>
                  <a:t> </a:t>
                </a:r>
                <a:r>
                  <a:rPr lang="en-US" i="1" dirty="0" err="1">
                    <a:effectLst/>
                    <a:latin typeface="+mn-lt"/>
                  </a:rPr>
                  <a:t>đầu</a:t>
                </a:r>
                <a:r>
                  <a:rPr lang="en-US" i="1" dirty="0">
                    <a:effectLst/>
                    <a:latin typeface="+mn-lt"/>
                  </a:rPr>
                  <a:t> </a:t>
                </a:r>
                <a:r>
                  <a:rPr lang="en-US" i="1" dirty="0" err="1">
                    <a:effectLst/>
                    <a:latin typeface="+mn-lt"/>
                  </a:rPr>
                  <a:t>từ</a:t>
                </a:r>
                <a:r>
                  <a:rPr lang="en-US" i="1" dirty="0">
                    <a:effectLst/>
                    <a:latin typeface="+mn-lt"/>
                  </a:rPr>
                  <a:t> </a:t>
                </a:r>
                <a:r>
                  <a:rPr lang="en-US" i="1" dirty="0" err="1">
                    <a:effectLst/>
                    <a:latin typeface="+mn-lt"/>
                  </a:rPr>
                  <a:t>đỉnh</a:t>
                </a:r>
                <a:r>
                  <a:rPr lang="en-US" i="1" dirty="0">
                    <a:effectLst/>
                    <a:latin typeface="+mn-lt"/>
                  </a:rPr>
                  <a:t> </a:t>
                </a:r>
                <a:r>
                  <a:rPr lang="en-US" i="1" dirty="0" err="1">
                    <a:effectLst/>
                    <a:latin typeface="+mn-lt"/>
                  </a:rPr>
                  <a:t>tự</a:t>
                </a:r>
                <a:r>
                  <a:rPr lang="en-US" i="1" dirty="0">
                    <a:effectLst/>
                    <a:latin typeface="+mn-lt"/>
                  </a:rPr>
                  <a:t> do).</a:t>
                </a:r>
                <a:endParaRPr lang="en-US" dirty="0">
                  <a:effectLst/>
                  <a:latin typeface="+mn-lt"/>
                </a:endParaRPr>
              </a:p>
              <a:p>
                <a:pPr marL="0" marR="0" lvl="0" indent="-342900">
                  <a:buFont typeface="Arial" panose="020B0604020202020204" pitchFamily="34" charset="0"/>
                  <a:buChar char="•"/>
                </a:pPr>
                <a:r>
                  <a:rPr lang="en-US" b="1" dirty="0">
                    <a:effectLst/>
                    <a:latin typeface="+mn-lt"/>
                  </a:rPr>
                  <a:t>a-f-b-h-d-</a:t>
                </a:r>
                <a:r>
                  <a:rPr lang="en-US" b="1" dirty="0" err="1">
                    <a:effectLst/>
                    <a:latin typeface="+mn-lt"/>
                  </a:rPr>
                  <a:t>i</a:t>
                </a:r>
                <a:r>
                  <a:rPr lang="en-US" dirty="0">
                    <a:effectLst/>
                    <a:latin typeface="+mn-lt"/>
                  </a:rPr>
                  <a:t>: </a:t>
                </a:r>
                <a:r>
                  <a:rPr lang="en-US" b="1" dirty="0" err="1">
                    <a:effectLst/>
                    <a:latin typeface="+mn-lt"/>
                  </a:rPr>
                  <a:t>Đường</a:t>
                </a:r>
                <a:r>
                  <a:rPr lang="en-US" b="1" dirty="0">
                    <a:effectLst/>
                    <a:latin typeface="+mn-lt"/>
                  </a:rPr>
                  <a:t> </a:t>
                </a:r>
                <a:r>
                  <a:rPr lang="en-US" b="1" dirty="0" err="1">
                    <a:effectLst/>
                    <a:latin typeface="+mn-lt"/>
                  </a:rPr>
                  <a:t>mở</a:t>
                </a:r>
                <a:r>
                  <a:rPr lang="en-US" i="1" dirty="0">
                    <a:effectLst/>
                    <a:latin typeface="+mn-lt"/>
                  </a:rPr>
                  <a:t>(</a:t>
                </a:r>
                <a:r>
                  <a:rPr lang="en-US" i="1" dirty="0" err="1">
                    <a:effectLst/>
                    <a:latin typeface="+mn-lt"/>
                  </a:rPr>
                  <a:t>Bắt</a:t>
                </a:r>
                <a:r>
                  <a:rPr lang="en-US" i="1" dirty="0">
                    <a:effectLst/>
                    <a:latin typeface="+mn-lt"/>
                  </a:rPr>
                  <a:t> </a:t>
                </a:r>
                <a:r>
                  <a:rPr lang="en-US" i="1" dirty="0" err="1">
                    <a:effectLst/>
                    <a:latin typeface="+mn-lt"/>
                  </a:rPr>
                  <a:t>đầu</a:t>
                </a:r>
                <a:r>
                  <a:rPr lang="en-US" i="1" dirty="0">
                    <a:effectLst/>
                    <a:latin typeface="+mn-lt"/>
                  </a:rPr>
                  <a:t> </a:t>
                </a:r>
                <a:r>
                  <a:rPr lang="en-US" i="1" dirty="0" err="1">
                    <a:effectLst/>
                    <a:latin typeface="+mn-lt"/>
                  </a:rPr>
                  <a:t>từ</a:t>
                </a:r>
                <a:r>
                  <a:rPr lang="en-US" i="1" dirty="0">
                    <a:effectLst/>
                    <a:latin typeface="+mn-lt"/>
                  </a:rPr>
                  <a:t> </a:t>
                </a:r>
                <a:r>
                  <a:rPr lang="en-US" i="1" dirty="0" err="1">
                    <a:effectLst/>
                    <a:latin typeface="+mn-lt"/>
                  </a:rPr>
                  <a:t>đỉnh</a:t>
                </a:r>
                <a:r>
                  <a:rPr lang="en-US" i="1" dirty="0">
                    <a:effectLst/>
                    <a:latin typeface="+mn-lt"/>
                  </a:rPr>
                  <a:t> </a:t>
                </a:r>
                <a:r>
                  <a:rPr lang="en-US" i="1" dirty="0" err="1">
                    <a:effectLst/>
                    <a:latin typeface="+mn-lt"/>
                  </a:rPr>
                  <a:t>tự</a:t>
                </a:r>
                <a:r>
                  <a:rPr lang="en-US" i="1" dirty="0">
                    <a:effectLst/>
                    <a:latin typeface="+mn-lt"/>
                  </a:rPr>
                  <a:t> do a </a:t>
                </a:r>
                <a:r>
                  <a:rPr lang="en-US" i="1" dirty="0" err="1">
                    <a:effectLst/>
                    <a:latin typeface="+mn-lt"/>
                  </a:rPr>
                  <a:t>và</a:t>
                </a:r>
                <a:r>
                  <a:rPr lang="en-US" i="1" dirty="0">
                    <a:effectLst/>
                    <a:latin typeface="+mn-lt"/>
                  </a:rPr>
                  <a:t> </a:t>
                </a:r>
                <a:r>
                  <a:rPr lang="en-US" i="1" dirty="0" err="1">
                    <a:effectLst/>
                    <a:latin typeface="+mn-lt"/>
                  </a:rPr>
                  <a:t>kết</a:t>
                </a:r>
                <a:r>
                  <a:rPr lang="en-US" i="1" dirty="0">
                    <a:effectLst/>
                    <a:latin typeface="+mn-lt"/>
                  </a:rPr>
                  <a:t> </a:t>
                </a:r>
                <a:r>
                  <a:rPr lang="en-US" i="1" dirty="0" err="1">
                    <a:effectLst/>
                    <a:latin typeface="+mn-lt"/>
                  </a:rPr>
                  <a:t>thúc</a:t>
                </a:r>
                <a:r>
                  <a:rPr lang="en-US" i="1" dirty="0">
                    <a:effectLst/>
                    <a:latin typeface="+mn-lt"/>
                  </a:rPr>
                  <a:t> </a:t>
                </a:r>
                <a:r>
                  <a:rPr lang="en-US" i="1" dirty="0" err="1">
                    <a:effectLst/>
                    <a:latin typeface="+mn-lt"/>
                  </a:rPr>
                  <a:t>tại</a:t>
                </a:r>
                <a:r>
                  <a:rPr lang="en-US" i="1" dirty="0">
                    <a:effectLst/>
                    <a:latin typeface="+mn-lt"/>
                  </a:rPr>
                  <a:t> </a:t>
                </a:r>
                <a:r>
                  <a:rPr lang="en-US" i="1" dirty="0" err="1">
                    <a:effectLst/>
                    <a:latin typeface="+mn-lt"/>
                  </a:rPr>
                  <a:t>đỉnh</a:t>
                </a:r>
                <a:r>
                  <a:rPr lang="en-US" i="1" dirty="0">
                    <a:effectLst/>
                    <a:latin typeface="+mn-lt"/>
                  </a:rPr>
                  <a:t> </a:t>
                </a:r>
                <a:r>
                  <a:rPr lang="en-US" i="1" dirty="0" err="1">
                    <a:effectLst/>
                    <a:latin typeface="+mn-lt"/>
                  </a:rPr>
                  <a:t>tự</a:t>
                </a:r>
                <a:r>
                  <a:rPr lang="en-US" i="1" dirty="0">
                    <a:effectLst/>
                    <a:latin typeface="+mn-lt"/>
                  </a:rPr>
                  <a:t> do </a:t>
                </a:r>
                <a:r>
                  <a:rPr lang="en-US" i="1" dirty="0" err="1">
                    <a:effectLst/>
                    <a:latin typeface="+mn-lt"/>
                  </a:rPr>
                  <a:t>i</a:t>
                </a:r>
                <a:r>
                  <a:rPr lang="en-US" i="1" dirty="0">
                    <a:effectLst/>
                    <a:latin typeface="+mn-lt"/>
                  </a:rPr>
                  <a:t>. </a:t>
                </a:r>
                <a:r>
                  <a:rPr lang="en-US" i="1" dirty="0" err="1">
                    <a:effectLst/>
                    <a:latin typeface="+mn-lt"/>
                  </a:rPr>
                  <a:t>Thứ</a:t>
                </a:r>
                <a:r>
                  <a:rPr lang="en-US" i="1" dirty="0">
                    <a:effectLst/>
                    <a:latin typeface="+mn-lt"/>
                  </a:rPr>
                  <a:t> </a:t>
                </a:r>
                <a:r>
                  <a:rPr lang="en-US" i="1" dirty="0" err="1">
                    <a:effectLst/>
                    <a:latin typeface="+mn-lt"/>
                  </a:rPr>
                  <a:t>tự</a:t>
                </a:r>
                <a:r>
                  <a:rPr lang="en-US" i="1" dirty="0">
                    <a:effectLst/>
                    <a:latin typeface="+mn-lt"/>
                  </a:rPr>
                  <a:t> </a:t>
                </a:r>
                <a:r>
                  <a:rPr lang="en-US" i="1" dirty="0" err="1">
                    <a:effectLst/>
                    <a:latin typeface="+mn-lt"/>
                  </a:rPr>
                  <a:t>cạnh</a:t>
                </a:r>
                <a:r>
                  <a:rPr lang="en-US" i="1" dirty="0">
                    <a:effectLst/>
                    <a:latin typeface="+mn-lt"/>
                  </a:rPr>
                  <a:t>: </a:t>
                </a:r>
                <a:r>
                  <a:rPr lang="en-US" i="1" dirty="0" err="1">
                    <a:effectLst/>
                    <a:latin typeface="+mn-lt"/>
                  </a:rPr>
                  <a:t>xanh</a:t>
                </a:r>
                <a:r>
                  <a:rPr lang="en-US" i="1" dirty="0">
                    <a:effectLst/>
                    <a:latin typeface="+mn-lt"/>
                  </a:rPr>
                  <a:t> a-f </a:t>
                </a:r>
                <a14:m>
                  <m:oMath xmlns:m="http://schemas.openxmlformats.org/officeDocument/2006/math">
                    <m:r>
                      <a:rPr lang="en-US" smtClean="0">
                        <a:latin typeface="Cambria Math" panose="02040503050406030204" pitchFamily="18" charset="0"/>
                      </a:rPr>
                      <m:t>→</m:t>
                    </m:r>
                  </m:oMath>
                </a14:m>
                <a:r>
                  <a:rPr lang="en-US" i="1" dirty="0" err="1">
                    <a:effectLst/>
                    <a:latin typeface="+mn-lt"/>
                  </a:rPr>
                  <a:t>đỏ</a:t>
                </a:r>
                <a:r>
                  <a:rPr lang="en-US" i="1" dirty="0">
                    <a:effectLst/>
                    <a:latin typeface="+mn-lt"/>
                  </a:rPr>
                  <a:t> f-b </a:t>
                </a:r>
                <a14:m>
                  <m:oMath xmlns:m="http://schemas.openxmlformats.org/officeDocument/2006/math">
                    <m:r>
                      <a:rPr lang="en-US" smtClean="0">
                        <a:latin typeface="Cambria Math" panose="02040503050406030204" pitchFamily="18" charset="0"/>
                      </a:rPr>
                      <m:t>→</m:t>
                    </m:r>
                  </m:oMath>
                </a14:m>
                <a:r>
                  <a:rPr lang="en-US" i="1" dirty="0" err="1">
                    <a:effectLst/>
                    <a:latin typeface="+mn-lt"/>
                  </a:rPr>
                  <a:t>xanh</a:t>
                </a:r>
                <a:r>
                  <a:rPr lang="en-US" i="1" dirty="0">
                    <a:effectLst/>
                    <a:latin typeface="+mn-lt"/>
                  </a:rPr>
                  <a:t> b-h </a:t>
                </a:r>
                <a14:m>
                  <m:oMath xmlns:m="http://schemas.openxmlformats.org/officeDocument/2006/math">
                    <m:r>
                      <a:rPr lang="en-US" smtClean="0">
                        <a:latin typeface="Cambria Math" panose="02040503050406030204" pitchFamily="18" charset="0"/>
                      </a:rPr>
                      <m:t>→</m:t>
                    </m:r>
                  </m:oMath>
                </a14:m>
                <a:r>
                  <a:rPr lang="en-US" i="1" dirty="0" err="1">
                    <a:effectLst/>
                    <a:latin typeface="+mn-lt"/>
                  </a:rPr>
                  <a:t>đỏ</a:t>
                </a:r>
                <a:r>
                  <a:rPr lang="en-US" i="1" dirty="0">
                    <a:effectLst/>
                    <a:latin typeface="+mn-lt"/>
                  </a:rPr>
                  <a:t> h-d </a:t>
                </a:r>
                <a14:m>
                  <m:oMath xmlns:m="http://schemas.openxmlformats.org/officeDocument/2006/math">
                    <m:r>
                      <a:rPr lang="en-US" smtClean="0">
                        <a:latin typeface="Cambria Math" panose="02040503050406030204" pitchFamily="18" charset="0"/>
                      </a:rPr>
                      <m:t>→</m:t>
                    </m:r>
                  </m:oMath>
                </a14:m>
                <a:r>
                  <a:rPr lang="en-US" i="1" dirty="0" err="1">
                    <a:effectLst/>
                    <a:latin typeface="+mn-lt"/>
                  </a:rPr>
                  <a:t>xanh</a:t>
                </a:r>
                <a:r>
                  <a:rPr lang="en-US" i="1" dirty="0">
                    <a:effectLst/>
                    <a:latin typeface="+mn-lt"/>
                  </a:rPr>
                  <a:t> d-</a:t>
                </a:r>
                <a:r>
                  <a:rPr lang="en-US" i="1" dirty="0" err="1">
                    <a:effectLst/>
                    <a:latin typeface="+mn-lt"/>
                  </a:rPr>
                  <a:t>i</a:t>
                </a:r>
                <a:r>
                  <a:rPr lang="en-US" i="1" dirty="0">
                    <a:effectLst/>
                    <a:latin typeface="+mn-lt"/>
                  </a:rPr>
                  <a:t>)</a:t>
                </a:r>
                <a:r>
                  <a:rPr lang="en-US" dirty="0">
                    <a:effectLst/>
                    <a:latin typeface="+mn-lt"/>
                  </a:rPr>
                  <a:t>.</a:t>
                </a:r>
              </a:p>
              <a:p>
                <a:pPr marL="0" marR="0" lvl="0" indent="-342900">
                  <a:buFont typeface="Arial" panose="020B0604020202020204" pitchFamily="34" charset="0"/>
                  <a:buChar char="•"/>
                </a:pPr>
                <a:r>
                  <a:rPr lang="en-US" b="1" dirty="0">
                    <a:effectLst/>
                    <a:latin typeface="+mn-lt"/>
                  </a:rPr>
                  <a:t>f-b-h-e</a:t>
                </a:r>
                <a:r>
                  <a:rPr lang="en-US" dirty="0">
                    <a:effectLst/>
                    <a:latin typeface="+mn-lt"/>
                  </a:rPr>
                  <a:t>: </a:t>
                </a:r>
                <a:r>
                  <a:rPr lang="en-US" b="1" dirty="0" err="1">
                    <a:effectLst/>
                    <a:latin typeface="+mn-lt"/>
                  </a:rPr>
                  <a:t>Không</a:t>
                </a:r>
                <a:r>
                  <a:rPr lang="en-US" b="1" dirty="0">
                    <a:effectLst/>
                    <a:latin typeface="+mn-lt"/>
                  </a:rPr>
                  <a:t> </a:t>
                </a:r>
                <a:r>
                  <a:rPr lang="en-US" b="1" dirty="0" err="1">
                    <a:effectLst/>
                    <a:latin typeface="+mn-lt"/>
                  </a:rPr>
                  <a:t>phải</a:t>
                </a:r>
                <a:r>
                  <a:rPr lang="en-US" b="1" dirty="0">
                    <a:effectLst/>
                    <a:latin typeface="+mn-lt"/>
                  </a:rPr>
                  <a:t> </a:t>
                </a:r>
                <a:r>
                  <a:rPr lang="en-US" b="1" dirty="0" err="1">
                    <a:effectLst/>
                    <a:latin typeface="+mn-lt"/>
                  </a:rPr>
                  <a:t>đường</a:t>
                </a:r>
                <a:r>
                  <a:rPr lang="en-US" b="1" dirty="0">
                    <a:effectLst/>
                    <a:latin typeface="+mn-lt"/>
                  </a:rPr>
                  <a:t> </a:t>
                </a:r>
                <a:r>
                  <a:rPr lang="en-US" b="1" dirty="0" err="1">
                    <a:effectLst/>
                    <a:latin typeface="+mn-lt"/>
                  </a:rPr>
                  <a:t>pha</a:t>
                </a:r>
                <a:r>
                  <a:rPr lang="en-US" b="1" dirty="0">
                    <a:effectLst/>
                    <a:latin typeface="+mn-lt"/>
                  </a:rPr>
                  <a:t> </a:t>
                </a:r>
                <a:r>
                  <a:rPr lang="en-US" i="1" dirty="0">
                    <a:effectLst/>
                    <a:latin typeface="+mn-lt"/>
                  </a:rPr>
                  <a:t>(Do </a:t>
                </a:r>
                <a:r>
                  <a:rPr lang="en-US" i="1" dirty="0" err="1">
                    <a:effectLst/>
                    <a:latin typeface="+mn-lt"/>
                  </a:rPr>
                  <a:t>có</a:t>
                </a:r>
                <a:r>
                  <a:rPr lang="en-US" i="1" dirty="0">
                    <a:effectLst/>
                    <a:latin typeface="+mn-lt"/>
                  </a:rPr>
                  <a:t> 2 </a:t>
                </a:r>
                <a:r>
                  <a:rPr lang="en-US" i="1" dirty="0" err="1">
                    <a:effectLst/>
                    <a:latin typeface="+mn-lt"/>
                  </a:rPr>
                  <a:t>cạnh</a:t>
                </a:r>
                <a:r>
                  <a:rPr lang="en-US" i="1" dirty="0">
                    <a:effectLst/>
                    <a:latin typeface="+mn-lt"/>
                  </a:rPr>
                  <a:t> </a:t>
                </a:r>
                <a:r>
                  <a:rPr lang="en-US" i="1" dirty="0" err="1">
                    <a:effectLst/>
                    <a:latin typeface="+mn-lt"/>
                  </a:rPr>
                  <a:t>xanh</a:t>
                </a:r>
                <a:r>
                  <a:rPr lang="en-US" i="1" dirty="0">
                    <a:effectLst/>
                    <a:latin typeface="+mn-lt"/>
                  </a:rPr>
                  <a:t> b-h </a:t>
                </a:r>
                <a:r>
                  <a:rPr lang="en-US" i="1" dirty="0" err="1">
                    <a:effectLst/>
                    <a:latin typeface="+mn-lt"/>
                  </a:rPr>
                  <a:t>và</a:t>
                </a:r>
                <a:r>
                  <a:rPr lang="en-US" i="1" dirty="0">
                    <a:effectLst/>
                    <a:latin typeface="+mn-lt"/>
                  </a:rPr>
                  <a:t> h-e </a:t>
                </a:r>
                <a:r>
                  <a:rPr lang="en-US" i="1" dirty="0" err="1">
                    <a:effectLst/>
                    <a:latin typeface="+mn-lt"/>
                  </a:rPr>
                  <a:t>đi</a:t>
                </a:r>
                <a:r>
                  <a:rPr lang="en-US" i="1" dirty="0">
                    <a:effectLst/>
                    <a:latin typeface="+mn-lt"/>
                  </a:rPr>
                  <a:t> </a:t>
                </a:r>
                <a:r>
                  <a:rPr lang="en-US" i="1" dirty="0" err="1">
                    <a:effectLst/>
                    <a:latin typeface="+mn-lt"/>
                  </a:rPr>
                  <a:t>liên</a:t>
                </a:r>
                <a:r>
                  <a:rPr lang="en-US" i="1" dirty="0">
                    <a:effectLst/>
                    <a:latin typeface="+mn-lt"/>
                  </a:rPr>
                  <a:t> </a:t>
                </a:r>
                <a:r>
                  <a:rPr lang="en-US" i="1" dirty="0" err="1">
                    <a:effectLst/>
                    <a:latin typeface="+mn-lt"/>
                  </a:rPr>
                  <a:t>tiếp</a:t>
                </a:r>
                <a:r>
                  <a:rPr lang="en-US" i="1" dirty="0">
                    <a:effectLst/>
                    <a:latin typeface="+mn-lt"/>
                  </a:rPr>
                  <a:t> </a:t>
                </a:r>
                <a:r>
                  <a:rPr lang="en-US" i="1" dirty="0" err="1">
                    <a:effectLst/>
                    <a:latin typeface="+mn-lt"/>
                  </a:rPr>
                  <a:t>nhau</a:t>
                </a:r>
                <a:r>
                  <a:rPr lang="en-US" i="1" dirty="0">
                    <a:effectLst/>
                    <a:latin typeface="+mn-lt"/>
                  </a:rPr>
                  <a:t>)</a:t>
                </a:r>
                <a:r>
                  <a:rPr lang="en-US" dirty="0">
                    <a:effectLst/>
                    <a:latin typeface="+mn-lt"/>
                  </a:rPr>
                  <a:t>.</a:t>
                </a:r>
              </a:p>
              <a:p>
                <a:pPr marL="0" marR="0" lvl="0" indent="-342900">
                  <a:buFont typeface="Arial" panose="020B0604020202020204" pitchFamily="34" charset="0"/>
                  <a:buChar char="•"/>
                </a:pPr>
                <a:r>
                  <a:rPr lang="en-US" b="1" dirty="0">
                    <a:effectLst/>
                    <a:latin typeface="+mn-lt"/>
                  </a:rPr>
                  <a:t>e-j</a:t>
                </a:r>
                <a:r>
                  <a:rPr lang="en-US" dirty="0">
                    <a:effectLst/>
                    <a:latin typeface="+mn-lt"/>
                  </a:rPr>
                  <a:t>: </a:t>
                </a:r>
                <a:r>
                  <a:rPr lang="en-US" b="1" dirty="0" err="1">
                    <a:effectLst/>
                    <a:latin typeface="+mn-lt"/>
                  </a:rPr>
                  <a:t>Đường</a:t>
                </a:r>
                <a:r>
                  <a:rPr lang="en-US" b="1" dirty="0">
                    <a:effectLst/>
                    <a:latin typeface="+mn-lt"/>
                  </a:rPr>
                  <a:t> </a:t>
                </a:r>
                <a:r>
                  <a:rPr lang="en-US" b="1" dirty="0" err="1">
                    <a:effectLst/>
                    <a:latin typeface="+mn-lt"/>
                  </a:rPr>
                  <a:t>mở</a:t>
                </a:r>
                <a:r>
                  <a:rPr lang="en-US" b="1" dirty="0">
                    <a:effectLst/>
                    <a:latin typeface="+mn-lt"/>
                  </a:rPr>
                  <a:t> </a:t>
                </a:r>
                <a:r>
                  <a:rPr lang="en-US" i="1" dirty="0">
                    <a:effectLst/>
                    <a:latin typeface="+mn-lt"/>
                  </a:rPr>
                  <a:t>(</a:t>
                </a:r>
                <a:r>
                  <a:rPr lang="en-US" i="1" dirty="0" err="1">
                    <a:effectLst/>
                    <a:latin typeface="+mn-lt"/>
                  </a:rPr>
                  <a:t>Đường</a:t>
                </a:r>
                <a:r>
                  <a:rPr lang="en-US" i="1" dirty="0">
                    <a:effectLst/>
                    <a:latin typeface="+mn-lt"/>
                  </a:rPr>
                  <a:t> </a:t>
                </a:r>
                <a:r>
                  <a:rPr lang="en-US" i="1" dirty="0" err="1">
                    <a:effectLst/>
                    <a:latin typeface="+mn-lt"/>
                  </a:rPr>
                  <a:t>đi</a:t>
                </a:r>
                <a:r>
                  <a:rPr lang="en-US" i="1" dirty="0">
                    <a:effectLst/>
                    <a:latin typeface="+mn-lt"/>
                  </a:rPr>
                  <a:t> </a:t>
                </a:r>
                <a:r>
                  <a:rPr lang="en-US" i="1" dirty="0" err="1">
                    <a:effectLst/>
                    <a:latin typeface="+mn-lt"/>
                  </a:rPr>
                  <a:t>chỉ</a:t>
                </a:r>
                <a:r>
                  <a:rPr lang="en-US" i="1" dirty="0">
                    <a:effectLst/>
                    <a:latin typeface="+mn-lt"/>
                  </a:rPr>
                  <a:t> </a:t>
                </a:r>
                <a:r>
                  <a:rPr lang="en-US" i="1" dirty="0" err="1">
                    <a:effectLst/>
                    <a:latin typeface="+mn-lt"/>
                  </a:rPr>
                  <a:t>gồm</a:t>
                </a:r>
                <a:r>
                  <a:rPr lang="en-US" i="1" dirty="0">
                    <a:effectLst/>
                    <a:latin typeface="+mn-lt"/>
                  </a:rPr>
                  <a:t> 1 </a:t>
                </a:r>
                <a:r>
                  <a:rPr lang="en-US" i="1" dirty="0" err="1">
                    <a:effectLst/>
                    <a:latin typeface="+mn-lt"/>
                  </a:rPr>
                  <a:t>cạnh</a:t>
                </a:r>
                <a:r>
                  <a:rPr lang="en-US" i="1" dirty="0">
                    <a:effectLst/>
                    <a:latin typeface="+mn-lt"/>
                  </a:rPr>
                  <a:t> </a:t>
                </a:r>
                <a:r>
                  <a:rPr lang="en-US" i="1" dirty="0" err="1">
                    <a:effectLst/>
                    <a:latin typeface="+mn-lt"/>
                  </a:rPr>
                  <a:t>xanh</a:t>
                </a:r>
                <a:r>
                  <a:rPr lang="en-US" i="1" dirty="0">
                    <a:effectLst/>
                    <a:latin typeface="+mn-lt"/>
                  </a:rPr>
                  <a:t> e-j </a:t>
                </a:r>
                <a:r>
                  <a:rPr lang="en-US" i="1" dirty="0" err="1">
                    <a:effectLst/>
                    <a:latin typeface="+mn-lt"/>
                  </a:rPr>
                  <a:t>nối</a:t>
                </a:r>
                <a:r>
                  <a:rPr lang="en-US" i="1" dirty="0">
                    <a:effectLst/>
                    <a:latin typeface="+mn-lt"/>
                  </a:rPr>
                  <a:t> </a:t>
                </a:r>
                <a:r>
                  <a:rPr lang="en-US" i="1" dirty="0" err="1">
                    <a:effectLst/>
                    <a:latin typeface="+mn-lt"/>
                  </a:rPr>
                  <a:t>trực</a:t>
                </a:r>
                <a:r>
                  <a:rPr lang="en-US" i="1" dirty="0">
                    <a:effectLst/>
                    <a:latin typeface="+mn-lt"/>
                  </a:rPr>
                  <a:t> </a:t>
                </a:r>
                <a:r>
                  <a:rPr lang="en-US" i="1" dirty="0" err="1">
                    <a:effectLst/>
                    <a:latin typeface="+mn-lt"/>
                  </a:rPr>
                  <a:t>tiếp</a:t>
                </a:r>
                <a:r>
                  <a:rPr lang="en-US" i="1" dirty="0">
                    <a:effectLst/>
                    <a:latin typeface="+mn-lt"/>
                  </a:rPr>
                  <a:t> 2 </a:t>
                </a:r>
                <a:r>
                  <a:rPr lang="en-US" i="1" dirty="0" err="1">
                    <a:effectLst/>
                    <a:latin typeface="+mn-lt"/>
                  </a:rPr>
                  <a:t>đỉnh</a:t>
                </a:r>
                <a:r>
                  <a:rPr lang="en-US" i="1" dirty="0">
                    <a:effectLst/>
                    <a:latin typeface="+mn-lt"/>
                  </a:rPr>
                  <a:t> </a:t>
                </a:r>
                <a:r>
                  <a:rPr lang="en-US" i="1" dirty="0" err="1">
                    <a:effectLst/>
                    <a:latin typeface="+mn-lt"/>
                  </a:rPr>
                  <a:t>tự</a:t>
                </a:r>
                <a:r>
                  <a:rPr lang="en-US" i="1" dirty="0">
                    <a:effectLst/>
                    <a:latin typeface="+mn-lt"/>
                  </a:rPr>
                  <a:t> do e </a:t>
                </a:r>
                <a:r>
                  <a:rPr lang="en-US" i="1" dirty="0" err="1">
                    <a:effectLst/>
                    <a:latin typeface="+mn-lt"/>
                  </a:rPr>
                  <a:t>và</a:t>
                </a:r>
                <a:r>
                  <a:rPr lang="en-US" i="1" dirty="0">
                    <a:effectLst/>
                    <a:latin typeface="+mn-lt"/>
                  </a:rPr>
                  <a:t> j)</a:t>
                </a:r>
                <a:r>
                  <a:rPr lang="en-US" dirty="0">
                    <a:effectLst/>
                    <a:latin typeface="+mn-lt"/>
                  </a:rPr>
                  <a:t>.</a:t>
                </a:r>
                <a:endParaRPr lang="en-US" dirty="0">
                  <a:effectLst/>
                  <a:latin typeface="Google Sans Text"/>
                </a:endParaRPr>
              </a:p>
            </p:txBody>
          </p:sp>
        </mc:Choice>
        <mc:Fallback>
          <p:sp>
            <p:nvSpPr>
              <p:cNvPr id="65" name="TextBox 64">
                <a:extLst>
                  <a:ext uri="{FF2B5EF4-FFF2-40B4-BE49-F238E27FC236}">
                    <a16:creationId xmlns:a16="http://schemas.microsoft.com/office/drawing/2014/main" id="{57E0D694-0CD5-D554-37E3-F008548961AA}"/>
                  </a:ext>
                </a:extLst>
              </p:cNvPr>
              <p:cNvSpPr txBox="1">
                <a:spLocks noRot="1" noChangeAspect="1" noMove="1" noResize="1" noEditPoints="1" noAdjustHandles="1" noChangeArrowheads="1" noChangeShapeType="1" noTextEdit="1"/>
              </p:cNvSpPr>
              <p:nvPr/>
            </p:nvSpPr>
            <p:spPr>
              <a:xfrm>
                <a:off x="525463" y="5017770"/>
                <a:ext cx="11178539" cy="1754326"/>
              </a:xfrm>
              <a:prstGeom prst="rect">
                <a:avLst/>
              </a:prstGeom>
              <a:blipFill>
                <a:blip r:embed="rId20"/>
                <a:stretch>
                  <a:fillRect l="-436" t="-1736" b="-4514"/>
                </a:stretch>
              </a:blipFill>
            </p:spPr>
            <p:txBody>
              <a:bodyPr/>
              <a:lstStyle/>
              <a:p>
                <a:r>
                  <a:rPr lang="en-US">
                    <a:noFill/>
                  </a:rPr>
                  <a:t> </a:t>
                </a:r>
              </a:p>
            </p:txBody>
          </p:sp>
        </mc:Fallback>
      </mc:AlternateContent>
    </p:spTree>
    <p:extLst>
      <p:ext uri="{BB962C8B-B14F-4D97-AF65-F5344CB8AC3E}">
        <p14:creationId xmlns:p14="http://schemas.microsoft.com/office/powerpoint/2010/main" val="3191353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a:extLst>
              <a:ext uri="{FF2B5EF4-FFF2-40B4-BE49-F238E27FC236}">
                <a16:creationId xmlns:a16="http://schemas.microsoft.com/office/drawing/2014/main" id="{A7526FDC-489E-D83F-E17F-554BFD0F6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4333" y="1174750"/>
            <a:ext cx="3468687"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a:extLst>
              <a:ext uri="{FF2B5EF4-FFF2-40B4-BE49-F238E27FC236}">
                <a16:creationId xmlns:a16="http://schemas.microsoft.com/office/drawing/2014/main" id="{61725E9C-9436-FE89-250A-76B54756E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8408" y="1106488"/>
            <a:ext cx="346710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7">
            <a:extLst>
              <a:ext uri="{FF2B5EF4-FFF2-40B4-BE49-F238E27FC236}">
                <a16:creationId xmlns:a16="http://schemas.microsoft.com/office/drawing/2014/main" id="{6565E9E3-7070-5EB2-F0DA-04570E8EB325}"/>
              </a:ext>
            </a:extLst>
          </p:cNvPr>
          <p:cNvSpPr txBox="1">
            <a:spLocks noChangeArrowheads="1"/>
          </p:cNvSpPr>
          <p:nvPr/>
        </p:nvSpPr>
        <p:spPr bwMode="auto">
          <a:xfrm>
            <a:off x="6603683" y="2219325"/>
            <a:ext cx="6032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22325">
              <a:defRPr>
                <a:solidFill>
                  <a:schemeClr val="tx1"/>
                </a:solidFill>
                <a:latin typeface="Arial" panose="020B0604020202020204" pitchFamily="34" charset="0"/>
                <a:cs typeface="Arial" panose="020B0604020202020204" pitchFamily="34" charset="0"/>
              </a:defRPr>
            </a:lvl1pPr>
            <a:lvl2pPr marL="411163" indent="-307975" defTabSz="822325">
              <a:defRPr>
                <a:solidFill>
                  <a:schemeClr val="tx1"/>
                </a:solidFill>
                <a:latin typeface="Arial" panose="020B0604020202020204" pitchFamily="34" charset="0"/>
                <a:cs typeface="Arial" panose="020B0604020202020204" pitchFamily="34" charset="0"/>
              </a:defRPr>
            </a:lvl2pPr>
            <a:lvl3pPr marL="771525" indent="-257175" defTabSz="822325">
              <a:defRPr>
                <a:solidFill>
                  <a:schemeClr val="tx1"/>
                </a:solidFill>
                <a:latin typeface="Arial" panose="020B0604020202020204" pitchFamily="34" charset="0"/>
                <a:cs typeface="Arial" panose="020B0604020202020204" pitchFamily="34" charset="0"/>
              </a:defRPr>
            </a:lvl3pPr>
            <a:lvl4pPr marL="1131888" indent="-206375" defTabSz="822325">
              <a:defRPr>
                <a:solidFill>
                  <a:schemeClr val="tx1"/>
                </a:solidFill>
                <a:latin typeface="Arial" panose="020B0604020202020204" pitchFamily="34" charset="0"/>
                <a:cs typeface="Arial" panose="020B0604020202020204" pitchFamily="34" charset="0"/>
              </a:defRPr>
            </a:lvl4pPr>
            <a:lvl5pPr marL="1543050" indent="-206375" defTabSz="822325">
              <a:defRPr>
                <a:solidFill>
                  <a:schemeClr val="tx1"/>
                </a:solidFill>
                <a:latin typeface="Arial" panose="020B0604020202020204" pitchFamily="34" charset="0"/>
                <a:cs typeface="Arial" panose="020B0604020202020204" pitchFamily="34" charset="0"/>
              </a:defRPr>
            </a:lvl5pPr>
            <a:lvl6pPr marL="20002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4574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29146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371850" indent="-206375" defTabSz="8223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5000"/>
              </a:lnSpc>
            </a:pPr>
            <a:r>
              <a:rPr lang="en-US" altLang="en-US" sz="4000" b="1">
                <a:solidFill>
                  <a:srgbClr val="000000"/>
                </a:solidFill>
                <a:sym typeface="Wingdings" panose="05000000000000000000" pitchFamily="2" charset="2"/>
              </a:rPr>
              <a:t></a:t>
            </a:r>
            <a:endParaRPr lang="en-US" altLang="en-US" sz="4000" b="1">
              <a:solidFill>
                <a:srgbClr val="000000"/>
              </a:solidFill>
            </a:endParaRPr>
          </a:p>
        </p:txBody>
      </p:sp>
      <p:sp>
        <p:nvSpPr>
          <p:cNvPr id="9" name="TextBox 8">
            <a:extLst>
              <a:ext uri="{FF2B5EF4-FFF2-40B4-BE49-F238E27FC236}">
                <a16:creationId xmlns:a16="http://schemas.microsoft.com/office/drawing/2014/main" id="{7087247C-D603-1D42-A268-41DA49F4171C}"/>
              </a:ext>
            </a:extLst>
          </p:cNvPr>
          <p:cNvSpPr txBox="1"/>
          <p:nvPr/>
        </p:nvSpPr>
        <p:spPr>
          <a:xfrm>
            <a:off x="285116" y="356116"/>
            <a:ext cx="6097904" cy="646331"/>
          </a:xfrm>
          <a:prstGeom prst="rect">
            <a:avLst/>
          </a:prstGeom>
          <a:noFill/>
        </p:spPr>
        <p:txBody>
          <a:bodyPr wrap="square">
            <a:spAutoFit/>
          </a:bodyPr>
          <a:lstStyle/>
          <a:p>
            <a:r>
              <a:rPr lang="en-US" sz="3600" b="1"/>
              <a:t>Ý tưởng chính</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43D5253B-E14F-6AC0-8444-FE2997F70CE1}"/>
                  </a:ext>
                </a:extLst>
              </p:cNvPr>
              <p:cNvSpPr txBox="1"/>
              <p:nvPr/>
            </p:nvSpPr>
            <p:spPr>
              <a:xfrm>
                <a:off x="308610" y="3443456"/>
                <a:ext cx="11784330" cy="2677656"/>
              </a:xfrm>
              <a:prstGeom prst="rect">
                <a:avLst/>
              </a:prstGeom>
              <a:noFill/>
            </p:spPr>
            <p:txBody>
              <a:bodyPr wrap="square">
                <a:spAutoFit/>
              </a:bodyPr>
              <a:lstStyle/>
              <a:p>
                <a:pPr marL="0" marR="0" lvl="0" indent="-342900">
                  <a:buFont typeface="Arial" panose="020B0604020202020204" pitchFamily="34" charset="0"/>
                  <a:buChar char="•"/>
                </a:pPr>
                <a:r>
                  <a:rPr lang="en-US" sz="2400" b="1" dirty="0">
                    <a:effectLst/>
                    <a:latin typeface="+mn-lt"/>
                  </a:rPr>
                  <a:t>"</a:t>
                </a:r>
                <a:r>
                  <a:rPr lang="en-US" sz="2400" b="1" dirty="0" err="1">
                    <a:effectLst/>
                    <a:latin typeface="+mn-lt"/>
                  </a:rPr>
                  <a:t>Lật</a:t>
                </a:r>
                <a:r>
                  <a:rPr lang="en-US" sz="2400" b="1" dirty="0">
                    <a:effectLst/>
                    <a:latin typeface="+mn-lt"/>
                  </a:rPr>
                  <a:t>" (Flip / </a:t>
                </a:r>
                <a:r>
                  <a:rPr lang="en-US" sz="2400" b="1" dirty="0" err="1">
                    <a:effectLst/>
                    <a:latin typeface="+mn-lt"/>
                  </a:rPr>
                  <a:t>Đảo</a:t>
                </a:r>
                <a:r>
                  <a:rPr lang="en-US" sz="2400" b="1" dirty="0">
                    <a:effectLst/>
                    <a:latin typeface="+mn-lt"/>
                  </a:rPr>
                  <a:t> </a:t>
                </a:r>
                <a:r>
                  <a:rPr lang="en-US" sz="2400" b="1" dirty="0" err="1">
                    <a:effectLst/>
                    <a:latin typeface="+mn-lt"/>
                  </a:rPr>
                  <a:t>trạng</a:t>
                </a:r>
                <a:r>
                  <a:rPr lang="en-US" sz="2400" b="1" dirty="0">
                    <a:effectLst/>
                    <a:latin typeface="+mn-lt"/>
                  </a:rPr>
                  <a:t> </a:t>
                </a:r>
                <a:r>
                  <a:rPr lang="en-US" sz="2400" b="1" dirty="0" err="1">
                    <a:effectLst/>
                    <a:latin typeface="+mn-lt"/>
                  </a:rPr>
                  <a:t>thái</a:t>
                </a:r>
                <a:r>
                  <a:rPr lang="en-US" sz="2400" b="1" dirty="0">
                    <a:effectLst/>
                    <a:latin typeface="+mn-lt"/>
                  </a:rPr>
                  <a:t>) </a:t>
                </a:r>
                <a:r>
                  <a:rPr lang="en-US" sz="2400" b="1" dirty="0" err="1">
                    <a:effectLst/>
                    <a:latin typeface="+mn-lt"/>
                  </a:rPr>
                  <a:t>đường</a:t>
                </a:r>
                <a:r>
                  <a:rPr lang="en-US" sz="2400" b="1" dirty="0">
                    <a:effectLst/>
                    <a:latin typeface="+mn-lt"/>
                  </a:rPr>
                  <a:t> </a:t>
                </a:r>
                <a:r>
                  <a:rPr lang="en-US" sz="2400" b="1" dirty="0" err="1">
                    <a:effectLst/>
                    <a:latin typeface="+mn-lt"/>
                  </a:rPr>
                  <a:t>mở</a:t>
                </a:r>
                <a:r>
                  <a:rPr lang="en-US" sz="2400" b="1" dirty="0">
                    <a:effectLst/>
                    <a:latin typeface="+mn-lt"/>
                  </a:rPr>
                  <a:t> </a:t>
                </a:r>
                <a:r>
                  <a:rPr lang="en-US" sz="2400" dirty="0" err="1">
                    <a:effectLst/>
                    <a:latin typeface="+mn-lt"/>
                  </a:rPr>
                  <a:t>để</a:t>
                </a:r>
                <a:r>
                  <a:rPr lang="en-US" sz="2400" dirty="0">
                    <a:effectLst/>
                    <a:latin typeface="+mn-lt"/>
                  </a:rPr>
                  <a:t> </a:t>
                </a:r>
                <a:r>
                  <a:rPr lang="en-US" sz="2400" dirty="0" err="1">
                    <a:effectLst/>
                    <a:latin typeface="+mn-lt"/>
                  </a:rPr>
                  <a:t>thu</a:t>
                </a:r>
                <a:r>
                  <a:rPr lang="en-US" sz="2400" dirty="0">
                    <a:effectLst/>
                    <a:latin typeface="+mn-lt"/>
                  </a:rPr>
                  <a:t> </a:t>
                </a:r>
                <a:r>
                  <a:rPr lang="en-US" sz="2400" dirty="0" err="1">
                    <a:effectLst/>
                    <a:latin typeface="+mn-lt"/>
                  </a:rPr>
                  <a:t>được</a:t>
                </a:r>
                <a:r>
                  <a:rPr lang="en-US" sz="2400" dirty="0">
                    <a:effectLst/>
                    <a:latin typeface="+mn-lt"/>
                  </a:rPr>
                  <a:t> </a:t>
                </a:r>
                <a:r>
                  <a:rPr lang="en-US" sz="2400" dirty="0" err="1">
                    <a:effectLst/>
                    <a:latin typeface="+mn-lt"/>
                  </a:rPr>
                  <a:t>cặp</a:t>
                </a:r>
                <a:r>
                  <a:rPr lang="en-US" sz="2400" dirty="0">
                    <a:effectLst/>
                    <a:latin typeface="+mn-lt"/>
                  </a:rPr>
                  <a:t> </a:t>
                </a:r>
                <a:r>
                  <a:rPr lang="en-US" sz="2400" dirty="0" err="1">
                    <a:effectLst/>
                    <a:latin typeface="+mn-lt"/>
                  </a:rPr>
                  <a:t>ghép</a:t>
                </a:r>
                <a:r>
                  <a:rPr lang="en-US" sz="2400" dirty="0">
                    <a:effectLst/>
                    <a:latin typeface="+mn-lt"/>
                  </a:rPr>
                  <a:t> </a:t>
                </a:r>
                <a:r>
                  <a:rPr lang="en-US" sz="2400" dirty="0" err="1">
                    <a:effectLst/>
                    <a:latin typeface="+mn-lt"/>
                  </a:rPr>
                  <a:t>tốt</a:t>
                </a:r>
                <a:r>
                  <a:rPr lang="en-US" sz="2400" dirty="0">
                    <a:effectLst/>
                    <a:latin typeface="+mn-lt"/>
                  </a:rPr>
                  <a:t> </a:t>
                </a:r>
                <a:r>
                  <a:rPr lang="en-US" sz="2400" dirty="0" err="1">
                    <a:effectLst/>
                    <a:latin typeface="+mn-lt"/>
                  </a:rPr>
                  <a:t>hơn</a:t>
                </a:r>
                <a:r>
                  <a:rPr lang="en-US" sz="2400" dirty="0">
                    <a:effectLst/>
                    <a:latin typeface="+mn-lt"/>
                  </a:rPr>
                  <a:t> (</a:t>
                </a:r>
                <a:r>
                  <a:rPr lang="en-US" sz="2400" dirty="0" err="1">
                    <a:effectLst/>
                    <a:latin typeface="+mn-lt"/>
                  </a:rPr>
                  <a:t>nhiều</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hơn</a:t>
                </a:r>
                <a:r>
                  <a:rPr lang="en-US" sz="2400" dirty="0">
                    <a:effectLst/>
                    <a:latin typeface="+mn-lt"/>
                  </a:rPr>
                  <a:t>).</a:t>
                </a:r>
              </a:p>
              <a:p>
                <a:pPr marL="0" marR="0" lvl="1" indent="-285750">
                  <a:buFont typeface="Arial" panose="020B0604020202020204" pitchFamily="34" charset="0"/>
                  <a:buChar char="•"/>
                </a:pPr>
                <a:r>
                  <a:rPr lang="en-US" sz="2400" dirty="0" err="1">
                    <a:effectLst/>
                    <a:latin typeface="+mn-lt"/>
                  </a:rPr>
                  <a:t>Tất</a:t>
                </a:r>
                <a:r>
                  <a:rPr lang="en-US" sz="2400" dirty="0">
                    <a:effectLst/>
                    <a:latin typeface="+mn-lt"/>
                  </a:rPr>
                  <a:t> </a:t>
                </a:r>
                <a:r>
                  <a:rPr lang="en-US" sz="2400" dirty="0" err="1">
                    <a:effectLst/>
                    <a:latin typeface="+mn-lt"/>
                  </a:rPr>
                  <a:t>cả</a:t>
                </a:r>
                <a:r>
                  <a:rPr lang="en-US" sz="2400" dirty="0">
                    <a:effectLst/>
                    <a:latin typeface="+mn-lt"/>
                  </a:rPr>
                  <a:t> </a:t>
                </a:r>
                <a:r>
                  <a:rPr lang="en-US" sz="2400" b="1" dirty="0" err="1">
                    <a:effectLst/>
                    <a:latin typeface="+mn-lt"/>
                  </a:rPr>
                  <a:t>cạnh</a:t>
                </a:r>
                <a:r>
                  <a:rPr lang="en-US" sz="2400" b="1" dirty="0">
                    <a:effectLst/>
                    <a:latin typeface="+mn-lt"/>
                  </a:rPr>
                  <a:t> </a:t>
                </a:r>
                <a:r>
                  <a:rPr lang="en-US" sz="2400" b="1" dirty="0" err="1">
                    <a:effectLst/>
                    <a:latin typeface="+mn-lt"/>
                  </a:rPr>
                  <a:t>chưa</a:t>
                </a:r>
                <a:r>
                  <a:rPr lang="en-US" sz="2400" b="1" dirty="0">
                    <a:effectLst/>
                    <a:latin typeface="+mn-lt"/>
                  </a:rPr>
                  <a:t> </a:t>
                </a:r>
                <a:r>
                  <a:rPr lang="en-US" sz="2400" b="1" dirty="0" err="1">
                    <a:effectLst/>
                    <a:latin typeface="+mn-lt"/>
                  </a:rPr>
                  <a:t>ghép</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xanh</a:t>
                </a:r>
                <a:r>
                  <a:rPr lang="en-US" sz="2400" dirty="0">
                    <a:effectLst/>
                    <a:latin typeface="+mn-lt"/>
                  </a:rPr>
                  <a:t>) </a:t>
                </a:r>
                <a:r>
                  <a:rPr lang="en-US" sz="2400" dirty="0" err="1">
                    <a:effectLst/>
                    <a:latin typeface="+mn-lt"/>
                  </a:rPr>
                  <a:t>trên</a:t>
                </a:r>
                <a:r>
                  <a:rPr lang="en-US" sz="2400" dirty="0">
                    <a:effectLst/>
                    <a:latin typeface="+mn-lt"/>
                  </a:rPr>
                  <a:t> </a:t>
                </a:r>
                <a:r>
                  <a:rPr lang="en-US" sz="2400" dirty="0" err="1">
                    <a:effectLst/>
                    <a:latin typeface="+mn-lt"/>
                  </a:rPr>
                  <a:t>đường</a:t>
                </a:r>
                <a:r>
                  <a:rPr lang="en-US" sz="2400" dirty="0">
                    <a:effectLst/>
                    <a:latin typeface="+mn-lt"/>
                  </a:rPr>
                  <a:t> </a:t>
                </a:r>
                <a:r>
                  <a:rPr lang="en-US" sz="2400" dirty="0" err="1">
                    <a:effectLst/>
                    <a:latin typeface="+mn-lt"/>
                  </a:rPr>
                  <a:t>mở</a:t>
                </a:r>
                <a:r>
                  <a:rPr lang="en-US" sz="2400" dirty="0">
                    <a:effectLst/>
                    <a:latin typeface="+mn-lt"/>
                  </a:rPr>
                  <a:t> </a:t>
                </a:r>
                <a14:m>
                  <m:oMath xmlns:m="http://schemas.openxmlformats.org/officeDocument/2006/math">
                    <m:r>
                      <a:rPr lang="en-US" sz="2400" smtClean="0">
                        <a:latin typeface="Cambria Math" panose="02040503050406030204" pitchFamily="18" charset="0"/>
                      </a:rPr>
                      <m:t>→</m:t>
                    </m:r>
                  </m:oMath>
                </a14:m>
                <a:r>
                  <a:rPr lang="en-US" sz="2400" dirty="0" err="1">
                    <a:effectLst/>
                    <a:latin typeface="+mn-lt"/>
                  </a:rPr>
                  <a:t>biến</a:t>
                </a:r>
                <a:r>
                  <a:rPr lang="en-US" sz="2400" dirty="0">
                    <a:effectLst/>
                    <a:latin typeface="+mn-lt"/>
                  </a:rPr>
                  <a:t> </a:t>
                </a:r>
                <a:r>
                  <a:rPr lang="en-US" sz="2400" dirty="0" err="1">
                    <a:effectLst/>
                    <a:latin typeface="+mn-lt"/>
                  </a:rPr>
                  <a:t>thành</a:t>
                </a:r>
                <a:r>
                  <a:rPr lang="en-US" sz="2400" dirty="0">
                    <a:effectLst/>
                    <a:latin typeface="+mn-lt"/>
                  </a:rPr>
                  <a:t> </a:t>
                </a:r>
                <a:r>
                  <a:rPr lang="en-US" sz="2400" b="1" dirty="0" err="1">
                    <a:effectLst/>
                    <a:latin typeface="+mn-lt"/>
                  </a:rPr>
                  <a:t>cạnh</a:t>
                </a:r>
                <a:r>
                  <a:rPr lang="en-US" sz="2400" b="1" dirty="0">
                    <a:effectLst/>
                    <a:latin typeface="+mn-lt"/>
                  </a:rPr>
                  <a:t> </a:t>
                </a:r>
                <a:r>
                  <a:rPr lang="en-US" sz="2400" b="1" dirty="0" err="1">
                    <a:effectLst/>
                    <a:latin typeface="+mn-lt"/>
                  </a:rPr>
                  <a:t>thuộc</a:t>
                </a:r>
                <a:r>
                  <a:rPr lang="en-US" sz="2400" b="1" dirty="0">
                    <a:effectLst/>
                    <a:latin typeface="+mn-lt"/>
                  </a:rPr>
                  <a:t> </a:t>
                </a:r>
                <a:r>
                  <a:rPr lang="en-US" sz="2400" b="1" dirty="0" err="1">
                    <a:effectLst/>
                    <a:latin typeface="+mn-lt"/>
                  </a:rPr>
                  <a:t>cặp</a:t>
                </a:r>
                <a:r>
                  <a:rPr lang="en-US" sz="2400" b="1" dirty="0">
                    <a:effectLst/>
                    <a:latin typeface="+mn-lt"/>
                  </a:rPr>
                  <a:t> </a:t>
                </a:r>
                <a:r>
                  <a:rPr lang="en-US" sz="2400" b="1" dirty="0" err="1">
                    <a:effectLst/>
                    <a:latin typeface="+mn-lt"/>
                  </a:rPr>
                  <a:t>ghép</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đỏ</a:t>
                </a:r>
                <a:r>
                  <a:rPr lang="en-US" sz="2400" dirty="0">
                    <a:effectLst/>
                    <a:latin typeface="+mn-lt"/>
                  </a:rPr>
                  <a:t>).</a:t>
                </a:r>
              </a:p>
              <a:p>
                <a:pPr marL="0" marR="0" lvl="1" indent="-285750">
                  <a:buFont typeface="Arial" panose="020B0604020202020204" pitchFamily="34" charset="0"/>
                  <a:buChar char="•"/>
                </a:pPr>
                <a:r>
                  <a:rPr lang="en-US" sz="2400" dirty="0" err="1">
                    <a:effectLst/>
                    <a:latin typeface="+mn-lt"/>
                  </a:rPr>
                  <a:t>Tất</a:t>
                </a:r>
                <a:r>
                  <a:rPr lang="en-US" sz="2400" dirty="0">
                    <a:effectLst/>
                    <a:latin typeface="+mn-lt"/>
                  </a:rPr>
                  <a:t> </a:t>
                </a:r>
                <a:r>
                  <a:rPr lang="en-US" sz="2400" dirty="0" err="1">
                    <a:effectLst/>
                    <a:latin typeface="+mn-lt"/>
                  </a:rPr>
                  <a:t>cả</a:t>
                </a:r>
                <a:r>
                  <a:rPr lang="en-US" sz="2400" dirty="0">
                    <a:effectLst/>
                    <a:latin typeface="+mn-lt"/>
                  </a:rPr>
                  <a:t> </a:t>
                </a:r>
                <a:r>
                  <a:rPr lang="en-US" sz="2400" b="1" dirty="0" err="1">
                    <a:effectLst/>
                    <a:latin typeface="+mn-lt"/>
                  </a:rPr>
                  <a:t>cạnh</a:t>
                </a:r>
                <a:r>
                  <a:rPr lang="en-US" sz="2400" b="1" dirty="0">
                    <a:effectLst/>
                    <a:latin typeface="+mn-lt"/>
                  </a:rPr>
                  <a:t> </a:t>
                </a:r>
                <a:r>
                  <a:rPr lang="en-US" sz="2400" b="1" dirty="0" err="1">
                    <a:effectLst/>
                    <a:latin typeface="+mn-lt"/>
                  </a:rPr>
                  <a:t>thuộc</a:t>
                </a:r>
                <a:r>
                  <a:rPr lang="en-US" sz="2400" b="1" dirty="0">
                    <a:effectLst/>
                    <a:latin typeface="+mn-lt"/>
                  </a:rPr>
                  <a:t> </a:t>
                </a:r>
                <a:r>
                  <a:rPr lang="en-US" sz="2400" b="1" dirty="0" err="1">
                    <a:effectLst/>
                    <a:latin typeface="+mn-lt"/>
                  </a:rPr>
                  <a:t>cặp</a:t>
                </a:r>
                <a:r>
                  <a:rPr lang="en-US" sz="2400" b="1" dirty="0">
                    <a:effectLst/>
                    <a:latin typeface="+mn-lt"/>
                  </a:rPr>
                  <a:t> </a:t>
                </a:r>
                <a:r>
                  <a:rPr lang="en-US" sz="2400" b="1" dirty="0" err="1">
                    <a:effectLst/>
                    <a:latin typeface="+mn-lt"/>
                  </a:rPr>
                  <a:t>ghép</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đỏ</a:t>
                </a:r>
                <a:r>
                  <a:rPr lang="en-US" sz="2400" dirty="0">
                    <a:effectLst/>
                    <a:latin typeface="+mn-lt"/>
                  </a:rPr>
                  <a:t>) </a:t>
                </a:r>
                <a:r>
                  <a:rPr lang="en-US" sz="2400" dirty="0" err="1">
                    <a:effectLst/>
                    <a:latin typeface="+mn-lt"/>
                  </a:rPr>
                  <a:t>trên</a:t>
                </a:r>
                <a:r>
                  <a:rPr lang="en-US" sz="2400" dirty="0">
                    <a:effectLst/>
                    <a:latin typeface="+mn-lt"/>
                  </a:rPr>
                  <a:t> </a:t>
                </a:r>
                <a:r>
                  <a:rPr lang="en-US" sz="2400" dirty="0" err="1">
                    <a:effectLst/>
                    <a:latin typeface="+mn-lt"/>
                  </a:rPr>
                  <a:t>đường</a:t>
                </a:r>
                <a:r>
                  <a:rPr lang="en-US" sz="2400" dirty="0">
                    <a:effectLst/>
                    <a:latin typeface="+mn-lt"/>
                  </a:rPr>
                  <a:t> m</a:t>
                </a:r>
                <a14:m>
                  <m:oMath xmlns:m="http://schemas.openxmlformats.org/officeDocument/2006/math">
                    <m:r>
                      <a:rPr lang="en-US" sz="2400" dirty="0" smtClean="0">
                        <a:latin typeface="Cambria Math" panose="02040503050406030204" pitchFamily="18" charset="0"/>
                      </a:rPr>
                      <m:t>ở</m:t>
                    </m:r>
                    <m:r>
                      <a:rPr lang="en-US" sz="2400" smtClean="0">
                        <a:latin typeface="Cambria Math" panose="02040503050406030204" pitchFamily="18" charset="0"/>
                      </a:rPr>
                      <m:t>→</m:t>
                    </m:r>
                  </m:oMath>
                </a14:m>
                <a:r>
                  <a:rPr lang="en-US" sz="2400" dirty="0" err="1">
                    <a:effectLst/>
                    <a:latin typeface="+mn-lt"/>
                  </a:rPr>
                  <a:t>biến</a:t>
                </a:r>
                <a:r>
                  <a:rPr lang="en-US" sz="2400" dirty="0">
                    <a:effectLst/>
                    <a:latin typeface="+mn-lt"/>
                  </a:rPr>
                  <a:t> </a:t>
                </a:r>
                <a:r>
                  <a:rPr lang="en-US" sz="2400" dirty="0" err="1">
                    <a:effectLst/>
                    <a:latin typeface="+mn-lt"/>
                  </a:rPr>
                  <a:t>thành</a:t>
                </a:r>
                <a:r>
                  <a:rPr lang="en-US" sz="2400" dirty="0">
                    <a:effectLst/>
                    <a:latin typeface="+mn-lt"/>
                  </a:rPr>
                  <a:t> </a:t>
                </a:r>
                <a:r>
                  <a:rPr lang="en-US" sz="2400" b="1" dirty="0" err="1">
                    <a:effectLst/>
                    <a:latin typeface="+mn-lt"/>
                  </a:rPr>
                  <a:t>cạnh</a:t>
                </a:r>
                <a:r>
                  <a:rPr lang="en-US" sz="2400" b="1" dirty="0">
                    <a:effectLst/>
                    <a:latin typeface="+mn-lt"/>
                  </a:rPr>
                  <a:t> </a:t>
                </a:r>
                <a:r>
                  <a:rPr lang="en-US" sz="2400" b="1" dirty="0" err="1">
                    <a:effectLst/>
                    <a:latin typeface="+mn-lt"/>
                  </a:rPr>
                  <a:t>chưa</a:t>
                </a:r>
                <a:r>
                  <a:rPr lang="en-US" sz="2400" b="1" dirty="0">
                    <a:effectLst/>
                    <a:latin typeface="+mn-lt"/>
                  </a:rPr>
                  <a:t> </a:t>
                </a:r>
                <a:r>
                  <a:rPr lang="en-US" sz="2400" b="1" dirty="0" err="1">
                    <a:effectLst/>
                    <a:latin typeface="+mn-lt"/>
                  </a:rPr>
                  <a:t>ghép</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xanh</a:t>
                </a:r>
                <a:r>
                  <a:rPr lang="en-US" sz="2400" dirty="0">
                    <a:effectLst/>
                    <a:latin typeface="+mn-lt"/>
                  </a:rPr>
                  <a:t>).</a:t>
                </a:r>
              </a:p>
              <a:p>
                <a:pPr marL="0" marR="0" lvl="0" indent="-342900">
                  <a:buFont typeface="Arial" panose="020B0604020202020204" pitchFamily="34" charset="0"/>
                  <a:buChar char="•"/>
                </a:pPr>
                <a:r>
                  <a:rPr lang="en-US" sz="2400" b="1" dirty="0" err="1">
                    <a:effectLst/>
                    <a:latin typeface="+mn-lt"/>
                  </a:rPr>
                  <a:t>Lưu</a:t>
                </a:r>
                <a:r>
                  <a:rPr lang="en-US" sz="2400" b="1" dirty="0">
                    <a:effectLst/>
                    <a:latin typeface="+mn-lt"/>
                  </a:rPr>
                  <a:t> ý </a:t>
                </a:r>
                <a:r>
                  <a:rPr lang="en-US" sz="2400" b="1" dirty="0" err="1">
                    <a:effectLst/>
                    <a:latin typeface="+mn-lt"/>
                  </a:rPr>
                  <a:t>quan</a:t>
                </a:r>
                <a:r>
                  <a:rPr lang="en-US" sz="2400" b="1" dirty="0">
                    <a:effectLst/>
                    <a:latin typeface="+mn-lt"/>
                  </a:rPr>
                  <a:t> </a:t>
                </a:r>
                <a:r>
                  <a:rPr lang="en-US" sz="2400" b="1" dirty="0" err="1">
                    <a:effectLst/>
                    <a:latin typeface="+mn-lt"/>
                  </a:rPr>
                  <a:t>trọng</a:t>
                </a:r>
                <a:r>
                  <a:rPr lang="en-US" sz="2400" b="1" dirty="0">
                    <a:effectLst/>
                    <a:latin typeface="+mn-lt"/>
                  </a:rPr>
                  <a:t>:</a:t>
                </a:r>
                <a:r>
                  <a:rPr lang="en-US" sz="2400" dirty="0">
                    <a:effectLst/>
                    <a:latin typeface="+mn-lt"/>
                  </a:rPr>
                  <a:t> Sau </a:t>
                </a:r>
                <a:r>
                  <a:rPr lang="en-US" sz="2400" dirty="0" err="1">
                    <a:effectLst/>
                    <a:latin typeface="+mn-lt"/>
                  </a:rPr>
                  <a:t>khi</a:t>
                </a:r>
                <a:r>
                  <a:rPr lang="en-US" sz="2400" dirty="0">
                    <a:effectLst/>
                    <a:latin typeface="+mn-lt"/>
                  </a:rPr>
                  <a:t> "</a:t>
                </a:r>
                <a:r>
                  <a:rPr lang="en-US" sz="2400" dirty="0" err="1">
                    <a:effectLst/>
                    <a:latin typeface="+mn-lt"/>
                  </a:rPr>
                  <a:t>lật</a:t>
                </a:r>
                <a:r>
                  <a:rPr lang="en-US" sz="2400" dirty="0">
                    <a:effectLst/>
                    <a:latin typeface="+mn-lt"/>
                  </a:rPr>
                  <a:t>", </a:t>
                </a:r>
                <a:r>
                  <a:rPr lang="en-US" sz="2400" dirty="0" err="1">
                    <a:effectLst/>
                    <a:latin typeface="+mn-lt"/>
                  </a:rPr>
                  <a:t>tổng</a:t>
                </a:r>
                <a:r>
                  <a:rPr lang="en-US" sz="2400" dirty="0">
                    <a:effectLst/>
                    <a:latin typeface="+mn-lt"/>
                  </a:rPr>
                  <a:t> </a:t>
                </a:r>
                <a:r>
                  <a:rPr lang="en-US" sz="2400" dirty="0" err="1">
                    <a:effectLst/>
                    <a:latin typeface="+mn-lt"/>
                  </a:rPr>
                  <a:t>số</a:t>
                </a:r>
                <a:r>
                  <a:rPr lang="en-US" sz="2400" dirty="0">
                    <a:effectLst/>
                    <a:latin typeface="+mn-lt"/>
                  </a:rPr>
                  <a:t> </a:t>
                </a:r>
                <a:r>
                  <a:rPr lang="en-US" sz="2400" dirty="0" err="1">
                    <a:effectLst/>
                    <a:latin typeface="+mn-lt"/>
                  </a:rPr>
                  <a:t>lượng</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thuộc</a:t>
                </a:r>
                <a:r>
                  <a:rPr lang="en-US" sz="2400" dirty="0">
                    <a:effectLst/>
                    <a:latin typeface="+mn-lt"/>
                  </a:rPr>
                  <a:t> </a:t>
                </a:r>
                <a:r>
                  <a:rPr lang="en-US" sz="2400" dirty="0" err="1">
                    <a:effectLst/>
                    <a:latin typeface="+mn-lt"/>
                  </a:rPr>
                  <a:t>cặp</a:t>
                </a:r>
                <a:r>
                  <a:rPr lang="en-US" sz="2400" dirty="0">
                    <a:effectLst/>
                    <a:latin typeface="+mn-lt"/>
                  </a:rPr>
                  <a:t> </a:t>
                </a:r>
                <a:r>
                  <a:rPr lang="en-US" sz="2400" dirty="0" err="1">
                    <a:effectLst/>
                    <a:latin typeface="+mn-lt"/>
                  </a:rPr>
                  <a:t>ghép</a:t>
                </a:r>
                <a:r>
                  <a:rPr lang="en-US" sz="2400" dirty="0">
                    <a:effectLst/>
                    <a:latin typeface="+mn-lt"/>
                  </a:rPr>
                  <a:t> (</a:t>
                </a:r>
                <a:r>
                  <a:rPr lang="en-US" sz="2400" dirty="0" err="1">
                    <a:effectLst/>
                    <a:latin typeface="+mn-lt"/>
                  </a:rPr>
                  <a:t>cạnh</a:t>
                </a:r>
                <a:r>
                  <a:rPr lang="en-US" sz="2400" dirty="0">
                    <a:effectLst/>
                    <a:latin typeface="+mn-lt"/>
                  </a:rPr>
                  <a:t> </a:t>
                </a:r>
                <a:r>
                  <a:rPr lang="en-US" sz="2400" dirty="0" err="1">
                    <a:effectLst/>
                    <a:latin typeface="+mn-lt"/>
                  </a:rPr>
                  <a:t>đỏ</a:t>
                </a:r>
                <a:r>
                  <a:rPr lang="en-US" sz="2400" dirty="0">
                    <a:effectLst/>
                    <a:latin typeface="+mn-lt"/>
                  </a:rPr>
                  <a:t>) </a:t>
                </a:r>
                <a:r>
                  <a:rPr lang="en-US" sz="2400" dirty="0" err="1">
                    <a:effectLst/>
                    <a:latin typeface="+mn-lt"/>
                  </a:rPr>
                  <a:t>sẽ</a:t>
                </a:r>
                <a:r>
                  <a:rPr lang="en-US" sz="2400" dirty="0">
                    <a:effectLst/>
                    <a:latin typeface="+mn-lt"/>
                  </a:rPr>
                  <a:t> </a:t>
                </a:r>
                <a:r>
                  <a:rPr lang="en-US" sz="2400" b="1" dirty="0" err="1">
                    <a:effectLst/>
                    <a:latin typeface="+mn-lt"/>
                  </a:rPr>
                  <a:t>tăng</a:t>
                </a:r>
                <a:r>
                  <a:rPr lang="en-US" sz="2400" b="1" dirty="0">
                    <a:effectLst/>
                    <a:latin typeface="+mn-lt"/>
                  </a:rPr>
                  <a:t> </a:t>
                </a:r>
                <a:r>
                  <a:rPr lang="en-US" sz="2400" b="1" dirty="0" err="1">
                    <a:effectLst/>
                    <a:latin typeface="+mn-lt"/>
                  </a:rPr>
                  <a:t>thêm</a:t>
                </a:r>
                <a:r>
                  <a:rPr lang="en-US" sz="2400" b="1" dirty="0">
                    <a:effectLst/>
                    <a:latin typeface="+mn-lt"/>
                  </a:rPr>
                  <a:t> </a:t>
                </a:r>
                <a:r>
                  <a:rPr lang="en-US" sz="2400" b="1" dirty="0" err="1">
                    <a:effectLst/>
                    <a:latin typeface="+mn-lt"/>
                  </a:rPr>
                  <a:t>đúng</a:t>
                </a:r>
                <a:r>
                  <a:rPr lang="en-US" sz="2400" b="1" dirty="0">
                    <a:effectLst/>
                    <a:latin typeface="+mn-lt"/>
                  </a:rPr>
                  <a:t> 1</a:t>
                </a:r>
                <a:r>
                  <a:rPr lang="en-US" sz="2400" dirty="0">
                    <a:effectLst/>
                    <a:latin typeface="+mn-lt"/>
                  </a:rPr>
                  <a:t>!</a:t>
                </a:r>
                <a:endParaRPr lang="en-US" sz="2400" dirty="0">
                  <a:effectLst/>
                  <a:latin typeface="Google Sans Text"/>
                </a:endParaRPr>
              </a:p>
            </p:txBody>
          </p:sp>
        </mc:Choice>
        <mc:Fallback>
          <p:sp>
            <p:nvSpPr>
              <p:cNvPr id="11" name="TextBox 10">
                <a:extLst>
                  <a:ext uri="{FF2B5EF4-FFF2-40B4-BE49-F238E27FC236}">
                    <a16:creationId xmlns:a16="http://schemas.microsoft.com/office/drawing/2014/main" id="{43D5253B-E14F-6AC0-8444-FE2997F70CE1}"/>
                  </a:ext>
                </a:extLst>
              </p:cNvPr>
              <p:cNvSpPr txBox="1">
                <a:spLocks noRot="1" noChangeAspect="1" noMove="1" noResize="1" noEditPoints="1" noAdjustHandles="1" noChangeArrowheads="1" noChangeShapeType="1" noTextEdit="1"/>
              </p:cNvSpPr>
              <p:nvPr/>
            </p:nvSpPr>
            <p:spPr>
              <a:xfrm>
                <a:off x="308610" y="3443456"/>
                <a:ext cx="11784330" cy="2677656"/>
              </a:xfrm>
              <a:prstGeom prst="rect">
                <a:avLst/>
              </a:prstGeom>
              <a:blipFill>
                <a:blip r:embed="rId4"/>
                <a:stretch>
                  <a:fillRect l="-828" t="-1822" r="-776" b="-4328"/>
                </a:stretch>
              </a:blipFill>
            </p:spPr>
            <p:txBody>
              <a:bodyPr/>
              <a:lstStyle/>
              <a:p>
                <a:r>
                  <a:rPr lang="en-US">
                    <a:noFill/>
                  </a:rPr>
                  <a:t> </a:t>
                </a:r>
              </a:p>
            </p:txBody>
          </p:sp>
        </mc:Fallback>
      </mc:AlternateContent>
    </p:spTree>
    <p:extLst>
      <p:ext uri="{BB962C8B-B14F-4D97-AF65-F5344CB8AC3E}">
        <p14:creationId xmlns:p14="http://schemas.microsoft.com/office/powerpoint/2010/main" val="1591408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707183"/>
            <a:ext cx="5334000" cy="2300882"/>
          </a:xfrm>
          <a:prstGeom prst="roundRect">
            <a:avLst>
              <a:gd name="adj" fmla="val 6623"/>
            </a:avLst>
          </a:prstGeom>
          <a:solidFill>
            <a:srgbClr val="0F172A"/>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Rounded Rectangle 2"/>
          <p:cNvSpPr/>
          <p:nvPr/>
        </p:nvSpPr>
        <p:spPr>
          <a:xfrm>
            <a:off x="6248400" y="2514600"/>
            <a:ext cx="5334000" cy="2686050"/>
          </a:xfrm>
          <a:prstGeom prst="roundRect">
            <a:avLst>
              <a:gd name="adj" fmla="val 567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Rounded Rectangle 3"/>
          <p:cNvSpPr/>
          <p:nvPr/>
        </p:nvSpPr>
        <p:spPr>
          <a:xfrm>
            <a:off x="6524625" y="3752850"/>
            <a:ext cx="4781550" cy="371475"/>
          </a:xfrm>
          <a:prstGeom prst="roundRect">
            <a:avLst>
              <a:gd name="adj" fmla="val 20512"/>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ounded Rectangle 4"/>
          <p:cNvSpPr/>
          <p:nvPr/>
        </p:nvSpPr>
        <p:spPr>
          <a:xfrm>
            <a:off x="6524625" y="4219575"/>
            <a:ext cx="4781550" cy="371475"/>
          </a:xfrm>
          <a:prstGeom prst="roundRect">
            <a:avLst>
              <a:gd name="adj" fmla="val 20512"/>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609600" y="457200"/>
            <a:ext cx="1622239" cy="169277"/>
          </a:xfrm>
          <a:prstGeom prst="rect">
            <a:avLst/>
          </a:prstGeom>
          <a:noFill/>
        </p:spPr>
        <p:txBody>
          <a:bodyPr wrap="none" lIns="0" tIns="0" rIns="0" bIns="0" anchor="t">
            <a:spAutoFit/>
          </a:bodyPr>
          <a:lstStyle/>
          <a:p>
            <a:pPr algn="l"/>
            <a:r>
              <a:rPr sz="1100" b="1" i="0" u="none">
                <a:solidFill>
                  <a:srgbClr val="2563EB"/>
                </a:solidFill>
                <a:latin typeface="Be Vietnam Pro"/>
              </a:rPr>
              <a:t>5. MẤU CHỐT THUẬT TOÁN</a:t>
            </a:r>
          </a:p>
        </p:txBody>
      </p:sp>
      <p:sp>
        <p:nvSpPr>
          <p:cNvPr id="7" name="TextBox 6"/>
          <p:cNvSpPr txBox="1"/>
          <p:nvPr/>
        </p:nvSpPr>
        <p:spPr>
          <a:xfrm>
            <a:off x="609600" y="704850"/>
            <a:ext cx="5262531" cy="384721"/>
          </a:xfrm>
          <a:prstGeom prst="rect">
            <a:avLst/>
          </a:prstGeom>
          <a:noFill/>
        </p:spPr>
        <p:txBody>
          <a:bodyPr wrap="none" lIns="0" tIns="0" rIns="0" bIns="0" anchor="t">
            <a:spAutoFit/>
          </a:bodyPr>
          <a:lstStyle/>
          <a:p>
            <a:pPr algn="l">
              <a:lnSpc>
                <a:spcPts val="3000"/>
              </a:lnSpc>
            </a:pPr>
            <a:r>
              <a:rPr sz="2800" b="1" i="0" u="none">
                <a:solidFill>
                  <a:srgbClr val="0F172A"/>
                </a:solidFill>
                <a:latin typeface="Be Vietnam Pro"/>
              </a:rPr>
              <a:t>Định Lý Berge &amp; Thao Tác Đảo Cạnh</a:t>
            </a:r>
          </a:p>
        </p:txBody>
      </p:sp>
      <p:sp>
        <p:nvSpPr>
          <p:cNvPr id="8" name="TextBox 7"/>
          <p:cNvSpPr txBox="1"/>
          <p:nvPr/>
        </p:nvSpPr>
        <p:spPr>
          <a:xfrm>
            <a:off x="885825" y="2983408"/>
            <a:ext cx="1407116" cy="184666"/>
          </a:xfrm>
          <a:prstGeom prst="rect">
            <a:avLst/>
          </a:prstGeom>
          <a:noFill/>
        </p:spPr>
        <p:txBody>
          <a:bodyPr wrap="none" lIns="0" tIns="0" rIns="0" bIns="0" anchor="t">
            <a:spAutoFit/>
          </a:bodyPr>
          <a:lstStyle/>
          <a:p>
            <a:pPr algn="l"/>
            <a:r>
              <a:rPr sz="1200" b="1" i="0" u="none">
                <a:solidFill>
                  <a:srgbClr val="38BDF8"/>
                </a:solidFill>
                <a:latin typeface="Be Vietnam Pro"/>
              </a:rPr>
              <a:t>ĐỊNH LÝ BERGE (1957)</a:t>
            </a:r>
          </a:p>
        </p:txBody>
      </p:sp>
      <p:sp>
        <p:nvSpPr>
          <p:cNvPr id="9" name="TextBox 8"/>
          <p:cNvSpPr txBox="1"/>
          <p:nvPr/>
        </p:nvSpPr>
        <p:spPr>
          <a:xfrm>
            <a:off x="790575" y="3231058"/>
            <a:ext cx="5215890" cy="589905"/>
          </a:xfrm>
          <a:prstGeom prst="rect">
            <a:avLst/>
          </a:prstGeom>
          <a:noFill/>
        </p:spPr>
        <p:txBody>
          <a:bodyPr wrap="square" lIns="0" tIns="0" rIns="0" bIns="0" anchor="t">
            <a:spAutoFit/>
          </a:bodyPr>
          <a:lstStyle/>
          <a:p>
            <a:pPr algn="l">
              <a:lnSpc>
                <a:spcPts val="2340"/>
              </a:lnSpc>
            </a:pPr>
            <a:r>
              <a:rPr sz="2000" b="1" i="0" u="none">
                <a:solidFill>
                  <a:srgbClr val="FFFFFF"/>
                </a:solidFill>
                <a:latin typeface="Be Vietnam Pro"/>
              </a:rPr>
              <a:t>"Tập cặp ghép M đạt cực đại khi và chỉ khi KHÔNG tồn tại đường mở tương ứng với M."</a:t>
            </a:r>
          </a:p>
        </p:txBody>
      </p:sp>
      <p:sp>
        <p:nvSpPr>
          <p:cNvPr id="10" name="TextBox 9"/>
          <p:cNvSpPr txBox="1"/>
          <p:nvPr/>
        </p:nvSpPr>
        <p:spPr>
          <a:xfrm>
            <a:off x="885825" y="4274641"/>
            <a:ext cx="4876800" cy="457200"/>
          </a:xfrm>
          <a:prstGeom prst="rect">
            <a:avLst/>
          </a:prstGeom>
          <a:noFill/>
        </p:spPr>
        <p:txBody>
          <a:bodyPr wrap="square" lIns="0" tIns="0" rIns="0" bIns="0" anchor="t">
            <a:spAutoFit/>
          </a:bodyPr>
          <a:lstStyle/>
          <a:p>
            <a:pPr algn="l">
              <a:lnSpc>
                <a:spcPts val="1800"/>
              </a:lnSpc>
            </a:pPr>
            <a:r>
              <a:rPr sz="1600" b="0" i="0" u="none">
                <a:solidFill>
                  <a:srgbClr val="94A3B8"/>
                </a:solidFill>
                <a:latin typeface="Be Vietnam Pro"/>
              </a:rPr>
              <a:t>Mọi thuật toán tìm cặp ghép cực đại đều dựa trên tư tưởng: Liên tục tìm đường mở và mở rộng tập M.</a:t>
            </a:r>
          </a:p>
        </p:txBody>
      </p:sp>
      <p:sp>
        <p:nvSpPr>
          <p:cNvPr id="11" name="TextBox 10"/>
          <p:cNvSpPr txBox="1"/>
          <p:nvPr/>
        </p:nvSpPr>
        <p:spPr>
          <a:xfrm>
            <a:off x="6524625" y="2790825"/>
            <a:ext cx="1806777" cy="276999"/>
          </a:xfrm>
          <a:prstGeom prst="rect">
            <a:avLst/>
          </a:prstGeom>
          <a:noFill/>
        </p:spPr>
        <p:txBody>
          <a:bodyPr wrap="none" lIns="0" tIns="0" rIns="0" bIns="0" anchor="t">
            <a:spAutoFit/>
          </a:bodyPr>
          <a:lstStyle/>
          <a:p>
            <a:pPr algn="l"/>
            <a:r>
              <a:rPr b="1" i="0" u="none">
                <a:solidFill>
                  <a:srgbClr val="0F172A"/>
                </a:solidFill>
                <a:latin typeface="Be Vietnam Pro"/>
              </a:rPr>
              <a:t>Thao Tác Đảo Cạnh</a:t>
            </a:r>
          </a:p>
        </p:txBody>
      </p:sp>
      <p:sp>
        <p:nvSpPr>
          <p:cNvPr id="12" name="TextBox 11"/>
          <p:cNvSpPr txBox="1"/>
          <p:nvPr/>
        </p:nvSpPr>
        <p:spPr>
          <a:xfrm>
            <a:off x="6524625" y="3143250"/>
            <a:ext cx="4876800" cy="461665"/>
          </a:xfrm>
          <a:prstGeom prst="rect">
            <a:avLst/>
          </a:prstGeom>
          <a:noFill/>
        </p:spPr>
        <p:txBody>
          <a:bodyPr wrap="square" lIns="0" tIns="0" rIns="0" bIns="0" anchor="t">
            <a:spAutoFit/>
          </a:bodyPr>
          <a:lstStyle/>
          <a:p>
            <a:pPr algn="l">
              <a:lnSpc>
                <a:spcPts val="1800"/>
              </a:lnSpc>
            </a:pPr>
            <a:r>
              <a:rPr sz="1600" b="0" i="0" u="none">
                <a:solidFill>
                  <a:srgbClr val="475569"/>
                </a:solidFill>
                <a:latin typeface="Be Vietnam Pro"/>
              </a:rPr>
              <a:t>Khi tìm thấy đường mở P, biến đổi trạng thái các cạnh trên P:</a:t>
            </a:r>
          </a:p>
        </p:txBody>
      </p:sp>
      <p:sp>
        <p:nvSpPr>
          <p:cNvPr id="13" name="TextBox 12"/>
          <p:cNvSpPr txBox="1"/>
          <p:nvPr/>
        </p:nvSpPr>
        <p:spPr>
          <a:xfrm>
            <a:off x="6524625" y="4743450"/>
            <a:ext cx="3663311" cy="215444"/>
          </a:xfrm>
          <a:prstGeom prst="rect">
            <a:avLst/>
          </a:prstGeom>
          <a:noFill/>
        </p:spPr>
        <p:txBody>
          <a:bodyPr wrap="none" lIns="0" tIns="0" rIns="0" bIns="0" anchor="t">
            <a:spAutoFit/>
          </a:bodyPr>
          <a:lstStyle/>
          <a:p>
            <a:pPr algn="l"/>
            <a:r>
              <a:rPr sz="1400" b="1" i="0" u="none">
                <a:solidFill>
                  <a:srgbClr val="2563EB"/>
                </a:solidFill>
                <a:latin typeface="Be Vietnam Pro"/>
              </a:rPr>
              <a:t>Kích thước cặp ghép tăng đúng 1: |M'| = |M| + 1</a:t>
            </a:r>
          </a:p>
        </p:txBody>
      </p:sp>
      <p:sp>
        <p:nvSpPr>
          <p:cNvPr id="14" name="TextBox 13"/>
          <p:cNvSpPr txBox="1"/>
          <p:nvPr/>
        </p:nvSpPr>
        <p:spPr>
          <a:xfrm>
            <a:off x="6657975" y="3848100"/>
            <a:ext cx="4610100" cy="215444"/>
          </a:xfrm>
          <a:prstGeom prst="rect">
            <a:avLst/>
          </a:prstGeom>
          <a:noFill/>
        </p:spPr>
        <p:txBody>
          <a:bodyPr wrap="square" lIns="0" tIns="0" rIns="0" bIns="0" anchor="t">
            <a:spAutoFit/>
          </a:bodyPr>
          <a:lstStyle/>
          <a:p>
            <a:pPr algn="l"/>
            <a:r>
              <a:rPr sz="1400" b="1" i="0" u="none">
                <a:solidFill>
                  <a:srgbClr val="991B1B"/>
                </a:solidFill>
                <a:latin typeface="Be Vietnam Pro"/>
              </a:rPr>
              <a:t>Cạnh thuộc M </a:t>
            </a:r>
            <a:r>
              <a:rPr lang="en-US" sz="1400" b="1" i="0" u="none">
                <a:solidFill>
                  <a:srgbClr val="991B1B"/>
                </a:solidFill>
                <a:latin typeface="Be Vietnam Pro"/>
                <a:sym typeface="Wingdings" panose="05000000000000000000" pitchFamily="2" charset="2"/>
              </a:rPr>
              <a:t> </a:t>
            </a:r>
            <a:r>
              <a:rPr sz="1400" b="1" i="0" u="none">
                <a:solidFill>
                  <a:srgbClr val="991B1B"/>
                </a:solidFill>
                <a:latin typeface="Be Vietnam Pro"/>
              </a:rPr>
              <a:t>Loại khỏi M</a:t>
            </a:r>
          </a:p>
        </p:txBody>
      </p:sp>
      <p:sp>
        <p:nvSpPr>
          <p:cNvPr id="15" name="TextBox 14"/>
          <p:cNvSpPr txBox="1"/>
          <p:nvPr/>
        </p:nvSpPr>
        <p:spPr>
          <a:xfrm>
            <a:off x="6657975" y="4314825"/>
            <a:ext cx="4610100" cy="215444"/>
          </a:xfrm>
          <a:prstGeom prst="rect">
            <a:avLst/>
          </a:prstGeom>
          <a:noFill/>
        </p:spPr>
        <p:txBody>
          <a:bodyPr wrap="square" lIns="0" tIns="0" rIns="0" bIns="0" anchor="t">
            <a:spAutoFit/>
          </a:bodyPr>
          <a:lstStyle/>
          <a:p>
            <a:pPr algn="l"/>
            <a:r>
              <a:rPr sz="1400" b="1" i="0" u="none">
                <a:solidFill>
                  <a:srgbClr val="065F46"/>
                </a:solidFill>
                <a:latin typeface="Be Vietnam Pro"/>
              </a:rPr>
              <a:t>Cạnh tự do </a:t>
            </a:r>
            <a:r>
              <a:rPr lang="en-US" sz="1400" b="1">
                <a:solidFill>
                  <a:srgbClr val="065F46"/>
                </a:solidFill>
                <a:latin typeface="Be Vietnam Pro"/>
                <a:sym typeface="Wingdings" panose="05000000000000000000" pitchFamily="2" charset="2"/>
              </a:rPr>
              <a:t> </a:t>
            </a:r>
            <a:r>
              <a:rPr sz="1400" b="1" i="0" u="none">
                <a:solidFill>
                  <a:srgbClr val="065F46"/>
                </a:solidFill>
                <a:latin typeface="Be Vietnam Pro"/>
              </a:rPr>
              <a:t>Thêm vào 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419100" y="2152650"/>
            <a:ext cx="2600325" cy="19812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Rounded Rectangle 2"/>
          <p:cNvSpPr/>
          <p:nvPr/>
        </p:nvSpPr>
        <p:spPr>
          <a:xfrm>
            <a:off x="3209925" y="2152650"/>
            <a:ext cx="2600325" cy="19812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 name="Rounded Rectangle 3"/>
          <p:cNvSpPr/>
          <p:nvPr/>
        </p:nvSpPr>
        <p:spPr>
          <a:xfrm>
            <a:off x="6000750" y="2152650"/>
            <a:ext cx="2600325" cy="19812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Rounded Rectangle 4"/>
          <p:cNvSpPr/>
          <p:nvPr/>
        </p:nvSpPr>
        <p:spPr>
          <a:xfrm>
            <a:off x="8791575" y="2152650"/>
            <a:ext cx="2600325" cy="1981200"/>
          </a:xfrm>
          <a:prstGeom prst="roundRect">
            <a:avLst>
              <a:gd name="adj" fmla="val 7692"/>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ounded Rectangle 5"/>
          <p:cNvSpPr/>
          <p:nvPr/>
        </p:nvSpPr>
        <p:spPr>
          <a:xfrm>
            <a:off x="1528762" y="2428875"/>
            <a:ext cx="381000" cy="3810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Rounded Rectangle 6"/>
          <p:cNvSpPr/>
          <p:nvPr/>
        </p:nvSpPr>
        <p:spPr>
          <a:xfrm>
            <a:off x="4319587" y="2428875"/>
            <a:ext cx="381000" cy="3810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Rounded Rectangle 7"/>
          <p:cNvSpPr/>
          <p:nvPr/>
        </p:nvSpPr>
        <p:spPr>
          <a:xfrm>
            <a:off x="7110412" y="2428875"/>
            <a:ext cx="381000" cy="3810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Rounded Rectangle 8"/>
          <p:cNvSpPr/>
          <p:nvPr/>
        </p:nvSpPr>
        <p:spPr>
          <a:xfrm>
            <a:off x="9901237" y="2428875"/>
            <a:ext cx="381000" cy="3810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Be Vietnam Pro"/>
              </a:rPr>
              <a:t>6. CÁC BƯỚC THUẬT TOÁN</a:t>
            </a:r>
          </a:p>
        </p:txBody>
      </p:sp>
      <p:sp>
        <p:nvSpPr>
          <p:cNvPr id="11" name="TextBox 10"/>
          <p:cNvSpPr txBox="1"/>
          <p:nvPr/>
        </p:nvSpPr>
        <p:spPr>
          <a:xfrm>
            <a:off x="609600" y="704850"/>
            <a:ext cx="11582400" cy="381000"/>
          </a:xfrm>
          <a:prstGeom prst="rect">
            <a:avLst/>
          </a:prstGeom>
          <a:noFill/>
        </p:spPr>
        <p:txBody>
          <a:bodyPr wrap="none" lIns="0" tIns="0" rIns="0" bIns="0" anchor="t">
            <a:spAutoFit/>
          </a:bodyPr>
          <a:lstStyle/>
          <a:p>
            <a:pPr algn="l">
              <a:lnSpc>
                <a:spcPts val="3000"/>
              </a:lnSpc>
            </a:pPr>
            <a:r>
              <a:rPr sz="2400" b="1" i="0" u="none">
                <a:solidFill>
                  <a:srgbClr val="0F172A"/>
                </a:solidFill>
                <a:latin typeface="Be Vietnam Pro"/>
              </a:rPr>
              <a:t>Các Bước Thuật Toán Tìm Đường Mở (Kuhn)</a:t>
            </a:r>
          </a:p>
        </p:txBody>
      </p:sp>
      <p:sp>
        <p:nvSpPr>
          <p:cNvPr id="12" name="TextBox 11"/>
          <p:cNvSpPr txBox="1"/>
          <p:nvPr/>
        </p:nvSpPr>
        <p:spPr>
          <a:xfrm>
            <a:off x="1385887" y="2496265"/>
            <a:ext cx="666750" cy="246221"/>
          </a:xfrm>
          <a:prstGeom prst="rect">
            <a:avLst/>
          </a:prstGeom>
          <a:noFill/>
        </p:spPr>
        <p:txBody>
          <a:bodyPr wrap="square" lIns="0" tIns="0" rIns="0" bIns="0" anchor="ctr">
            <a:spAutoFit/>
          </a:bodyPr>
          <a:lstStyle/>
          <a:p>
            <a:pPr algn="ctr"/>
            <a:r>
              <a:rPr sz="1600" b="1" i="0" u="none">
                <a:solidFill>
                  <a:srgbClr val="FFFFFF"/>
                </a:solidFill>
                <a:latin typeface="Be Vietnam Pro"/>
              </a:rPr>
              <a:t>1</a:t>
            </a:r>
          </a:p>
        </p:txBody>
      </p:sp>
      <p:sp>
        <p:nvSpPr>
          <p:cNvPr id="13" name="TextBox 12"/>
          <p:cNvSpPr txBox="1"/>
          <p:nvPr/>
        </p:nvSpPr>
        <p:spPr>
          <a:xfrm>
            <a:off x="1346306" y="2962275"/>
            <a:ext cx="745910" cy="246221"/>
          </a:xfrm>
          <a:prstGeom prst="rect">
            <a:avLst/>
          </a:prstGeom>
          <a:noFill/>
        </p:spPr>
        <p:txBody>
          <a:bodyPr wrap="none" lIns="0" tIns="0" rIns="0" bIns="0" anchor="t">
            <a:spAutoFit/>
          </a:bodyPr>
          <a:lstStyle/>
          <a:p>
            <a:pPr algn="ctr"/>
            <a:r>
              <a:rPr sz="1600" b="1" i="0" u="none">
                <a:solidFill>
                  <a:srgbClr val="0F172A"/>
                </a:solidFill>
                <a:latin typeface="Be Vietnam Pro"/>
              </a:rPr>
              <a:t>Khởi Tạo</a:t>
            </a:r>
          </a:p>
        </p:txBody>
      </p:sp>
      <p:sp>
        <p:nvSpPr>
          <p:cNvPr id="14" name="TextBox 13"/>
          <p:cNvSpPr txBox="1"/>
          <p:nvPr/>
        </p:nvSpPr>
        <p:spPr>
          <a:xfrm>
            <a:off x="439340" y="3257550"/>
            <a:ext cx="2559843" cy="419987"/>
          </a:xfrm>
          <a:prstGeom prst="rect">
            <a:avLst/>
          </a:prstGeom>
          <a:noFill/>
        </p:spPr>
        <p:txBody>
          <a:bodyPr wrap="square" lIns="0" tIns="0" rIns="0" bIns="0" anchor="t">
            <a:spAutoFit/>
          </a:bodyPr>
          <a:lstStyle/>
          <a:p>
            <a:pPr algn="ctr">
              <a:lnSpc>
                <a:spcPts val="1575"/>
              </a:lnSpc>
            </a:pPr>
            <a:r>
              <a:rPr b="0" i="0" u="none">
                <a:solidFill>
                  <a:srgbClr val="475569"/>
                </a:solidFill>
                <a:latin typeface="Be Vietnam Pro"/>
              </a:rPr>
              <a:t>Khởi tạo tập cặp ghép rỗng M = </a:t>
            </a:r>
            <a:r>
              <a:rPr lang="en-US">
                <a:solidFill>
                  <a:srgbClr val="475569"/>
                </a:solidFill>
                <a:latin typeface="Be Vietnam Pro"/>
              </a:rPr>
              <a:t>{}</a:t>
            </a:r>
            <a:endParaRPr b="0" i="0" u="none">
              <a:solidFill>
                <a:srgbClr val="475569"/>
              </a:solidFill>
              <a:latin typeface="Be Vietnam Pro"/>
            </a:endParaRPr>
          </a:p>
        </p:txBody>
      </p:sp>
      <p:sp>
        <p:nvSpPr>
          <p:cNvPr id="15" name="TextBox 14"/>
          <p:cNvSpPr txBox="1"/>
          <p:nvPr/>
        </p:nvSpPr>
        <p:spPr>
          <a:xfrm>
            <a:off x="4176712" y="2496265"/>
            <a:ext cx="666750" cy="246221"/>
          </a:xfrm>
          <a:prstGeom prst="rect">
            <a:avLst/>
          </a:prstGeom>
          <a:noFill/>
        </p:spPr>
        <p:txBody>
          <a:bodyPr wrap="square" lIns="0" tIns="0" rIns="0" bIns="0" anchor="ctr">
            <a:spAutoFit/>
          </a:bodyPr>
          <a:lstStyle/>
          <a:p>
            <a:pPr algn="ctr"/>
            <a:r>
              <a:rPr sz="1600" b="1" i="0" u="none">
                <a:solidFill>
                  <a:srgbClr val="FFFFFF"/>
                </a:solidFill>
                <a:latin typeface="Be Vietnam Pro"/>
              </a:rPr>
              <a:t>2</a:t>
            </a:r>
          </a:p>
        </p:txBody>
      </p:sp>
      <p:sp>
        <p:nvSpPr>
          <p:cNvPr id="16" name="TextBox 15"/>
          <p:cNvSpPr txBox="1"/>
          <p:nvPr/>
        </p:nvSpPr>
        <p:spPr>
          <a:xfrm>
            <a:off x="3951696" y="2962275"/>
            <a:ext cx="1116781" cy="246221"/>
          </a:xfrm>
          <a:prstGeom prst="rect">
            <a:avLst/>
          </a:prstGeom>
          <a:noFill/>
        </p:spPr>
        <p:txBody>
          <a:bodyPr wrap="none" lIns="0" tIns="0" rIns="0" bIns="0" anchor="t">
            <a:spAutoFit/>
          </a:bodyPr>
          <a:lstStyle/>
          <a:p>
            <a:pPr algn="ctr"/>
            <a:r>
              <a:rPr sz="1600" b="1" i="0" u="none">
                <a:solidFill>
                  <a:srgbClr val="0F172A"/>
                </a:solidFill>
                <a:latin typeface="Be Vietnam Pro"/>
              </a:rPr>
              <a:t>Duyệt Đỉnh X</a:t>
            </a:r>
          </a:p>
        </p:txBody>
      </p:sp>
      <p:sp>
        <p:nvSpPr>
          <p:cNvPr id="17" name="TextBox 16"/>
          <p:cNvSpPr txBox="1"/>
          <p:nvPr/>
        </p:nvSpPr>
        <p:spPr>
          <a:xfrm>
            <a:off x="3230165" y="3257550"/>
            <a:ext cx="2559843" cy="830356"/>
          </a:xfrm>
          <a:prstGeom prst="rect">
            <a:avLst/>
          </a:prstGeom>
          <a:noFill/>
        </p:spPr>
        <p:txBody>
          <a:bodyPr wrap="square" lIns="0" tIns="0" rIns="0" bIns="0" anchor="t">
            <a:spAutoFit/>
          </a:bodyPr>
          <a:lstStyle/>
          <a:p>
            <a:pPr algn="ctr">
              <a:lnSpc>
                <a:spcPts val="1575"/>
              </a:lnSpc>
            </a:pPr>
            <a:r>
              <a:rPr b="0" i="0" u="none">
                <a:solidFill>
                  <a:srgbClr val="475569"/>
                </a:solidFill>
                <a:latin typeface="Be Vietnam Pro"/>
              </a:rPr>
              <a:t>Với mỗi đỉnh tự do u </a:t>
            </a:r>
            <a:r>
              <a:rPr lang="en-US" b="0" i="0" u="none">
                <a:solidFill>
                  <a:srgbClr val="475569"/>
                </a:solidFill>
                <a:latin typeface="Be Vietnam Pro"/>
              </a:rPr>
              <a:t>thuộc </a:t>
            </a:r>
            <a:r>
              <a:rPr b="0" i="0" u="none">
                <a:solidFill>
                  <a:srgbClr val="475569"/>
                </a:solidFill>
                <a:latin typeface="Be Vietnam Pro"/>
              </a:rPr>
              <a:t>X, thực hiện tìm đường mở xuất phát từ u bằng DFS/BFS.</a:t>
            </a:r>
          </a:p>
        </p:txBody>
      </p:sp>
      <p:sp>
        <p:nvSpPr>
          <p:cNvPr id="18" name="TextBox 17"/>
          <p:cNvSpPr txBox="1"/>
          <p:nvPr/>
        </p:nvSpPr>
        <p:spPr>
          <a:xfrm>
            <a:off x="6967537" y="2496265"/>
            <a:ext cx="666750" cy="246221"/>
          </a:xfrm>
          <a:prstGeom prst="rect">
            <a:avLst/>
          </a:prstGeom>
          <a:noFill/>
        </p:spPr>
        <p:txBody>
          <a:bodyPr wrap="square" lIns="0" tIns="0" rIns="0" bIns="0" anchor="ctr">
            <a:spAutoFit/>
          </a:bodyPr>
          <a:lstStyle/>
          <a:p>
            <a:pPr algn="ctr"/>
            <a:r>
              <a:rPr sz="1600" b="1" i="0" u="none">
                <a:solidFill>
                  <a:srgbClr val="FFFFFF"/>
                </a:solidFill>
                <a:latin typeface="Be Vietnam Pro"/>
              </a:rPr>
              <a:t>3</a:t>
            </a:r>
          </a:p>
        </p:txBody>
      </p:sp>
      <p:sp>
        <p:nvSpPr>
          <p:cNvPr id="19" name="TextBox 18"/>
          <p:cNvSpPr txBox="1"/>
          <p:nvPr/>
        </p:nvSpPr>
        <p:spPr>
          <a:xfrm>
            <a:off x="6692732" y="2962275"/>
            <a:ext cx="1216359" cy="246221"/>
          </a:xfrm>
          <a:prstGeom prst="rect">
            <a:avLst/>
          </a:prstGeom>
          <a:noFill/>
        </p:spPr>
        <p:txBody>
          <a:bodyPr wrap="none" lIns="0" tIns="0" rIns="0" bIns="0" anchor="t">
            <a:spAutoFit/>
          </a:bodyPr>
          <a:lstStyle/>
          <a:p>
            <a:pPr algn="ctr"/>
            <a:r>
              <a:rPr sz="1600" b="1" i="0" u="none">
                <a:solidFill>
                  <a:srgbClr val="0F172A"/>
                </a:solidFill>
                <a:latin typeface="Be Vietnam Pro"/>
              </a:rPr>
              <a:t>Cập Nhật $M$</a:t>
            </a:r>
          </a:p>
        </p:txBody>
      </p:sp>
      <p:sp>
        <p:nvSpPr>
          <p:cNvPr id="20" name="TextBox 19"/>
          <p:cNvSpPr txBox="1"/>
          <p:nvPr/>
        </p:nvSpPr>
        <p:spPr>
          <a:xfrm>
            <a:off x="6020990" y="3257550"/>
            <a:ext cx="2559843" cy="625171"/>
          </a:xfrm>
          <a:prstGeom prst="rect">
            <a:avLst/>
          </a:prstGeom>
          <a:noFill/>
        </p:spPr>
        <p:txBody>
          <a:bodyPr wrap="square" lIns="0" tIns="0" rIns="0" bIns="0" anchor="t">
            <a:spAutoFit/>
          </a:bodyPr>
          <a:lstStyle/>
          <a:p>
            <a:pPr algn="ctr">
              <a:lnSpc>
                <a:spcPts val="1575"/>
              </a:lnSpc>
            </a:pPr>
            <a:r>
              <a:rPr b="0" i="0" u="none">
                <a:solidFill>
                  <a:srgbClr val="475569"/>
                </a:solidFill>
                <a:latin typeface="Be Vietnam Pro"/>
              </a:rPr>
              <a:t>Nếu tìm thấy đường mở P, thực hiện đảo cạnh để tăng |M| thêm 1.</a:t>
            </a:r>
          </a:p>
        </p:txBody>
      </p:sp>
      <p:sp>
        <p:nvSpPr>
          <p:cNvPr id="21" name="TextBox 20"/>
          <p:cNvSpPr txBox="1"/>
          <p:nvPr/>
        </p:nvSpPr>
        <p:spPr>
          <a:xfrm>
            <a:off x="9758362" y="2496265"/>
            <a:ext cx="666750" cy="246221"/>
          </a:xfrm>
          <a:prstGeom prst="rect">
            <a:avLst/>
          </a:prstGeom>
          <a:noFill/>
        </p:spPr>
        <p:txBody>
          <a:bodyPr wrap="square" lIns="0" tIns="0" rIns="0" bIns="0" anchor="ctr">
            <a:spAutoFit/>
          </a:bodyPr>
          <a:lstStyle/>
          <a:p>
            <a:pPr algn="ctr"/>
            <a:r>
              <a:rPr sz="1600" b="1" i="0" u="none">
                <a:solidFill>
                  <a:srgbClr val="FFFFFF"/>
                </a:solidFill>
                <a:latin typeface="Be Vietnam Pro"/>
              </a:rPr>
              <a:t>4</a:t>
            </a:r>
          </a:p>
        </p:txBody>
      </p:sp>
      <p:sp>
        <p:nvSpPr>
          <p:cNvPr id="22" name="TextBox 21"/>
          <p:cNvSpPr txBox="1"/>
          <p:nvPr/>
        </p:nvSpPr>
        <p:spPr>
          <a:xfrm>
            <a:off x="9724007" y="2962275"/>
            <a:ext cx="735459" cy="246221"/>
          </a:xfrm>
          <a:prstGeom prst="rect">
            <a:avLst/>
          </a:prstGeom>
          <a:noFill/>
        </p:spPr>
        <p:txBody>
          <a:bodyPr wrap="none" lIns="0" tIns="0" rIns="0" bIns="0" anchor="t">
            <a:spAutoFit/>
          </a:bodyPr>
          <a:lstStyle/>
          <a:p>
            <a:pPr algn="ctr"/>
            <a:r>
              <a:rPr sz="1600" b="1" i="0" u="none">
                <a:solidFill>
                  <a:srgbClr val="0F172A"/>
                </a:solidFill>
                <a:latin typeface="Be Vietnam Pro"/>
              </a:rPr>
              <a:t>Kết Thúc</a:t>
            </a:r>
          </a:p>
        </p:txBody>
      </p:sp>
      <p:sp>
        <p:nvSpPr>
          <p:cNvPr id="23" name="TextBox 22"/>
          <p:cNvSpPr txBox="1"/>
          <p:nvPr/>
        </p:nvSpPr>
        <p:spPr>
          <a:xfrm>
            <a:off x="8811815" y="3257550"/>
            <a:ext cx="2559843" cy="625171"/>
          </a:xfrm>
          <a:prstGeom prst="rect">
            <a:avLst/>
          </a:prstGeom>
          <a:noFill/>
        </p:spPr>
        <p:txBody>
          <a:bodyPr wrap="square" lIns="0" tIns="0" rIns="0" bIns="0" anchor="t">
            <a:spAutoFit/>
          </a:bodyPr>
          <a:lstStyle/>
          <a:p>
            <a:pPr algn="ctr">
              <a:lnSpc>
                <a:spcPts val="1575"/>
              </a:lnSpc>
            </a:pPr>
            <a:r>
              <a:rPr b="0" i="0" u="none">
                <a:solidFill>
                  <a:srgbClr val="475569"/>
                </a:solidFill>
                <a:latin typeface="Be Vietnam Pro"/>
              </a:rPr>
              <a:t>Thuật toán dừng khi không thể tìm thêm đường mở nào nữa. Trả về |M|.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107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a:extLst>
              <a:ext uri="{FF2B5EF4-FFF2-40B4-BE49-F238E27FC236}">
                <a16:creationId xmlns:a16="http://schemas.microsoft.com/office/drawing/2014/main" id="{A37A40E8-9576-384B-F367-66F3DD22F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3">
            <a:extLst>
              <a:ext uri="{FF2B5EF4-FFF2-40B4-BE49-F238E27FC236}">
                <a16:creationId xmlns:a16="http://schemas.microsoft.com/office/drawing/2014/main" id="{416C49E0-F054-5165-9EF6-E267D223997D}"/>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Labelling Algorithm </a:t>
            </a:r>
          </a:p>
        </p:txBody>
      </p:sp>
      <p:sp>
        <p:nvSpPr>
          <p:cNvPr id="14340" name="Rectangle 4">
            <a:extLst>
              <a:ext uri="{FF2B5EF4-FFF2-40B4-BE49-F238E27FC236}">
                <a16:creationId xmlns:a16="http://schemas.microsoft.com/office/drawing/2014/main" id="{49ADD844-4678-E176-3361-F7FFF364D14F}"/>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Bắt đầu bằng cặp ghép bất kỳ</a:t>
            </a:r>
          </a:p>
        </p:txBody>
      </p:sp>
      <p:pic>
        <p:nvPicPr>
          <p:cNvPr id="14341" name="Picture 5">
            <a:extLst>
              <a:ext uri="{FF2B5EF4-FFF2-40B4-BE49-F238E27FC236}">
                <a16:creationId xmlns:a16="http://schemas.microsoft.com/office/drawing/2014/main" id="{3D2D2854-54F2-081B-DF85-C6A7CA1E8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a:extLst>
              <a:ext uri="{FF2B5EF4-FFF2-40B4-BE49-F238E27FC236}">
                <a16:creationId xmlns:a16="http://schemas.microsoft.com/office/drawing/2014/main" id="{26E4C792-7881-5E10-EECC-CE09BA25E2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9146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7">
            <a:extLst>
              <a:ext uri="{FF2B5EF4-FFF2-40B4-BE49-F238E27FC236}">
                <a16:creationId xmlns:a16="http://schemas.microsoft.com/office/drawing/2014/main" id="{FEBDAB5C-117B-CE2D-1833-7DA3D33239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9146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8">
            <a:extLst>
              <a:ext uri="{FF2B5EF4-FFF2-40B4-BE49-F238E27FC236}">
                <a16:creationId xmlns:a16="http://schemas.microsoft.com/office/drawing/2014/main" id="{867D3016-1117-AAB4-0FBF-584B0CFF5C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9" y="29146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9">
            <a:extLst>
              <a:ext uri="{FF2B5EF4-FFF2-40B4-BE49-F238E27FC236}">
                <a16:creationId xmlns:a16="http://schemas.microsoft.com/office/drawing/2014/main" id="{41D24F12-A9D9-8DE3-E80B-6A6E9268D48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6" name="Picture 10">
            <a:extLst>
              <a:ext uri="{FF2B5EF4-FFF2-40B4-BE49-F238E27FC236}">
                <a16:creationId xmlns:a16="http://schemas.microsoft.com/office/drawing/2014/main" id="{BA57C059-317D-7781-EE61-5A45226E5B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7888"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7" name="Picture 11">
            <a:extLst>
              <a:ext uri="{FF2B5EF4-FFF2-40B4-BE49-F238E27FC236}">
                <a16:creationId xmlns:a16="http://schemas.microsoft.com/office/drawing/2014/main" id="{6F9028A5-A1EA-C608-FF5C-AA2148A058D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48577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Picture 12">
            <a:extLst>
              <a:ext uri="{FF2B5EF4-FFF2-40B4-BE49-F238E27FC236}">
                <a16:creationId xmlns:a16="http://schemas.microsoft.com/office/drawing/2014/main" id="{FAB6F883-646E-6529-6BD3-00C40B94F63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7850" y="48577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13">
            <a:extLst>
              <a:ext uri="{FF2B5EF4-FFF2-40B4-BE49-F238E27FC236}">
                <a16:creationId xmlns:a16="http://schemas.microsoft.com/office/drawing/2014/main" id="{548B6696-A60D-2BFC-523D-BFEE7273861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32589" y="48577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14">
            <a:extLst>
              <a:ext uri="{FF2B5EF4-FFF2-40B4-BE49-F238E27FC236}">
                <a16:creationId xmlns:a16="http://schemas.microsoft.com/office/drawing/2014/main" id="{07D359F5-4B5A-4BEB-C5EF-3F76359311C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1" name="Picture 15">
            <a:extLst>
              <a:ext uri="{FF2B5EF4-FFF2-40B4-BE49-F238E27FC236}">
                <a16:creationId xmlns:a16="http://schemas.microsoft.com/office/drawing/2014/main" id="{50AD8BA3-C276-51BB-69E1-D157E082CAA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4776" y="3408364"/>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2" name="Picture 16">
            <a:extLst>
              <a:ext uri="{FF2B5EF4-FFF2-40B4-BE49-F238E27FC236}">
                <a16:creationId xmlns:a16="http://schemas.microsoft.com/office/drawing/2014/main" id="{4D902525-A40C-D9BB-4B44-43F1EF4EC7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4750" y="3494089"/>
            <a:ext cx="190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3" name="Picture 17">
            <a:extLst>
              <a:ext uri="{FF2B5EF4-FFF2-40B4-BE49-F238E27FC236}">
                <a16:creationId xmlns:a16="http://schemas.microsoft.com/office/drawing/2014/main" id="{F91B3FC8-63A6-6370-8595-0A7133A541C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67301" y="3408364"/>
            <a:ext cx="197167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4" name="Picture 18">
            <a:extLst>
              <a:ext uri="{FF2B5EF4-FFF2-40B4-BE49-F238E27FC236}">
                <a16:creationId xmlns:a16="http://schemas.microsoft.com/office/drawing/2014/main" id="{C00E08E3-9A89-EF0B-5DDE-6D25CEA308D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7276" y="3494088"/>
            <a:ext cx="10953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5" name="Picture 19">
            <a:extLst>
              <a:ext uri="{FF2B5EF4-FFF2-40B4-BE49-F238E27FC236}">
                <a16:creationId xmlns:a16="http://schemas.microsoft.com/office/drawing/2014/main" id="{AE9D5F74-3C1B-0F12-BA0A-ADA152103CD3}"/>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5701" y="3400425"/>
            <a:ext cx="10001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6" name="Picture 20">
            <a:extLst>
              <a:ext uri="{FF2B5EF4-FFF2-40B4-BE49-F238E27FC236}">
                <a16:creationId xmlns:a16="http://schemas.microsoft.com/office/drawing/2014/main" id="{9E96796C-A8B5-02F2-7CF9-903A552D2A7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1" y="34083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7" name="Picture 21">
            <a:extLst>
              <a:ext uri="{FF2B5EF4-FFF2-40B4-BE49-F238E27FC236}">
                <a16:creationId xmlns:a16="http://schemas.microsoft.com/office/drawing/2014/main" id="{402D787E-A7BF-77AB-E300-791077CDCE2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8" name="Picture 22">
            <a:extLst>
              <a:ext uri="{FF2B5EF4-FFF2-40B4-BE49-F238E27FC236}">
                <a16:creationId xmlns:a16="http://schemas.microsoft.com/office/drawing/2014/main" id="{0223882D-B33E-CB56-74BF-1E7FF892D7D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53151" y="34083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9" name="Picture 23">
            <a:extLst>
              <a:ext uri="{FF2B5EF4-FFF2-40B4-BE49-F238E27FC236}">
                <a16:creationId xmlns:a16="http://schemas.microsoft.com/office/drawing/2014/main" id="{1081A775-42B6-A392-8F3F-E76A7AA1DFB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24550" y="3400425"/>
            <a:ext cx="93503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0" name="Picture 24">
            <a:extLst>
              <a:ext uri="{FF2B5EF4-FFF2-40B4-BE49-F238E27FC236}">
                <a16:creationId xmlns:a16="http://schemas.microsoft.com/office/drawing/2014/main" id="{9207FC8D-2BEA-6906-84AA-029B1C08D86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18339" y="3494089"/>
            <a:ext cx="2222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1" name="Picture 25">
            <a:extLst>
              <a:ext uri="{FF2B5EF4-FFF2-40B4-BE49-F238E27FC236}">
                <a16:creationId xmlns:a16="http://schemas.microsoft.com/office/drawing/2014/main" id="{D1A5FE55-BDB7-F03E-E1F9-01E0EAB2C85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67276" y="3408364"/>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a:extLst>
              <a:ext uri="{FF2B5EF4-FFF2-40B4-BE49-F238E27FC236}">
                <a16:creationId xmlns:a16="http://schemas.microsoft.com/office/drawing/2014/main" id="{BE3A20D8-6E6D-A44B-7ADD-1B80808AB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3">
            <a:extLst>
              <a:ext uri="{FF2B5EF4-FFF2-40B4-BE49-F238E27FC236}">
                <a16:creationId xmlns:a16="http://schemas.microsoft.com/office/drawing/2014/main" id="{91262223-E08B-1536-EBAB-1825E51BCADC}"/>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Labelling Algorithm </a:t>
            </a:r>
          </a:p>
        </p:txBody>
      </p:sp>
      <p:sp>
        <p:nvSpPr>
          <p:cNvPr id="15364" name="Rectangle 4">
            <a:extLst>
              <a:ext uri="{FF2B5EF4-FFF2-40B4-BE49-F238E27FC236}">
                <a16:creationId xmlns:a16="http://schemas.microsoft.com/office/drawing/2014/main" id="{BD16076B-15A1-0A5B-606E-B66FFE0EF612}"/>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Chọn một đỉnh tự do</a:t>
            </a:r>
          </a:p>
        </p:txBody>
      </p:sp>
      <p:pic>
        <p:nvPicPr>
          <p:cNvPr id="15365" name="Picture 5">
            <a:extLst>
              <a:ext uri="{FF2B5EF4-FFF2-40B4-BE49-F238E27FC236}">
                <a16:creationId xmlns:a16="http://schemas.microsoft.com/office/drawing/2014/main" id="{1BB0C0D3-3741-5CDD-102A-AFEB40A27F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6">
            <a:extLst>
              <a:ext uri="{FF2B5EF4-FFF2-40B4-BE49-F238E27FC236}">
                <a16:creationId xmlns:a16="http://schemas.microsoft.com/office/drawing/2014/main" id="{B8974820-77E6-CD42-74D4-F0ED102BE2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9146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7">
            <a:extLst>
              <a:ext uri="{FF2B5EF4-FFF2-40B4-BE49-F238E27FC236}">
                <a16:creationId xmlns:a16="http://schemas.microsoft.com/office/drawing/2014/main" id="{51807558-910E-C7BD-7360-5536A98343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9146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8">
            <a:extLst>
              <a:ext uri="{FF2B5EF4-FFF2-40B4-BE49-F238E27FC236}">
                <a16:creationId xmlns:a16="http://schemas.microsoft.com/office/drawing/2014/main" id="{F78B4733-B957-E02C-B786-2D9B61C9B7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9" y="29146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9">
            <a:extLst>
              <a:ext uri="{FF2B5EF4-FFF2-40B4-BE49-F238E27FC236}">
                <a16:creationId xmlns:a16="http://schemas.microsoft.com/office/drawing/2014/main" id="{85D0B791-285E-F86F-0902-6D85A008D9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0">
            <a:extLst>
              <a:ext uri="{FF2B5EF4-FFF2-40B4-BE49-F238E27FC236}">
                <a16:creationId xmlns:a16="http://schemas.microsoft.com/office/drawing/2014/main" id="{02587E9D-E76E-92AE-447E-982ADE77B3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7888"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11">
            <a:extLst>
              <a:ext uri="{FF2B5EF4-FFF2-40B4-BE49-F238E27FC236}">
                <a16:creationId xmlns:a16="http://schemas.microsoft.com/office/drawing/2014/main" id="{76DB5A09-2110-9205-9891-7A52D416095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48577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12">
            <a:extLst>
              <a:ext uri="{FF2B5EF4-FFF2-40B4-BE49-F238E27FC236}">
                <a16:creationId xmlns:a16="http://schemas.microsoft.com/office/drawing/2014/main" id="{67B3FC0F-8AED-69A3-7863-B467C16A33B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7850" y="48577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3" name="Picture 13">
            <a:extLst>
              <a:ext uri="{FF2B5EF4-FFF2-40B4-BE49-F238E27FC236}">
                <a16:creationId xmlns:a16="http://schemas.microsoft.com/office/drawing/2014/main" id="{3BA946C3-42B3-58CD-77D0-6068AE41220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24651" y="4848226"/>
            <a:ext cx="6207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4" name="Picture 14">
            <a:extLst>
              <a:ext uri="{FF2B5EF4-FFF2-40B4-BE49-F238E27FC236}">
                <a16:creationId xmlns:a16="http://schemas.microsoft.com/office/drawing/2014/main" id="{999B1241-9E83-7AD4-1D5E-E40E183E303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5" name="Picture 15">
            <a:extLst>
              <a:ext uri="{FF2B5EF4-FFF2-40B4-BE49-F238E27FC236}">
                <a16:creationId xmlns:a16="http://schemas.microsoft.com/office/drawing/2014/main" id="{0BC1C354-3566-31FF-C29B-4832A70E39D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4776" y="3408364"/>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6" name="Picture 16">
            <a:extLst>
              <a:ext uri="{FF2B5EF4-FFF2-40B4-BE49-F238E27FC236}">
                <a16:creationId xmlns:a16="http://schemas.microsoft.com/office/drawing/2014/main" id="{42997478-347D-864C-ED9D-7EB54C6C9D5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4750" y="3494089"/>
            <a:ext cx="190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7" name="Picture 17">
            <a:extLst>
              <a:ext uri="{FF2B5EF4-FFF2-40B4-BE49-F238E27FC236}">
                <a16:creationId xmlns:a16="http://schemas.microsoft.com/office/drawing/2014/main" id="{63F0F32F-A0CC-C25A-AD1F-A25DD0C65DA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67301" y="3408364"/>
            <a:ext cx="1971675" cy="144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8" name="Picture 18">
            <a:extLst>
              <a:ext uri="{FF2B5EF4-FFF2-40B4-BE49-F238E27FC236}">
                <a16:creationId xmlns:a16="http://schemas.microsoft.com/office/drawing/2014/main" id="{133B1EB8-6731-E2A3-01A6-2A4404BA645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7276" y="3494088"/>
            <a:ext cx="10953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9" name="Picture 19">
            <a:extLst>
              <a:ext uri="{FF2B5EF4-FFF2-40B4-BE49-F238E27FC236}">
                <a16:creationId xmlns:a16="http://schemas.microsoft.com/office/drawing/2014/main" id="{346C7FD6-2CD1-AF66-66B3-E7D3E2C01EE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5701" y="3400425"/>
            <a:ext cx="10001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0" name="Picture 20">
            <a:extLst>
              <a:ext uri="{FF2B5EF4-FFF2-40B4-BE49-F238E27FC236}">
                <a16:creationId xmlns:a16="http://schemas.microsoft.com/office/drawing/2014/main" id="{1ADD600F-126B-D525-B53D-7BFBA127BAA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1" y="34083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1" name="Picture 21">
            <a:extLst>
              <a:ext uri="{FF2B5EF4-FFF2-40B4-BE49-F238E27FC236}">
                <a16:creationId xmlns:a16="http://schemas.microsoft.com/office/drawing/2014/main" id="{D4B57E4B-A06C-7A96-6B5D-612CBCA592C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2" name="Picture 22">
            <a:extLst>
              <a:ext uri="{FF2B5EF4-FFF2-40B4-BE49-F238E27FC236}">
                <a16:creationId xmlns:a16="http://schemas.microsoft.com/office/drawing/2014/main" id="{660867D1-2FF8-942F-CCEA-7EDE5133E43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53151" y="34083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3" name="Picture 23">
            <a:extLst>
              <a:ext uri="{FF2B5EF4-FFF2-40B4-BE49-F238E27FC236}">
                <a16:creationId xmlns:a16="http://schemas.microsoft.com/office/drawing/2014/main" id="{BC333931-1F8D-E341-C70D-BCEC668D290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24550" y="3400425"/>
            <a:ext cx="93503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4" name="Picture 24">
            <a:extLst>
              <a:ext uri="{FF2B5EF4-FFF2-40B4-BE49-F238E27FC236}">
                <a16:creationId xmlns:a16="http://schemas.microsoft.com/office/drawing/2014/main" id="{24E0C19F-AF7A-1C29-D234-B072F674A4A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18339" y="3494089"/>
            <a:ext cx="2222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5" name="Picture 25">
            <a:extLst>
              <a:ext uri="{FF2B5EF4-FFF2-40B4-BE49-F238E27FC236}">
                <a16:creationId xmlns:a16="http://schemas.microsoft.com/office/drawing/2014/main" id="{D7433734-66A3-DCDC-FCF8-219E0E6E466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67276" y="3408364"/>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8FA2BAB4-29DE-ED27-3AD9-7D2EB4634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3">
            <a:extLst>
              <a:ext uri="{FF2B5EF4-FFF2-40B4-BE49-F238E27FC236}">
                <a16:creationId xmlns:a16="http://schemas.microsoft.com/office/drawing/2014/main" id="{9B957710-4C09-EE0E-1105-6DE90D2F7043}"/>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Labelling Algorithm </a:t>
            </a:r>
          </a:p>
        </p:txBody>
      </p:sp>
      <p:sp>
        <p:nvSpPr>
          <p:cNvPr id="16388" name="Rectangle 4">
            <a:extLst>
              <a:ext uri="{FF2B5EF4-FFF2-40B4-BE49-F238E27FC236}">
                <a16:creationId xmlns:a16="http://schemas.microsoft.com/office/drawing/2014/main" id="{60E9583B-5193-B174-942B-1BF118E7BF32}"/>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Chạy BFS</a:t>
            </a:r>
          </a:p>
        </p:txBody>
      </p:sp>
      <p:pic>
        <p:nvPicPr>
          <p:cNvPr id="16389" name="Picture 5">
            <a:extLst>
              <a:ext uri="{FF2B5EF4-FFF2-40B4-BE49-F238E27FC236}">
                <a16:creationId xmlns:a16="http://schemas.microsoft.com/office/drawing/2014/main" id="{9E61C8F2-811F-C585-6EB1-7619EB6CA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6">
            <a:extLst>
              <a:ext uri="{FF2B5EF4-FFF2-40B4-BE49-F238E27FC236}">
                <a16:creationId xmlns:a16="http://schemas.microsoft.com/office/drawing/2014/main" id="{A642E302-AD50-4A34-AD8E-A1ACBB2D7E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9146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7">
            <a:extLst>
              <a:ext uri="{FF2B5EF4-FFF2-40B4-BE49-F238E27FC236}">
                <a16:creationId xmlns:a16="http://schemas.microsoft.com/office/drawing/2014/main" id="{F6EFA8C9-71E4-7CF0-EA2F-01B3EE365D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9146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Picture 8">
            <a:extLst>
              <a:ext uri="{FF2B5EF4-FFF2-40B4-BE49-F238E27FC236}">
                <a16:creationId xmlns:a16="http://schemas.microsoft.com/office/drawing/2014/main" id="{03606F71-D294-F70D-B8B3-B62C2F67F9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9" y="2914650"/>
            <a:ext cx="593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3" name="Picture 9">
            <a:extLst>
              <a:ext uri="{FF2B5EF4-FFF2-40B4-BE49-F238E27FC236}">
                <a16:creationId xmlns:a16="http://schemas.microsoft.com/office/drawing/2014/main" id="{D2437DEB-620A-3E46-9CB9-A96BD71388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10">
            <a:extLst>
              <a:ext uri="{FF2B5EF4-FFF2-40B4-BE49-F238E27FC236}">
                <a16:creationId xmlns:a16="http://schemas.microsoft.com/office/drawing/2014/main" id="{CBF011CD-A901-931B-3C4D-385CDD9E5E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7888"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11">
            <a:extLst>
              <a:ext uri="{FF2B5EF4-FFF2-40B4-BE49-F238E27FC236}">
                <a16:creationId xmlns:a16="http://schemas.microsoft.com/office/drawing/2014/main" id="{94ECFD0C-4C29-19EE-5FBB-57AA0D0563B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48577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6" name="Picture 12">
            <a:extLst>
              <a:ext uri="{FF2B5EF4-FFF2-40B4-BE49-F238E27FC236}">
                <a16:creationId xmlns:a16="http://schemas.microsoft.com/office/drawing/2014/main" id="{6160CA05-5D59-5A7F-C89F-6F483BC082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7850" y="48577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7" name="Picture 13">
            <a:extLst>
              <a:ext uri="{FF2B5EF4-FFF2-40B4-BE49-F238E27FC236}">
                <a16:creationId xmlns:a16="http://schemas.microsoft.com/office/drawing/2014/main" id="{EA133D89-7D8E-F18F-3073-B07B702C58D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24651" y="4848226"/>
            <a:ext cx="6207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8" name="Picture 14">
            <a:extLst>
              <a:ext uri="{FF2B5EF4-FFF2-40B4-BE49-F238E27FC236}">
                <a16:creationId xmlns:a16="http://schemas.microsoft.com/office/drawing/2014/main" id="{32B60DB3-41DA-EF99-3D35-99D63063460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9" name="Picture 15">
            <a:extLst>
              <a:ext uri="{FF2B5EF4-FFF2-40B4-BE49-F238E27FC236}">
                <a16:creationId xmlns:a16="http://schemas.microsoft.com/office/drawing/2014/main" id="{0C25A82A-DAEA-F048-3993-C77ADE2186C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4776" y="3408364"/>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0" name="Picture 16">
            <a:extLst>
              <a:ext uri="{FF2B5EF4-FFF2-40B4-BE49-F238E27FC236}">
                <a16:creationId xmlns:a16="http://schemas.microsoft.com/office/drawing/2014/main" id="{2C42EC8E-B597-6F9C-8986-51E27A2F752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4750" y="3494089"/>
            <a:ext cx="190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1" name="Picture 17">
            <a:extLst>
              <a:ext uri="{FF2B5EF4-FFF2-40B4-BE49-F238E27FC236}">
                <a16:creationId xmlns:a16="http://schemas.microsoft.com/office/drawing/2014/main" id="{D06FFB98-26EB-1358-EA17-C1697C76D6B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67301" y="3408364"/>
            <a:ext cx="1971675" cy="144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2" name="Picture 18">
            <a:extLst>
              <a:ext uri="{FF2B5EF4-FFF2-40B4-BE49-F238E27FC236}">
                <a16:creationId xmlns:a16="http://schemas.microsoft.com/office/drawing/2014/main" id="{6C24F042-6B01-4247-0C1D-61FC289B75F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7276" y="3494088"/>
            <a:ext cx="10953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3" name="Picture 19">
            <a:extLst>
              <a:ext uri="{FF2B5EF4-FFF2-40B4-BE49-F238E27FC236}">
                <a16:creationId xmlns:a16="http://schemas.microsoft.com/office/drawing/2014/main" id="{14DE7440-844F-6312-270C-9D55D6BBC23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5701" y="3400425"/>
            <a:ext cx="10001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4" name="Picture 20">
            <a:extLst>
              <a:ext uri="{FF2B5EF4-FFF2-40B4-BE49-F238E27FC236}">
                <a16:creationId xmlns:a16="http://schemas.microsoft.com/office/drawing/2014/main" id="{ACDBFAF8-97AA-FB5B-D284-6E8A18693E3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1" y="34083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5" name="Picture 21">
            <a:extLst>
              <a:ext uri="{FF2B5EF4-FFF2-40B4-BE49-F238E27FC236}">
                <a16:creationId xmlns:a16="http://schemas.microsoft.com/office/drawing/2014/main" id="{6924731B-9ACC-65BA-3898-B9D6A0CA69E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6" name="Picture 22">
            <a:extLst>
              <a:ext uri="{FF2B5EF4-FFF2-40B4-BE49-F238E27FC236}">
                <a16:creationId xmlns:a16="http://schemas.microsoft.com/office/drawing/2014/main" id="{90360715-3070-857C-1D63-A4EEE005491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53151" y="34083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7" name="Picture 23">
            <a:extLst>
              <a:ext uri="{FF2B5EF4-FFF2-40B4-BE49-F238E27FC236}">
                <a16:creationId xmlns:a16="http://schemas.microsoft.com/office/drawing/2014/main" id="{1DDB40CB-3945-28E1-EAA1-BA03BA6299C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24550" y="3400425"/>
            <a:ext cx="93503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8" name="Picture 24">
            <a:extLst>
              <a:ext uri="{FF2B5EF4-FFF2-40B4-BE49-F238E27FC236}">
                <a16:creationId xmlns:a16="http://schemas.microsoft.com/office/drawing/2014/main" id="{A45EC3B2-049B-9063-98E3-A3BD8AF5DF6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18339" y="3494089"/>
            <a:ext cx="2222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9" name="Picture 25">
            <a:extLst>
              <a:ext uri="{FF2B5EF4-FFF2-40B4-BE49-F238E27FC236}">
                <a16:creationId xmlns:a16="http://schemas.microsoft.com/office/drawing/2014/main" id="{9B34E09F-14DB-323B-A5BA-B89D6A89B17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67276" y="3408364"/>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a:extLst>
              <a:ext uri="{FF2B5EF4-FFF2-40B4-BE49-F238E27FC236}">
                <a16:creationId xmlns:a16="http://schemas.microsoft.com/office/drawing/2014/main" id="{F0438928-0240-8600-735C-E07EF13CF3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3">
            <a:extLst>
              <a:ext uri="{FF2B5EF4-FFF2-40B4-BE49-F238E27FC236}">
                <a16:creationId xmlns:a16="http://schemas.microsoft.com/office/drawing/2014/main" id="{B8D61771-8093-5A32-2008-E854F57B2E3B}"/>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Labelling Algorithm </a:t>
            </a:r>
          </a:p>
        </p:txBody>
      </p:sp>
      <p:sp>
        <p:nvSpPr>
          <p:cNvPr id="17412" name="Rectangle 4">
            <a:extLst>
              <a:ext uri="{FF2B5EF4-FFF2-40B4-BE49-F238E27FC236}">
                <a16:creationId xmlns:a16="http://schemas.microsoft.com/office/drawing/2014/main" id="{3D6E7F9D-63AC-69BE-0D08-BD10D3AAB6AD}"/>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Tìm đường pha</a:t>
            </a:r>
          </a:p>
        </p:txBody>
      </p:sp>
      <p:pic>
        <p:nvPicPr>
          <p:cNvPr id="17413" name="Picture 5">
            <a:extLst>
              <a:ext uri="{FF2B5EF4-FFF2-40B4-BE49-F238E27FC236}">
                <a16:creationId xmlns:a16="http://schemas.microsoft.com/office/drawing/2014/main" id="{F81C5A9D-8A04-2103-8EAF-76071D3AB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6">
            <a:extLst>
              <a:ext uri="{FF2B5EF4-FFF2-40B4-BE49-F238E27FC236}">
                <a16:creationId xmlns:a16="http://schemas.microsoft.com/office/drawing/2014/main" id="{9FF33B8E-4E9F-7B16-5AA6-49210933D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951"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7">
            <a:extLst>
              <a:ext uri="{FF2B5EF4-FFF2-40B4-BE49-F238E27FC236}">
                <a16:creationId xmlns:a16="http://schemas.microsoft.com/office/drawing/2014/main" id="{665B14A5-CB62-8247-597C-085BCAC437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9146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8">
            <a:extLst>
              <a:ext uri="{FF2B5EF4-FFF2-40B4-BE49-F238E27FC236}">
                <a16:creationId xmlns:a16="http://schemas.microsoft.com/office/drawing/2014/main" id="{BB0B3423-EE7A-0567-229C-9388D5F0CA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5126"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9">
            <a:extLst>
              <a:ext uri="{FF2B5EF4-FFF2-40B4-BE49-F238E27FC236}">
                <a16:creationId xmlns:a16="http://schemas.microsoft.com/office/drawing/2014/main" id="{58ABA2F3-6BF3-6197-69E4-5C63D84268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Picture 10">
            <a:extLst>
              <a:ext uri="{FF2B5EF4-FFF2-40B4-BE49-F238E27FC236}">
                <a16:creationId xmlns:a16="http://schemas.microsoft.com/office/drawing/2014/main" id="{722E32EB-B6FB-B6F4-4753-0028505816B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7888"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11">
            <a:extLst>
              <a:ext uri="{FF2B5EF4-FFF2-40B4-BE49-F238E27FC236}">
                <a16:creationId xmlns:a16="http://schemas.microsoft.com/office/drawing/2014/main" id="{7879E033-33B0-3B5D-38FA-32C42FDCE3A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48577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0" name="Picture 12">
            <a:extLst>
              <a:ext uri="{FF2B5EF4-FFF2-40B4-BE49-F238E27FC236}">
                <a16:creationId xmlns:a16="http://schemas.microsoft.com/office/drawing/2014/main" id="{FEC03A06-A5C9-F41F-AF3D-7ABA96A2A3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7850" y="48577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Picture 13">
            <a:extLst>
              <a:ext uri="{FF2B5EF4-FFF2-40B4-BE49-F238E27FC236}">
                <a16:creationId xmlns:a16="http://schemas.microsoft.com/office/drawing/2014/main" id="{773F9C27-F421-D0A4-787B-7BB0503E50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512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2" name="Picture 14">
            <a:extLst>
              <a:ext uri="{FF2B5EF4-FFF2-40B4-BE49-F238E27FC236}">
                <a16:creationId xmlns:a16="http://schemas.microsoft.com/office/drawing/2014/main" id="{9E79872D-DB16-EF80-48C1-46132F8C9E8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3" name="Picture 15">
            <a:extLst>
              <a:ext uri="{FF2B5EF4-FFF2-40B4-BE49-F238E27FC236}">
                <a16:creationId xmlns:a16="http://schemas.microsoft.com/office/drawing/2014/main" id="{906E8753-0906-7F25-5044-4D21D77506D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4776" y="3408364"/>
            <a:ext cx="9620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4" name="Picture 16">
            <a:extLst>
              <a:ext uri="{FF2B5EF4-FFF2-40B4-BE49-F238E27FC236}">
                <a16:creationId xmlns:a16="http://schemas.microsoft.com/office/drawing/2014/main" id="{064415FA-92E4-619D-561C-5C142AD30A8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14750" y="3494089"/>
            <a:ext cx="190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5" name="Picture 17">
            <a:extLst>
              <a:ext uri="{FF2B5EF4-FFF2-40B4-BE49-F238E27FC236}">
                <a16:creationId xmlns:a16="http://schemas.microsoft.com/office/drawing/2014/main" id="{A94AE70B-A8C1-D911-8B35-40D7034B589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57776" y="3429000"/>
            <a:ext cx="19907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6" name="Picture 18">
            <a:extLst>
              <a:ext uri="{FF2B5EF4-FFF2-40B4-BE49-F238E27FC236}">
                <a16:creationId xmlns:a16="http://schemas.microsoft.com/office/drawing/2014/main" id="{6F6172F1-3FBB-5D80-625A-842CF6738C6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7276" y="3522664"/>
            <a:ext cx="10953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7" name="Picture 19">
            <a:extLst>
              <a:ext uri="{FF2B5EF4-FFF2-40B4-BE49-F238E27FC236}">
                <a16:creationId xmlns:a16="http://schemas.microsoft.com/office/drawing/2014/main" id="{EFDD4E04-3B19-997A-5832-C9955F9AFAF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95701" y="3429001"/>
            <a:ext cx="100012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8" name="Picture 20">
            <a:extLst>
              <a:ext uri="{FF2B5EF4-FFF2-40B4-BE49-F238E27FC236}">
                <a16:creationId xmlns:a16="http://schemas.microsoft.com/office/drawing/2014/main" id="{E8FD5A24-6B07-E86F-832C-CC6AC552CA3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1" y="34083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9" name="Picture 21">
            <a:extLst>
              <a:ext uri="{FF2B5EF4-FFF2-40B4-BE49-F238E27FC236}">
                <a16:creationId xmlns:a16="http://schemas.microsoft.com/office/drawing/2014/main" id="{EEEA4545-13E9-E0A1-F2D6-DCB5193384F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0" name="Picture 22">
            <a:extLst>
              <a:ext uri="{FF2B5EF4-FFF2-40B4-BE49-F238E27FC236}">
                <a16:creationId xmlns:a16="http://schemas.microsoft.com/office/drawing/2014/main" id="{80BFC2CB-2C78-653B-78D1-35874A375B6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53151" y="34083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1" name="Picture 23">
            <a:extLst>
              <a:ext uri="{FF2B5EF4-FFF2-40B4-BE49-F238E27FC236}">
                <a16:creationId xmlns:a16="http://schemas.microsoft.com/office/drawing/2014/main" id="{A8268773-25A1-C78C-AA86-7BCE1F044BB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24550" y="3429001"/>
            <a:ext cx="935038"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2" name="Picture 24">
            <a:extLst>
              <a:ext uri="{FF2B5EF4-FFF2-40B4-BE49-F238E27FC236}">
                <a16:creationId xmlns:a16="http://schemas.microsoft.com/office/drawing/2014/main" id="{EF25C03E-B882-8CEB-18E1-A4B9F920CE5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10400" y="3522664"/>
            <a:ext cx="3810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33" name="Picture 25">
            <a:extLst>
              <a:ext uri="{FF2B5EF4-FFF2-40B4-BE49-F238E27FC236}">
                <a16:creationId xmlns:a16="http://schemas.microsoft.com/office/drawing/2014/main" id="{C8D17AF1-7546-2602-7A0A-721AB7D4FCD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67276" y="3408364"/>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90C013E9-FB01-E777-CCB7-F410BEF78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Rectangle 3">
            <a:extLst>
              <a:ext uri="{FF2B5EF4-FFF2-40B4-BE49-F238E27FC236}">
                <a16:creationId xmlns:a16="http://schemas.microsoft.com/office/drawing/2014/main" id="{F46C3A16-1C1A-2406-AA0C-2D369DB31A5A}"/>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Labelling Algorithm </a:t>
            </a:r>
          </a:p>
        </p:txBody>
      </p:sp>
      <p:sp>
        <p:nvSpPr>
          <p:cNvPr id="18436" name="Rectangle 4">
            <a:extLst>
              <a:ext uri="{FF2B5EF4-FFF2-40B4-BE49-F238E27FC236}">
                <a16:creationId xmlns:a16="http://schemas.microsoft.com/office/drawing/2014/main" id="{457703FF-3CC8-1266-5ED4-FCEF45DE8889}"/>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Đến khi thấy đường mở</a:t>
            </a:r>
          </a:p>
        </p:txBody>
      </p:sp>
      <p:pic>
        <p:nvPicPr>
          <p:cNvPr id="18437" name="Picture 5">
            <a:extLst>
              <a:ext uri="{FF2B5EF4-FFF2-40B4-BE49-F238E27FC236}">
                <a16:creationId xmlns:a16="http://schemas.microsoft.com/office/drawing/2014/main" id="{8D43AB5E-7F2D-64F8-8B1E-9DA1D5FD5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426" y="2894013"/>
            <a:ext cx="6397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a:extLst>
              <a:ext uri="{FF2B5EF4-FFF2-40B4-BE49-F238E27FC236}">
                <a16:creationId xmlns:a16="http://schemas.microsoft.com/office/drawing/2014/main" id="{CE37195D-9550-6D6C-ABE7-2F6A963F65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2951"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7">
            <a:extLst>
              <a:ext uri="{FF2B5EF4-FFF2-40B4-BE49-F238E27FC236}">
                <a16:creationId xmlns:a16="http://schemas.microsoft.com/office/drawing/2014/main" id="{4C19F512-7E84-3BAF-74BD-C4352EBA09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7850" y="2914650"/>
            <a:ext cx="5905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8">
            <a:extLst>
              <a:ext uri="{FF2B5EF4-FFF2-40B4-BE49-F238E27FC236}">
                <a16:creationId xmlns:a16="http://schemas.microsoft.com/office/drawing/2014/main" id="{A9F4E36C-EBE3-C048-4565-BF86F9FC1E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15126"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9">
            <a:extLst>
              <a:ext uri="{FF2B5EF4-FFF2-40B4-BE49-F238E27FC236}">
                <a16:creationId xmlns:a16="http://schemas.microsoft.com/office/drawing/2014/main" id="{ADB26F20-A09A-ED60-50E1-2796B0D64A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10">
            <a:extLst>
              <a:ext uri="{FF2B5EF4-FFF2-40B4-BE49-F238E27FC236}">
                <a16:creationId xmlns:a16="http://schemas.microsoft.com/office/drawing/2014/main" id="{9BCCE19C-6720-9EAF-0E37-0594644E95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0426" y="4837113"/>
            <a:ext cx="6397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3" name="Picture 11">
            <a:extLst>
              <a:ext uri="{FF2B5EF4-FFF2-40B4-BE49-F238E27FC236}">
                <a16:creationId xmlns:a16="http://schemas.microsoft.com/office/drawing/2014/main" id="{DDDF994D-1788-7E9D-27C7-93047EC93E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72001" y="48577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4" name="Picture 12">
            <a:extLst>
              <a:ext uri="{FF2B5EF4-FFF2-40B4-BE49-F238E27FC236}">
                <a16:creationId xmlns:a16="http://schemas.microsoft.com/office/drawing/2014/main" id="{0DBBECE9-BAF7-C2BC-2500-398D3A9D8AE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29275" y="4837113"/>
            <a:ext cx="647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5" name="Picture 13">
            <a:extLst>
              <a:ext uri="{FF2B5EF4-FFF2-40B4-BE49-F238E27FC236}">
                <a16:creationId xmlns:a16="http://schemas.microsoft.com/office/drawing/2014/main" id="{B40A7432-68EF-2C09-FAA6-CA6357AC781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512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6" name="Picture 14">
            <a:extLst>
              <a:ext uri="{FF2B5EF4-FFF2-40B4-BE49-F238E27FC236}">
                <a16:creationId xmlns:a16="http://schemas.microsoft.com/office/drawing/2014/main" id="{F07A7208-C5B9-B58E-2517-822BDCD671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7" name="Picture 15">
            <a:extLst>
              <a:ext uri="{FF2B5EF4-FFF2-40B4-BE49-F238E27FC236}">
                <a16:creationId xmlns:a16="http://schemas.microsoft.com/office/drawing/2014/main" id="{525B9D9C-F477-5B34-3C9D-2D4427F95E4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14776" y="3436938"/>
            <a:ext cx="96202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8" name="Picture 16">
            <a:extLst>
              <a:ext uri="{FF2B5EF4-FFF2-40B4-BE49-F238E27FC236}">
                <a16:creationId xmlns:a16="http://schemas.microsoft.com/office/drawing/2014/main" id="{9AC3579F-1BF4-E093-35CB-403EAA38589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3639" y="3522664"/>
            <a:ext cx="4127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9" name="Picture 17">
            <a:extLst>
              <a:ext uri="{FF2B5EF4-FFF2-40B4-BE49-F238E27FC236}">
                <a16:creationId xmlns:a16="http://schemas.microsoft.com/office/drawing/2014/main" id="{96498F56-4328-33DC-2A12-7C721C0E953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57776" y="3429000"/>
            <a:ext cx="19907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0" name="Picture 18">
            <a:extLst>
              <a:ext uri="{FF2B5EF4-FFF2-40B4-BE49-F238E27FC236}">
                <a16:creationId xmlns:a16="http://schemas.microsoft.com/office/drawing/2014/main" id="{B9C7459E-8DEF-E61D-58F7-F48DB7CE63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7276" y="3522663"/>
            <a:ext cx="1095375"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1" name="Picture 19">
            <a:extLst>
              <a:ext uri="{FF2B5EF4-FFF2-40B4-BE49-F238E27FC236}">
                <a16:creationId xmlns:a16="http://schemas.microsoft.com/office/drawing/2014/main" id="{E7047FCB-3606-2B37-0C52-8FAFCBE405A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03639" y="3429000"/>
            <a:ext cx="992187"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2" name="Picture 20">
            <a:extLst>
              <a:ext uri="{FF2B5EF4-FFF2-40B4-BE49-F238E27FC236}">
                <a16:creationId xmlns:a16="http://schemas.microsoft.com/office/drawing/2014/main" id="{E2F477E2-5055-B194-DE7A-3F699B25E00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7301" y="3408363"/>
            <a:ext cx="28495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3" name="Picture 21">
            <a:extLst>
              <a:ext uri="{FF2B5EF4-FFF2-40B4-BE49-F238E27FC236}">
                <a16:creationId xmlns:a16="http://schemas.microsoft.com/office/drawing/2014/main" id="{917CD7CC-87F6-0843-5C67-30118C54E9F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4" name="Picture 22">
            <a:extLst>
              <a:ext uri="{FF2B5EF4-FFF2-40B4-BE49-F238E27FC236}">
                <a16:creationId xmlns:a16="http://schemas.microsoft.com/office/drawing/2014/main" id="{09F32157-3442-85FA-27F0-6BD4FBD38D5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53151" y="3408363"/>
            <a:ext cx="1763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5" name="Picture 23">
            <a:extLst>
              <a:ext uri="{FF2B5EF4-FFF2-40B4-BE49-F238E27FC236}">
                <a16:creationId xmlns:a16="http://schemas.microsoft.com/office/drawing/2014/main" id="{0B4C4C34-19A5-22F3-1BEB-F7966BAC869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24550" y="3429000"/>
            <a:ext cx="935038"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6" name="Picture 24">
            <a:extLst>
              <a:ext uri="{FF2B5EF4-FFF2-40B4-BE49-F238E27FC236}">
                <a16:creationId xmlns:a16="http://schemas.microsoft.com/office/drawing/2014/main" id="{5CB25763-99A5-887C-CCD0-0E1FD15DFFB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10400" y="3522664"/>
            <a:ext cx="3810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7" name="Picture 25">
            <a:extLst>
              <a:ext uri="{FF2B5EF4-FFF2-40B4-BE49-F238E27FC236}">
                <a16:creationId xmlns:a16="http://schemas.microsoft.com/office/drawing/2014/main" id="{E7FD7ED9-C8DE-2A1A-40D3-8A6C552A98D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867276" y="3408364"/>
            <a:ext cx="8858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6FFC4C86-D1AC-EA99-C0BF-3FDEE8A95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3">
            <a:extLst>
              <a:ext uri="{FF2B5EF4-FFF2-40B4-BE49-F238E27FC236}">
                <a16:creationId xmlns:a16="http://schemas.microsoft.com/office/drawing/2014/main" id="{14CB38CE-833E-70F5-22EB-50A118F17BB5}"/>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Cây đường mở</a:t>
            </a:r>
          </a:p>
        </p:txBody>
      </p:sp>
      <p:pic>
        <p:nvPicPr>
          <p:cNvPr id="19460" name="Picture 4">
            <a:extLst>
              <a:ext uri="{FF2B5EF4-FFF2-40B4-BE49-F238E27FC236}">
                <a16:creationId xmlns:a16="http://schemas.microsoft.com/office/drawing/2014/main" id="{B27DA14C-3FF9-00E7-107D-CC512BA273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6"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5">
            <a:extLst>
              <a:ext uri="{FF2B5EF4-FFF2-40B4-BE49-F238E27FC236}">
                <a16:creationId xmlns:a16="http://schemas.microsoft.com/office/drawing/2014/main" id="{A52E70E1-EB51-E1A5-B8D7-0C036D8080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9975" y="2894013"/>
            <a:ext cx="6492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a:extLst>
              <a:ext uri="{FF2B5EF4-FFF2-40B4-BE49-F238E27FC236}">
                <a16:creationId xmlns:a16="http://schemas.microsoft.com/office/drawing/2014/main" id="{73B9E344-5894-FECE-FE83-0EACF14AEA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4876" y="2914650"/>
            <a:ext cx="601663"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7">
            <a:extLst>
              <a:ext uri="{FF2B5EF4-FFF2-40B4-BE49-F238E27FC236}">
                <a16:creationId xmlns:a16="http://schemas.microsoft.com/office/drawing/2014/main" id="{625ED7C8-BB71-F79E-3DA9-7BD7E5AFF1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2150" y="2894013"/>
            <a:ext cx="647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8">
            <a:extLst>
              <a:ext uri="{FF2B5EF4-FFF2-40B4-BE49-F238E27FC236}">
                <a16:creationId xmlns:a16="http://schemas.microsoft.com/office/drawing/2014/main" id="{3C5EBF87-D0DB-3CE8-1B9C-CAFE4D271B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5463"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9">
            <a:extLst>
              <a:ext uri="{FF2B5EF4-FFF2-40B4-BE49-F238E27FC236}">
                <a16:creationId xmlns:a16="http://schemas.microsoft.com/office/drawing/2014/main" id="{AD789E8A-98EC-02F2-76DB-5B91F250FC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697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6" name="Picture 10">
            <a:extLst>
              <a:ext uri="{FF2B5EF4-FFF2-40B4-BE49-F238E27FC236}">
                <a16:creationId xmlns:a16="http://schemas.microsoft.com/office/drawing/2014/main" id="{590BE7C9-51D2-FC7D-8B19-93FD8BF5AE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8550" y="4857751"/>
            <a:ext cx="5921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7" name="Picture 11">
            <a:extLst>
              <a:ext uri="{FF2B5EF4-FFF2-40B4-BE49-F238E27FC236}">
                <a16:creationId xmlns:a16="http://schemas.microsoft.com/office/drawing/2014/main" id="{7C7D0C36-4B20-C27D-ECCB-26D9C8A561D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582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8" name="Picture 12">
            <a:extLst>
              <a:ext uri="{FF2B5EF4-FFF2-40B4-BE49-F238E27FC236}">
                <a16:creationId xmlns:a16="http://schemas.microsoft.com/office/drawing/2014/main" id="{81D3C335-A8F4-1A5C-52A7-5EC3F37725C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72150" y="4837113"/>
            <a:ext cx="647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9" name="Picture 13">
            <a:extLst>
              <a:ext uri="{FF2B5EF4-FFF2-40B4-BE49-F238E27FC236}">
                <a16:creationId xmlns:a16="http://schemas.microsoft.com/office/drawing/2014/main" id="{25DDC170-500B-2345-FF82-9C36D30182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5463"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0" name="Picture 14">
            <a:extLst>
              <a:ext uri="{FF2B5EF4-FFF2-40B4-BE49-F238E27FC236}">
                <a16:creationId xmlns:a16="http://schemas.microsoft.com/office/drawing/2014/main" id="{B8122D3B-66A8-F235-DB93-1F4C937426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81326" y="3436938"/>
            <a:ext cx="963613"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1" name="Picture 15">
            <a:extLst>
              <a:ext uri="{FF2B5EF4-FFF2-40B4-BE49-F238E27FC236}">
                <a16:creationId xmlns:a16="http://schemas.microsoft.com/office/drawing/2014/main" id="{1D82D411-2251-16CC-D4C0-763D0DD3171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60664" y="3522664"/>
            <a:ext cx="4127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2" name="Picture 16">
            <a:extLst>
              <a:ext uri="{FF2B5EF4-FFF2-40B4-BE49-F238E27FC236}">
                <a16:creationId xmlns:a16="http://schemas.microsoft.com/office/drawing/2014/main" id="{932BDDC0-2161-D725-5EBB-4D2736EAE57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24325" y="3429000"/>
            <a:ext cx="19812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3" name="Picture 17">
            <a:extLst>
              <a:ext uri="{FF2B5EF4-FFF2-40B4-BE49-F238E27FC236}">
                <a16:creationId xmlns:a16="http://schemas.microsoft.com/office/drawing/2014/main" id="{BB39FBA8-D41B-7DA4-AEB0-0C2E621343A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24300" y="3522663"/>
            <a:ext cx="1106488"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4" name="Picture 18">
            <a:extLst>
              <a:ext uri="{FF2B5EF4-FFF2-40B4-BE49-F238E27FC236}">
                <a16:creationId xmlns:a16="http://schemas.microsoft.com/office/drawing/2014/main" id="{C544698A-64A6-DDD8-208C-70D0E21BD20C}"/>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1775" y="3429000"/>
            <a:ext cx="9906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5" name="Picture 19">
            <a:extLst>
              <a:ext uri="{FF2B5EF4-FFF2-40B4-BE49-F238E27FC236}">
                <a16:creationId xmlns:a16="http://schemas.microsoft.com/office/drawing/2014/main" id="{FFA25BC2-B4AE-2811-6CB9-30B76B8B556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32263" y="3408363"/>
            <a:ext cx="28495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6" name="Picture 20">
            <a:extLst>
              <a:ext uri="{FF2B5EF4-FFF2-40B4-BE49-F238E27FC236}">
                <a16:creationId xmlns:a16="http://schemas.microsoft.com/office/drawing/2014/main" id="{8970D560-7E6B-CD9D-0E92-1D3F1EC28BC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143751" y="3494089"/>
            <a:ext cx="666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7" name="Picture 21">
            <a:extLst>
              <a:ext uri="{FF2B5EF4-FFF2-40B4-BE49-F238E27FC236}">
                <a16:creationId xmlns:a16="http://schemas.microsoft.com/office/drawing/2014/main" id="{862D179D-F99A-DD84-53B4-0A68D086661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10175" y="3408363"/>
            <a:ext cx="17716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8" name="Picture 22">
            <a:extLst>
              <a:ext uri="{FF2B5EF4-FFF2-40B4-BE49-F238E27FC236}">
                <a16:creationId xmlns:a16="http://schemas.microsoft.com/office/drawing/2014/main" id="{0A363E7C-45AD-B17D-7207-50B022FBCA7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89514" y="3429000"/>
            <a:ext cx="9366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9" name="Picture 23">
            <a:extLst>
              <a:ext uri="{FF2B5EF4-FFF2-40B4-BE49-F238E27FC236}">
                <a16:creationId xmlns:a16="http://schemas.microsoft.com/office/drawing/2014/main" id="{8482D049-25E6-62AD-8BB2-EEC71840B85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75364" y="3522664"/>
            <a:ext cx="4127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0" name="Picture 24">
            <a:extLst>
              <a:ext uri="{FF2B5EF4-FFF2-40B4-BE49-F238E27FC236}">
                <a16:creationId xmlns:a16="http://schemas.microsoft.com/office/drawing/2014/main" id="{3F1FA42A-E839-81F9-BFB8-207A9F53A9B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24300" y="3408364"/>
            <a:ext cx="8953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1" name="Picture 25">
            <a:extLst>
              <a:ext uri="{FF2B5EF4-FFF2-40B4-BE49-F238E27FC236}">
                <a16:creationId xmlns:a16="http://schemas.microsoft.com/office/drawing/2014/main" id="{395F8FF5-6C02-8692-7F01-35E3C31FB65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658226" y="2314575"/>
            <a:ext cx="639763"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2" name="Picture 26">
            <a:extLst>
              <a:ext uri="{FF2B5EF4-FFF2-40B4-BE49-F238E27FC236}">
                <a16:creationId xmlns:a16="http://schemas.microsoft.com/office/drawing/2014/main" id="{4621C8C4-BF5C-23C3-B142-C8014ED10E4B}"/>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53401" y="317976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3" name="Picture 27">
            <a:extLst>
              <a:ext uri="{FF2B5EF4-FFF2-40B4-BE49-F238E27FC236}">
                <a16:creationId xmlns:a16="http://schemas.microsoft.com/office/drawing/2014/main" id="{932565ED-936C-ABDD-5ED3-8D7676F4A58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161463" y="3179763"/>
            <a:ext cx="641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4" name="Picture 28">
            <a:extLst>
              <a:ext uri="{FF2B5EF4-FFF2-40B4-BE49-F238E27FC236}">
                <a16:creationId xmlns:a16="http://schemas.microsoft.com/office/drawing/2014/main" id="{824E29FD-348A-63A1-0628-8F80E6D0FC33}"/>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53401" y="4114801"/>
            <a:ext cx="6381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5" name="Picture 29">
            <a:extLst>
              <a:ext uri="{FF2B5EF4-FFF2-40B4-BE49-F238E27FC236}">
                <a16:creationId xmlns:a16="http://schemas.microsoft.com/office/drawing/2014/main" id="{11397BFE-636C-158E-8318-C7984E0F4913}"/>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161463" y="4114801"/>
            <a:ext cx="6413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6" name="Picture 30">
            <a:extLst>
              <a:ext uri="{FF2B5EF4-FFF2-40B4-BE49-F238E27FC236}">
                <a16:creationId xmlns:a16="http://schemas.microsoft.com/office/drawing/2014/main" id="{241D48BB-45A5-4BFC-C22C-6BF38CEF356F}"/>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161463" y="5048250"/>
            <a:ext cx="641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7" name="Picture 31">
            <a:extLst>
              <a:ext uri="{FF2B5EF4-FFF2-40B4-BE49-F238E27FC236}">
                <a16:creationId xmlns:a16="http://schemas.microsoft.com/office/drawing/2014/main" id="{4E7F129B-0F1F-7161-599D-D4785AFC08FD}"/>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9161464" y="2857500"/>
            <a:ext cx="13493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8" name="Picture 32">
            <a:extLst>
              <a:ext uri="{FF2B5EF4-FFF2-40B4-BE49-F238E27FC236}">
                <a16:creationId xmlns:a16="http://schemas.microsoft.com/office/drawing/2014/main" id="{0ADBF63C-7E5B-2EF8-BF52-9E25E2BA4BC4}"/>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658225" y="2857500"/>
            <a:ext cx="1333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89" name="Picture 33">
            <a:extLst>
              <a:ext uri="{FF2B5EF4-FFF2-40B4-BE49-F238E27FC236}">
                <a16:creationId xmlns:a16="http://schemas.microsoft.com/office/drawing/2014/main" id="{FA0D8630-9924-802E-C882-232A3D0EFD3F}"/>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439151" y="3808414"/>
            <a:ext cx="66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90" name="Picture 34">
            <a:extLst>
              <a:ext uri="{FF2B5EF4-FFF2-40B4-BE49-F238E27FC236}">
                <a16:creationId xmlns:a16="http://schemas.microsoft.com/office/drawing/2014/main" id="{ED411D9D-DFBF-303A-6952-E82297C3571A}"/>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447213" y="3779839"/>
            <a:ext cx="6985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91" name="Picture 35">
            <a:extLst>
              <a:ext uri="{FF2B5EF4-FFF2-40B4-BE49-F238E27FC236}">
                <a16:creationId xmlns:a16="http://schemas.microsoft.com/office/drawing/2014/main" id="{1196E1A1-BFBB-A107-6157-1235ADD723EB}"/>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9458325" y="4722813"/>
            <a:ext cx="3968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1589FCDD-9D32-D66C-CCC1-6D7960A3A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a:extLst>
              <a:ext uri="{FF2B5EF4-FFF2-40B4-BE49-F238E27FC236}">
                <a16:creationId xmlns:a16="http://schemas.microsoft.com/office/drawing/2014/main" id="{DABFF146-C606-0CE0-4C77-3C20C029B8A1}"/>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Đảo cạnh.</a:t>
            </a:r>
          </a:p>
        </p:txBody>
      </p:sp>
      <p:pic>
        <p:nvPicPr>
          <p:cNvPr id="20484" name="Picture 4">
            <a:extLst>
              <a:ext uri="{FF2B5EF4-FFF2-40B4-BE49-F238E27FC236}">
                <a16:creationId xmlns:a16="http://schemas.microsoft.com/office/drawing/2014/main" id="{72B5AFBE-A471-FFB0-6C33-4EE96BAF17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6" y="28940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5">
            <a:extLst>
              <a:ext uri="{FF2B5EF4-FFF2-40B4-BE49-F238E27FC236}">
                <a16:creationId xmlns:a16="http://schemas.microsoft.com/office/drawing/2014/main" id="{D38C1B11-31A4-8A90-F155-9712641692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9975" y="2894013"/>
            <a:ext cx="6492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6" name="Picture 6">
            <a:extLst>
              <a:ext uri="{FF2B5EF4-FFF2-40B4-BE49-F238E27FC236}">
                <a16:creationId xmlns:a16="http://schemas.microsoft.com/office/drawing/2014/main" id="{6F817295-E5F9-F4DF-2CC4-D85C63A41B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4876" y="2914650"/>
            <a:ext cx="601663"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7">
            <a:extLst>
              <a:ext uri="{FF2B5EF4-FFF2-40B4-BE49-F238E27FC236}">
                <a16:creationId xmlns:a16="http://schemas.microsoft.com/office/drawing/2014/main" id="{4B0D9965-D76E-62D8-0438-1E846AF5C8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2150" y="2894013"/>
            <a:ext cx="647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8" name="Picture 8">
            <a:extLst>
              <a:ext uri="{FF2B5EF4-FFF2-40B4-BE49-F238E27FC236}">
                <a16:creationId xmlns:a16="http://schemas.microsoft.com/office/drawing/2014/main" id="{4F6120CF-5CF4-DE59-4AAB-B64C3B2441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5463" y="29146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9" name="Picture 9">
            <a:extLst>
              <a:ext uri="{FF2B5EF4-FFF2-40B4-BE49-F238E27FC236}">
                <a16:creationId xmlns:a16="http://schemas.microsoft.com/office/drawing/2014/main" id="{5EE5794F-35D0-B388-E084-CACC2E6ACD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10">
            <a:extLst>
              <a:ext uri="{FF2B5EF4-FFF2-40B4-BE49-F238E27FC236}">
                <a16:creationId xmlns:a16="http://schemas.microsoft.com/office/drawing/2014/main" id="{55E4F5D5-BB15-4D68-3419-79E6C4EC30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8550" y="4857751"/>
            <a:ext cx="5921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1" name="Picture 11">
            <a:extLst>
              <a:ext uri="{FF2B5EF4-FFF2-40B4-BE49-F238E27FC236}">
                <a16:creationId xmlns:a16="http://schemas.microsoft.com/office/drawing/2014/main" id="{07D07732-4658-B4B3-0CFD-7BE5133463A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5826" y="483711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2" name="Picture 12">
            <a:extLst>
              <a:ext uri="{FF2B5EF4-FFF2-40B4-BE49-F238E27FC236}">
                <a16:creationId xmlns:a16="http://schemas.microsoft.com/office/drawing/2014/main" id="{3FEAACE3-A57A-8384-3C96-5F6684B4D5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2150" y="4837113"/>
            <a:ext cx="6477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3" name="Picture 13">
            <a:extLst>
              <a:ext uri="{FF2B5EF4-FFF2-40B4-BE49-F238E27FC236}">
                <a16:creationId xmlns:a16="http://schemas.microsoft.com/office/drawing/2014/main" id="{9BCDC9C4-068A-5B41-3ABE-579051FBFB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75463" y="4857750"/>
            <a:ext cx="601662"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4" name="Picture 14">
            <a:extLst>
              <a:ext uri="{FF2B5EF4-FFF2-40B4-BE49-F238E27FC236}">
                <a16:creationId xmlns:a16="http://schemas.microsoft.com/office/drawing/2014/main" id="{4F5392ED-6458-0C79-C946-6A5DD86FAE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1326" y="3436938"/>
            <a:ext cx="963613"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5" name="Picture 15">
            <a:extLst>
              <a:ext uri="{FF2B5EF4-FFF2-40B4-BE49-F238E27FC236}">
                <a16:creationId xmlns:a16="http://schemas.microsoft.com/office/drawing/2014/main" id="{33369136-AAC9-E3FB-E6D3-38A63579DB5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2726" y="3522664"/>
            <a:ext cx="66675"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6" name="Picture 16">
            <a:extLst>
              <a:ext uri="{FF2B5EF4-FFF2-40B4-BE49-F238E27FC236}">
                <a16:creationId xmlns:a16="http://schemas.microsoft.com/office/drawing/2014/main" id="{8E724175-E5AD-8D9A-B2C5-AC398DD0FB0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14800" y="3419475"/>
            <a:ext cx="2001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7" name="Picture 17">
            <a:extLst>
              <a:ext uri="{FF2B5EF4-FFF2-40B4-BE49-F238E27FC236}">
                <a16:creationId xmlns:a16="http://schemas.microsoft.com/office/drawing/2014/main" id="{2CF1B0E2-38E3-AF15-716A-D6143C4D169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24300" y="3522663"/>
            <a:ext cx="1106488" cy="132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8" name="Picture 18">
            <a:extLst>
              <a:ext uri="{FF2B5EF4-FFF2-40B4-BE49-F238E27FC236}">
                <a16:creationId xmlns:a16="http://schemas.microsoft.com/office/drawing/2014/main" id="{B5E52661-B149-90DE-A55B-D4AF3852740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71775" y="3429001"/>
            <a:ext cx="973138"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9" name="Picture 19">
            <a:extLst>
              <a:ext uri="{FF2B5EF4-FFF2-40B4-BE49-F238E27FC236}">
                <a16:creationId xmlns:a16="http://schemas.microsoft.com/office/drawing/2014/main" id="{4710EB52-174A-960D-6734-653EC9CC11C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32263" y="3408363"/>
            <a:ext cx="2849562"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0" name="Picture 20">
            <a:extLst>
              <a:ext uri="{FF2B5EF4-FFF2-40B4-BE49-F238E27FC236}">
                <a16:creationId xmlns:a16="http://schemas.microsoft.com/office/drawing/2014/main" id="{CE55B59D-B590-4AE0-FBE5-CB969FA753C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43751" y="3494089"/>
            <a:ext cx="666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1" name="Picture 21">
            <a:extLst>
              <a:ext uri="{FF2B5EF4-FFF2-40B4-BE49-F238E27FC236}">
                <a16:creationId xmlns:a16="http://schemas.microsoft.com/office/drawing/2014/main" id="{774D53CC-702F-99AE-F8BD-200EBEC40B2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210175" y="3408363"/>
            <a:ext cx="177165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2" name="Picture 22">
            <a:extLst>
              <a:ext uri="{FF2B5EF4-FFF2-40B4-BE49-F238E27FC236}">
                <a16:creationId xmlns:a16="http://schemas.microsoft.com/office/drawing/2014/main" id="{BC1C79A6-8722-E7FF-8154-027FFE3ECAE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89514" y="3429000"/>
            <a:ext cx="9366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3" name="Picture 23">
            <a:extLst>
              <a:ext uri="{FF2B5EF4-FFF2-40B4-BE49-F238E27FC236}">
                <a16:creationId xmlns:a16="http://schemas.microsoft.com/office/drawing/2014/main" id="{F0239BF5-1F46-DA62-AF48-4E1A5607639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75364" y="3522664"/>
            <a:ext cx="41275"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4" name="Picture 24">
            <a:extLst>
              <a:ext uri="{FF2B5EF4-FFF2-40B4-BE49-F238E27FC236}">
                <a16:creationId xmlns:a16="http://schemas.microsoft.com/office/drawing/2014/main" id="{3748EECD-FC60-150C-585A-B52C03A3798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24300" y="3408364"/>
            <a:ext cx="8953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5" name="Picture 25">
            <a:extLst>
              <a:ext uri="{FF2B5EF4-FFF2-40B4-BE49-F238E27FC236}">
                <a16:creationId xmlns:a16="http://schemas.microsoft.com/office/drawing/2014/main" id="{C13A79B1-7641-7A94-EFC2-6792FFAE9E4E}"/>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58226" y="2314575"/>
            <a:ext cx="639763"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6" name="Picture 26">
            <a:extLst>
              <a:ext uri="{FF2B5EF4-FFF2-40B4-BE49-F238E27FC236}">
                <a16:creationId xmlns:a16="http://schemas.microsoft.com/office/drawing/2014/main" id="{27C68CCF-4AEF-397E-A73D-F41A85BCCDB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153401" y="3179763"/>
            <a:ext cx="638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7" name="Picture 27">
            <a:extLst>
              <a:ext uri="{FF2B5EF4-FFF2-40B4-BE49-F238E27FC236}">
                <a16:creationId xmlns:a16="http://schemas.microsoft.com/office/drawing/2014/main" id="{CA3870E8-3B19-0FC8-CB41-A0C50A4AC53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161463" y="3179763"/>
            <a:ext cx="641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8" name="Picture 28">
            <a:extLst>
              <a:ext uri="{FF2B5EF4-FFF2-40B4-BE49-F238E27FC236}">
                <a16:creationId xmlns:a16="http://schemas.microsoft.com/office/drawing/2014/main" id="{76EF8D17-5317-864D-9BDB-7C3B0365B34F}"/>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153401" y="4114801"/>
            <a:ext cx="6381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9" name="Picture 29">
            <a:extLst>
              <a:ext uri="{FF2B5EF4-FFF2-40B4-BE49-F238E27FC236}">
                <a16:creationId xmlns:a16="http://schemas.microsoft.com/office/drawing/2014/main" id="{0C73680C-6EC8-ADE8-41D2-05DB6C15CE3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161463" y="4114801"/>
            <a:ext cx="6413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0" name="Picture 30">
            <a:extLst>
              <a:ext uri="{FF2B5EF4-FFF2-40B4-BE49-F238E27FC236}">
                <a16:creationId xmlns:a16="http://schemas.microsoft.com/office/drawing/2014/main" id="{58E3823B-8C14-1138-EF89-D2987D4D738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161463" y="5048250"/>
            <a:ext cx="641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1" name="Picture 31">
            <a:extLst>
              <a:ext uri="{FF2B5EF4-FFF2-40B4-BE49-F238E27FC236}">
                <a16:creationId xmlns:a16="http://schemas.microsoft.com/office/drawing/2014/main" id="{D7E90494-AFF1-3B12-135C-DC29E7BD7BE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144001" y="2857500"/>
            <a:ext cx="1619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2" name="Picture 32">
            <a:extLst>
              <a:ext uri="{FF2B5EF4-FFF2-40B4-BE49-F238E27FC236}">
                <a16:creationId xmlns:a16="http://schemas.microsoft.com/office/drawing/2014/main" id="{35D4F50A-862B-DC96-B4F5-14E5F8186BE2}"/>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658225" y="2857500"/>
            <a:ext cx="1333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3" name="Picture 33">
            <a:extLst>
              <a:ext uri="{FF2B5EF4-FFF2-40B4-BE49-F238E27FC236}">
                <a16:creationId xmlns:a16="http://schemas.microsoft.com/office/drawing/2014/main" id="{76DCBC37-F382-4332-8402-AC62E98CAD26}"/>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439151" y="3808413"/>
            <a:ext cx="6667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4" name="Picture 34">
            <a:extLst>
              <a:ext uri="{FF2B5EF4-FFF2-40B4-BE49-F238E27FC236}">
                <a16:creationId xmlns:a16="http://schemas.microsoft.com/office/drawing/2014/main" id="{E7A688E1-E3FA-4257-DFC4-A959FD4C140A}"/>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458325" y="3779839"/>
            <a:ext cx="3968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5" name="Picture 35">
            <a:extLst>
              <a:ext uri="{FF2B5EF4-FFF2-40B4-BE49-F238E27FC236}">
                <a16:creationId xmlns:a16="http://schemas.microsoft.com/office/drawing/2014/main" id="{00C7FC7B-467D-073F-77CD-73CBE128AFC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9447213" y="4722813"/>
            <a:ext cx="6985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7F6B4B23-A458-CD38-1887-045DB9C25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3">
            <a:extLst>
              <a:ext uri="{FF2B5EF4-FFF2-40B4-BE49-F238E27FC236}">
                <a16:creationId xmlns:a16="http://schemas.microsoft.com/office/drawing/2014/main" id="{05AAE78F-DA45-5FB2-F8E5-FC08A8C7AA87}"/>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Lặp lại</a:t>
            </a:r>
          </a:p>
        </p:txBody>
      </p:sp>
      <p:sp>
        <p:nvSpPr>
          <p:cNvPr id="21508" name="Rectangle 4">
            <a:extLst>
              <a:ext uri="{FF2B5EF4-FFF2-40B4-BE49-F238E27FC236}">
                <a16:creationId xmlns:a16="http://schemas.microsoft.com/office/drawing/2014/main" id="{9137E914-6E10-E9C8-5DD8-2E2544BFAC6F}"/>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Tiếp tục chọn đỉnh chưa ghép</a:t>
            </a:r>
          </a:p>
        </p:txBody>
      </p:sp>
      <p:pic>
        <p:nvPicPr>
          <p:cNvPr id="21509" name="Picture 5">
            <a:extLst>
              <a:ext uri="{FF2B5EF4-FFF2-40B4-BE49-F238E27FC236}">
                <a16:creationId xmlns:a16="http://schemas.microsoft.com/office/drawing/2014/main" id="{6DD30C16-2373-9972-6E8F-47D4C9F6F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29146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6">
            <a:extLst>
              <a:ext uri="{FF2B5EF4-FFF2-40B4-BE49-F238E27FC236}">
                <a16:creationId xmlns:a16="http://schemas.microsoft.com/office/drawing/2014/main" id="{7B3C08EE-3122-C28D-A974-6466F288E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9146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7">
            <a:extLst>
              <a:ext uri="{FF2B5EF4-FFF2-40B4-BE49-F238E27FC236}">
                <a16:creationId xmlns:a16="http://schemas.microsoft.com/office/drawing/2014/main" id="{733E1708-0CB3-1039-23BE-2A104403FB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6739" y="2914651"/>
            <a:ext cx="6127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8">
            <a:extLst>
              <a:ext uri="{FF2B5EF4-FFF2-40B4-BE49-F238E27FC236}">
                <a16:creationId xmlns:a16="http://schemas.microsoft.com/office/drawing/2014/main" id="{A9B2B124-E8FD-AEA3-DCE5-2FD3AFDF0A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8" y="29146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9">
            <a:extLst>
              <a:ext uri="{FF2B5EF4-FFF2-40B4-BE49-F238E27FC236}">
                <a16:creationId xmlns:a16="http://schemas.microsoft.com/office/drawing/2014/main" id="{0E08CAD2-43A2-68A6-A293-D88A08B556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18439" y="29146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Picture 10">
            <a:extLst>
              <a:ext uri="{FF2B5EF4-FFF2-40B4-BE49-F238E27FC236}">
                <a16:creationId xmlns:a16="http://schemas.microsoft.com/office/drawing/2014/main" id="{6A8E3AB0-7058-98E4-7BFB-2A628CA74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7888" y="48577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Picture 11">
            <a:extLst>
              <a:ext uri="{FF2B5EF4-FFF2-40B4-BE49-F238E27FC236}">
                <a16:creationId xmlns:a16="http://schemas.microsoft.com/office/drawing/2014/main" id="{0EA6EE2E-4E21-2990-149D-DFA6AA1FEC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888" y="4848226"/>
            <a:ext cx="62230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6" name="Picture 12">
            <a:extLst>
              <a:ext uri="{FF2B5EF4-FFF2-40B4-BE49-F238E27FC236}">
                <a16:creationId xmlns:a16="http://schemas.microsoft.com/office/drawing/2014/main" id="{17A45C8E-AC01-3D05-DBA1-2628D01A49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6739" y="4857751"/>
            <a:ext cx="6127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7" name="Picture 13">
            <a:extLst>
              <a:ext uri="{FF2B5EF4-FFF2-40B4-BE49-F238E27FC236}">
                <a16:creationId xmlns:a16="http://schemas.microsoft.com/office/drawing/2014/main" id="{3B9E17F3-9DDF-1BF7-8C6C-AAE5F9C4FA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8" y="48577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8" name="Picture 14">
            <a:extLst>
              <a:ext uri="{FF2B5EF4-FFF2-40B4-BE49-F238E27FC236}">
                <a16:creationId xmlns:a16="http://schemas.microsoft.com/office/drawing/2014/main" id="{AEF7E386-08FE-D6DA-DBEA-2D5C53E5F4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18439" y="4857750"/>
            <a:ext cx="592137"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15">
            <a:extLst>
              <a:ext uri="{FF2B5EF4-FFF2-40B4-BE49-F238E27FC236}">
                <a16:creationId xmlns:a16="http://schemas.microsoft.com/office/drawing/2014/main" id="{A03A08E1-BB7F-810B-5831-94B235C1053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14776" y="3419476"/>
            <a:ext cx="9620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0" name="Picture 16">
            <a:extLst>
              <a:ext uri="{FF2B5EF4-FFF2-40B4-BE49-F238E27FC236}">
                <a16:creationId xmlns:a16="http://schemas.microsoft.com/office/drawing/2014/main" id="{8F30C84A-F240-1143-DFE6-BA69D1FB1F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6176" y="3505200"/>
            <a:ext cx="68263"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1" name="Picture 17">
            <a:extLst>
              <a:ext uri="{FF2B5EF4-FFF2-40B4-BE49-F238E27FC236}">
                <a16:creationId xmlns:a16="http://schemas.microsoft.com/office/drawing/2014/main" id="{B9D77863-DED3-FDA8-9A9C-9D491B95404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57775" y="3400425"/>
            <a:ext cx="2001838"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2" name="Picture 18">
            <a:extLst>
              <a:ext uri="{FF2B5EF4-FFF2-40B4-BE49-F238E27FC236}">
                <a16:creationId xmlns:a16="http://schemas.microsoft.com/office/drawing/2014/main" id="{8307F513-BE70-0E21-2D36-BBD4F44CB6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67276" y="3505201"/>
            <a:ext cx="10953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3" name="Picture 19">
            <a:extLst>
              <a:ext uri="{FF2B5EF4-FFF2-40B4-BE49-F238E27FC236}">
                <a16:creationId xmlns:a16="http://schemas.microsoft.com/office/drawing/2014/main" id="{4EBE6FD6-6CF2-19F6-0456-67C7755029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03639" y="3419475"/>
            <a:ext cx="97313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4" name="Picture 20">
            <a:extLst>
              <a:ext uri="{FF2B5EF4-FFF2-40B4-BE49-F238E27FC236}">
                <a16:creationId xmlns:a16="http://schemas.microsoft.com/office/drawing/2014/main" id="{D6BB9C08-9883-A520-299C-B8729C0BF07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67301" y="3408363"/>
            <a:ext cx="2849563"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5" name="Picture 21">
            <a:extLst>
              <a:ext uri="{FF2B5EF4-FFF2-40B4-BE49-F238E27FC236}">
                <a16:creationId xmlns:a16="http://schemas.microsoft.com/office/drawing/2014/main" id="{3C678F97-DCB0-6B2E-8586-E3BE174023E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075613" y="3494089"/>
            <a:ext cx="698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6" name="Picture 22">
            <a:extLst>
              <a:ext uri="{FF2B5EF4-FFF2-40B4-BE49-F238E27FC236}">
                <a16:creationId xmlns:a16="http://schemas.microsoft.com/office/drawing/2014/main" id="{E54730CB-BD42-9F6B-7269-ECCE26E1BE2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53151" y="3419475"/>
            <a:ext cx="1763713"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7" name="Picture 23">
            <a:extLst>
              <a:ext uri="{FF2B5EF4-FFF2-40B4-BE49-F238E27FC236}">
                <a16:creationId xmlns:a16="http://schemas.microsoft.com/office/drawing/2014/main" id="{018CEFE7-474E-CB4B-868D-5796299A3FF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924550" y="3408364"/>
            <a:ext cx="935038"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8" name="Picture 24">
            <a:extLst>
              <a:ext uri="{FF2B5EF4-FFF2-40B4-BE49-F238E27FC236}">
                <a16:creationId xmlns:a16="http://schemas.microsoft.com/office/drawing/2014/main" id="{7A0077A4-7334-E89B-273D-7CD1E5FB6AD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018338" y="3505200"/>
            <a:ext cx="30162"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9" name="Picture 25">
            <a:extLst>
              <a:ext uri="{FF2B5EF4-FFF2-40B4-BE49-F238E27FC236}">
                <a16:creationId xmlns:a16="http://schemas.microsoft.com/office/drawing/2014/main" id="{3E25A2A4-F1E3-7C8C-4E7A-7B3C5E0C0EB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67276" y="3419476"/>
            <a:ext cx="8858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42F23332-D3A3-EB85-E132-B990FDB128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3">
            <a:extLst>
              <a:ext uri="{FF2B5EF4-FFF2-40B4-BE49-F238E27FC236}">
                <a16:creationId xmlns:a16="http://schemas.microsoft.com/office/drawing/2014/main" id="{3DBD87B9-3375-3279-1BF9-110644D5D7F6}"/>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Lặp lại </a:t>
            </a:r>
          </a:p>
        </p:txBody>
      </p:sp>
      <p:sp>
        <p:nvSpPr>
          <p:cNvPr id="22532" name="Rectangle 4">
            <a:extLst>
              <a:ext uri="{FF2B5EF4-FFF2-40B4-BE49-F238E27FC236}">
                <a16:creationId xmlns:a16="http://schemas.microsoft.com/office/drawing/2014/main" id="{878A5C2B-04E9-255F-3B60-05AE8E49CF8A}"/>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Chạy BFS</a:t>
            </a:r>
          </a:p>
        </p:txBody>
      </p:sp>
      <p:pic>
        <p:nvPicPr>
          <p:cNvPr id="22533" name="Picture 5">
            <a:extLst>
              <a:ext uri="{FF2B5EF4-FFF2-40B4-BE49-F238E27FC236}">
                <a16:creationId xmlns:a16="http://schemas.microsoft.com/office/drawing/2014/main" id="{834E9A9B-1048-168A-5BF4-4A82FCD05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1" y="2905126"/>
            <a:ext cx="619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4" name="Picture 6">
            <a:extLst>
              <a:ext uri="{FF2B5EF4-FFF2-40B4-BE49-F238E27FC236}">
                <a16:creationId xmlns:a16="http://schemas.microsoft.com/office/drawing/2014/main" id="{4699418D-FF38-4A36-36D4-635EF42543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763" y="29146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7">
            <a:extLst>
              <a:ext uri="{FF2B5EF4-FFF2-40B4-BE49-F238E27FC236}">
                <a16:creationId xmlns:a16="http://schemas.microsoft.com/office/drawing/2014/main" id="{C72AC267-204C-F4E0-88A4-CF58DD757D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150" y="2905126"/>
            <a:ext cx="6302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8">
            <a:extLst>
              <a:ext uri="{FF2B5EF4-FFF2-40B4-BE49-F238E27FC236}">
                <a16:creationId xmlns:a16="http://schemas.microsoft.com/office/drawing/2014/main" id="{E5490CFA-FD23-FD91-8E68-3CF287AC01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6" y="29146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9">
            <a:extLst>
              <a:ext uri="{FF2B5EF4-FFF2-40B4-BE49-F238E27FC236}">
                <a16:creationId xmlns:a16="http://schemas.microsoft.com/office/drawing/2014/main" id="{F2C2F9DB-E213-08FA-3407-6A4CC611E4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9739" y="2905126"/>
            <a:ext cx="6302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8" name="Picture 10">
            <a:extLst>
              <a:ext uri="{FF2B5EF4-FFF2-40B4-BE49-F238E27FC236}">
                <a16:creationId xmlns:a16="http://schemas.microsoft.com/office/drawing/2014/main" id="{D060D965-D1A4-87E1-103F-0A335DCAF2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982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Picture 11">
            <a:extLst>
              <a:ext uri="{FF2B5EF4-FFF2-40B4-BE49-F238E27FC236}">
                <a16:creationId xmlns:a16="http://schemas.microsoft.com/office/drawing/2014/main" id="{597904C2-1859-6288-ABD6-5ACB2931BF8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2826" y="4848226"/>
            <a:ext cx="6207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12">
            <a:extLst>
              <a:ext uri="{FF2B5EF4-FFF2-40B4-BE49-F238E27FC236}">
                <a16:creationId xmlns:a16="http://schemas.microsoft.com/office/drawing/2014/main" id="{14C2B1BC-816F-3D63-5A93-CC0138B1A8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38675" y="48577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1" name="Picture 13">
            <a:extLst>
              <a:ext uri="{FF2B5EF4-FFF2-40B4-BE49-F238E27FC236}">
                <a16:creationId xmlns:a16="http://schemas.microsoft.com/office/drawing/2014/main" id="{FD311158-7ED6-A824-37A2-892887EBDE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2" name="Picture 14">
            <a:extLst>
              <a:ext uri="{FF2B5EF4-FFF2-40B4-BE49-F238E27FC236}">
                <a16:creationId xmlns:a16="http://schemas.microsoft.com/office/drawing/2014/main" id="{29CDDB94-48B4-B508-0AB6-22841700181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10375" y="4857750"/>
            <a:ext cx="592138"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3" name="Picture 15">
            <a:extLst>
              <a:ext uri="{FF2B5EF4-FFF2-40B4-BE49-F238E27FC236}">
                <a16:creationId xmlns:a16="http://schemas.microsoft.com/office/drawing/2014/main" id="{79F60E7C-C73B-A018-496A-26FCBE96007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5600" y="3419475"/>
            <a:ext cx="971550"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4" name="Picture 16">
            <a:extLst>
              <a:ext uri="{FF2B5EF4-FFF2-40B4-BE49-F238E27FC236}">
                <a16:creationId xmlns:a16="http://schemas.microsoft.com/office/drawing/2014/main" id="{58E91EDC-1E20-D461-3FA4-C944CFD379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938" y="3514726"/>
            <a:ext cx="6985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5" name="Picture 17">
            <a:extLst>
              <a:ext uri="{FF2B5EF4-FFF2-40B4-BE49-F238E27FC236}">
                <a16:creationId xmlns:a16="http://schemas.microsoft.com/office/drawing/2014/main" id="{542B797B-761F-DABC-79A5-076562CB123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46539" y="3400425"/>
            <a:ext cx="2001837"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6" name="Picture 18">
            <a:extLst>
              <a:ext uri="{FF2B5EF4-FFF2-40B4-BE49-F238E27FC236}">
                <a16:creationId xmlns:a16="http://schemas.microsoft.com/office/drawing/2014/main" id="{76E4632C-A2A2-1E94-47D1-B18DD6BD651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7626" y="3505201"/>
            <a:ext cx="1096963"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7" name="Picture 19">
            <a:extLst>
              <a:ext uri="{FF2B5EF4-FFF2-40B4-BE49-F238E27FC236}">
                <a16:creationId xmlns:a16="http://schemas.microsoft.com/office/drawing/2014/main" id="{CCCF0A62-7711-009C-EE1D-97F0068EB33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5576" y="3419475"/>
            <a:ext cx="9810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8" name="Picture 20">
            <a:extLst>
              <a:ext uri="{FF2B5EF4-FFF2-40B4-BE49-F238E27FC236}">
                <a16:creationId xmlns:a16="http://schemas.microsoft.com/office/drawing/2014/main" id="{1A9DBB39-41E5-ABE0-4535-7F303EE923B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57650" y="3419476"/>
            <a:ext cx="2859088"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9" name="Picture 21">
            <a:extLst>
              <a:ext uri="{FF2B5EF4-FFF2-40B4-BE49-F238E27FC236}">
                <a16:creationId xmlns:a16="http://schemas.microsoft.com/office/drawing/2014/main" id="{E13B4212-9937-0E09-8FA3-E26918C25EA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75489" y="3514725"/>
            <a:ext cx="58737"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0" name="Picture 22">
            <a:extLst>
              <a:ext uri="{FF2B5EF4-FFF2-40B4-BE49-F238E27FC236}">
                <a16:creationId xmlns:a16="http://schemas.microsoft.com/office/drawing/2014/main" id="{C95C4A60-9EB8-6616-9D05-F8F9FF6F7C4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3501" y="3429001"/>
            <a:ext cx="1762125"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1" name="Picture 23">
            <a:extLst>
              <a:ext uri="{FF2B5EF4-FFF2-40B4-BE49-F238E27FC236}">
                <a16:creationId xmlns:a16="http://schemas.microsoft.com/office/drawing/2014/main" id="{06E59EF4-2828-565F-017E-C626B7F3B6E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4900" y="3408364"/>
            <a:ext cx="9334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2" name="Picture 24">
            <a:extLst>
              <a:ext uri="{FF2B5EF4-FFF2-40B4-BE49-F238E27FC236}">
                <a16:creationId xmlns:a16="http://schemas.microsoft.com/office/drawing/2014/main" id="{85FF9EB8-DD38-67D6-532F-DC76FEDF125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0276" y="3505200"/>
            <a:ext cx="2857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3" name="Picture 25">
            <a:extLst>
              <a:ext uri="{FF2B5EF4-FFF2-40B4-BE49-F238E27FC236}">
                <a16:creationId xmlns:a16="http://schemas.microsoft.com/office/drawing/2014/main" id="{3999C818-BA7B-32E2-7887-F683FDB743F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46513" y="3419476"/>
            <a:ext cx="906462"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4" name="Picture 26">
            <a:extLst>
              <a:ext uri="{FF2B5EF4-FFF2-40B4-BE49-F238E27FC236}">
                <a16:creationId xmlns:a16="http://schemas.microsoft.com/office/drawing/2014/main" id="{0226FA3F-C6F8-04D3-AE1F-09C1A77F6A2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75714" y="2905126"/>
            <a:ext cx="6302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5" name="Picture 27">
            <a:extLst>
              <a:ext uri="{FF2B5EF4-FFF2-40B4-BE49-F238E27FC236}">
                <a16:creationId xmlns:a16="http://schemas.microsoft.com/office/drawing/2014/main" id="{FD0AD7AD-CD19-EA75-B8C7-75BC38D56BB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75714" y="3836988"/>
            <a:ext cx="630237"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6" name="Picture 28">
            <a:extLst>
              <a:ext uri="{FF2B5EF4-FFF2-40B4-BE49-F238E27FC236}">
                <a16:creationId xmlns:a16="http://schemas.microsoft.com/office/drawing/2014/main" id="{43CCA5F3-7AB6-3545-4B48-81B697C87DD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161338" y="3836988"/>
            <a:ext cx="620712"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7" name="Picture 29">
            <a:extLst>
              <a:ext uri="{FF2B5EF4-FFF2-40B4-BE49-F238E27FC236}">
                <a16:creationId xmlns:a16="http://schemas.microsoft.com/office/drawing/2014/main" id="{9474092C-D10F-C373-E8F8-B9ABCE83C779}"/>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601201" y="3836988"/>
            <a:ext cx="619125"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8" name="Picture 30">
            <a:extLst>
              <a:ext uri="{FF2B5EF4-FFF2-40B4-BE49-F238E27FC236}">
                <a16:creationId xmlns:a16="http://schemas.microsoft.com/office/drawing/2014/main" id="{7261F4E1-CF9E-4DC0-52BD-1C7274796498}"/>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390064" y="3429001"/>
            <a:ext cx="3270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9" name="Picture 31">
            <a:extLst>
              <a:ext uri="{FF2B5EF4-FFF2-40B4-BE49-F238E27FC236}">
                <a16:creationId xmlns:a16="http://schemas.microsoft.com/office/drawing/2014/main" id="{AB5536D8-D22C-BBFB-E08A-E1518FB283D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182100" y="3514726"/>
            <a:ext cx="206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60" name="Picture 32">
            <a:extLst>
              <a:ext uri="{FF2B5EF4-FFF2-40B4-BE49-F238E27FC236}">
                <a16:creationId xmlns:a16="http://schemas.microsoft.com/office/drawing/2014/main" id="{30D752BD-2F78-D88C-F519-3514ADBEBB3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667751" y="3429001"/>
            <a:ext cx="33496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a:extLst>
              <a:ext uri="{FF2B5EF4-FFF2-40B4-BE49-F238E27FC236}">
                <a16:creationId xmlns:a16="http://schemas.microsoft.com/office/drawing/2014/main" id="{C8AE6334-BF0E-DC31-A256-38FF01605B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a:extLst>
              <a:ext uri="{FF2B5EF4-FFF2-40B4-BE49-F238E27FC236}">
                <a16:creationId xmlns:a16="http://schemas.microsoft.com/office/drawing/2014/main" id="{E49779BC-0514-F8F9-2AF3-733315B8CE57}"/>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Lặp lại </a:t>
            </a:r>
          </a:p>
        </p:txBody>
      </p:sp>
      <p:sp>
        <p:nvSpPr>
          <p:cNvPr id="23556" name="Rectangle 4">
            <a:extLst>
              <a:ext uri="{FF2B5EF4-FFF2-40B4-BE49-F238E27FC236}">
                <a16:creationId xmlns:a16="http://schemas.microsoft.com/office/drawing/2014/main" id="{632F4DD3-49A3-A0E6-AF42-6752A5D661F4}"/>
              </a:ext>
            </a:extLst>
          </p:cNvPr>
          <p:cNvSpPr>
            <a:spLocks noGrp="1" noChangeArrowheads="1"/>
          </p:cNvSpPr>
          <p:nvPr>
            <p:ph type="subTitle" idx="1"/>
          </p:nvPr>
        </p:nvSpPr>
        <p:spPr>
          <a:xfrm>
            <a:off x="2020889" y="20256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Đảo cạnh</a:t>
            </a:r>
          </a:p>
        </p:txBody>
      </p:sp>
      <p:pic>
        <p:nvPicPr>
          <p:cNvPr id="23557" name="Picture 5">
            <a:extLst>
              <a:ext uri="{FF2B5EF4-FFF2-40B4-BE49-F238E27FC236}">
                <a16:creationId xmlns:a16="http://schemas.microsoft.com/office/drawing/2014/main" id="{8D9CDFDB-44B1-FB05-47A3-8FCBB42FE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1" y="2905126"/>
            <a:ext cx="619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6">
            <a:extLst>
              <a:ext uri="{FF2B5EF4-FFF2-40B4-BE49-F238E27FC236}">
                <a16:creationId xmlns:a16="http://schemas.microsoft.com/office/drawing/2014/main" id="{CCCDB313-5C91-B638-C44C-45529CCA56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0763" y="2914651"/>
            <a:ext cx="60166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7">
            <a:extLst>
              <a:ext uri="{FF2B5EF4-FFF2-40B4-BE49-F238E27FC236}">
                <a16:creationId xmlns:a16="http://schemas.microsoft.com/office/drawing/2014/main" id="{50B39D71-335C-0B47-9683-00DCC2758C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9150" y="2905126"/>
            <a:ext cx="6302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8">
            <a:extLst>
              <a:ext uri="{FF2B5EF4-FFF2-40B4-BE49-F238E27FC236}">
                <a16:creationId xmlns:a16="http://schemas.microsoft.com/office/drawing/2014/main" id="{5B16BEFE-73CB-A2D2-9C12-0262B3F85C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6" y="29146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9">
            <a:extLst>
              <a:ext uri="{FF2B5EF4-FFF2-40B4-BE49-F238E27FC236}">
                <a16:creationId xmlns:a16="http://schemas.microsoft.com/office/drawing/2014/main" id="{6F0CAA69-29EE-5BFE-5514-24E4CB1156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89739" y="2905126"/>
            <a:ext cx="6302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Picture 10">
            <a:extLst>
              <a:ext uri="{FF2B5EF4-FFF2-40B4-BE49-F238E27FC236}">
                <a16:creationId xmlns:a16="http://schemas.microsoft.com/office/drawing/2014/main" id="{2DDCEEC3-B27C-F69A-FAAC-C9527B4CE9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982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3" name="Picture 11">
            <a:extLst>
              <a:ext uri="{FF2B5EF4-FFF2-40B4-BE49-F238E27FC236}">
                <a16:creationId xmlns:a16="http://schemas.microsoft.com/office/drawing/2014/main" id="{DA3A9656-9473-5FC1-C201-9FC3B2D870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2826" y="4848226"/>
            <a:ext cx="6207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Picture 12">
            <a:extLst>
              <a:ext uri="{FF2B5EF4-FFF2-40B4-BE49-F238E27FC236}">
                <a16:creationId xmlns:a16="http://schemas.microsoft.com/office/drawing/2014/main" id="{981959E1-8598-7D9A-FB91-029C81FD77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38675" y="48577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5" name="Picture 13">
            <a:extLst>
              <a:ext uri="{FF2B5EF4-FFF2-40B4-BE49-F238E27FC236}">
                <a16:creationId xmlns:a16="http://schemas.microsoft.com/office/drawing/2014/main" id="{2BE0C7AD-3734-2B52-BAA5-0AD99B9DE8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52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14">
            <a:extLst>
              <a:ext uri="{FF2B5EF4-FFF2-40B4-BE49-F238E27FC236}">
                <a16:creationId xmlns:a16="http://schemas.microsoft.com/office/drawing/2014/main" id="{2EF1D1E9-3821-3C18-8D6C-761D43EAA00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10375" y="4857750"/>
            <a:ext cx="592138"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5">
            <a:extLst>
              <a:ext uri="{FF2B5EF4-FFF2-40B4-BE49-F238E27FC236}">
                <a16:creationId xmlns:a16="http://schemas.microsoft.com/office/drawing/2014/main" id="{32408C1F-3B63-4A62-6693-48F481266D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95600" y="3419475"/>
            <a:ext cx="971550"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8" name="Picture 16">
            <a:extLst>
              <a:ext uri="{FF2B5EF4-FFF2-40B4-BE49-F238E27FC236}">
                <a16:creationId xmlns:a16="http://schemas.microsoft.com/office/drawing/2014/main" id="{579FA7F6-CB62-C6DB-3DC5-246A7C8BF0F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74938" y="3514726"/>
            <a:ext cx="69850"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9" name="Picture 17">
            <a:extLst>
              <a:ext uri="{FF2B5EF4-FFF2-40B4-BE49-F238E27FC236}">
                <a16:creationId xmlns:a16="http://schemas.microsoft.com/office/drawing/2014/main" id="{E0816D5F-E84E-6AB1-8CA5-46DF4B9793A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46539" y="3400425"/>
            <a:ext cx="2001837"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0" name="Picture 18">
            <a:extLst>
              <a:ext uri="{FF2B5EF4-FFF2-40B4-BE49-F238E27FC236}">
                <a16:creationId xmlns:a16="http://schemas.microsoft.com/office/drawing/2014/main" id="{70460A5A-1576-9B84-3272-F5915A5EBD2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7626" y="3505201"/>
            <a:ext cx="1096963"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1" name="Picture 19">
            <a:extLst>
              <a:ext uri="{FF2B5EF4-FFF2-40B4-BE49-F238E27FC236}">
                <a16:creationId xmlns:a16="http://schemas.microsoft.com/office/drawing/2014/main" id="{E41FC8A2-FD93-190E-71F8-D3E5D30CC35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5576" y="3419475"/>
            <a:ext cx="9810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2" name="Picture 20">
            <a:extLst>
              <a:ext uri="{FF2B5EF4-FFF2-40B4-BE49-F238E27FC236}">
                <a16:creationId xmlns:a16="http://schemas.microsoft.com/office/drawing/2014/main" id="{0A820A7E-4107-61DA-3FE6-A2C9859F8CB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57650" y="3419476"/>
            <a:ext cx="2859088"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3" name="Picture 21">
            <a:extLst>
              <a:ext uri="{FF2B5EF4-FFF2-40B4-BE49-F238E27FC236}">
                <a16:creationId xmlns:a16="http://schemas.microsoft.com/office/drawing/2014/main" id="{7BDDD041-3EA7-0502-302A-A3585738C41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075489" y="3514725"/>
            <a:ext cx="58737"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4" name="Picture 22">
            <a:extLst>
              <a:ext uri="{FF2B5EF4-FFF2-40B4-BE49-F238E27FC236}">
                <a16:creationId xmlns:a16="http://schemas.microsoft.com/office/drawing/2014/main" id="{5E15D886-28F1-E831-BDF8-3B0F4535E86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43501" y="3429001"/>
            <a:ext cx="1762125"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5" name="Picture 23">
            <a:extLst>
              <a:ext uri="{FF2B5EF4-FFF2-40B4-BE49-F238E27FC236}">
                <a16:creationId xmlns:a16="http://schemas.microsoft.com/office/drawing/2014/main" id="{7A4BAE29-99F6-BD89-9951-106996CB72C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4900" y="3408364"/>
            <a:ext cx="9334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6" name="Picture 24">
            <a:extLst>
              <a:ext uri="{FF2B5EF4-FFF2-40B4-BE49-F238E27FC236}">
                <a16:creationId xmlns:a16="http://schemas.microsoft.com/office/drawing/2014/main" id="{22A2CD8B-A87D-4CDD-5577-FF898E4F87B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010276" y="3505200"/>
            <a:ext cx="2857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7" name="Picture 25">
            <a:extLst>
              <a:ext uri="{FF2B5EF4-FFF2-40B4-BE49-F238E27FC236}">
                <a16:creationId xmlns:a16="http://schemas.microsoft.com/office/drawing/2014/main" id="{D34F25F4-2689-7991-AB0A-4CF7061048D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38575" y="3419475"/>
            <a:ext cx="9350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8" name="Picture 26">
            <a:extLst>
              <a:ext uri="{FF2B5EF4-FFF2-40B4-BE49-F238E27FC236}">
                <a16:creationId xmlns:a16="http://schemas.microsoft.com/office/drawing/2014/main" id="{FA83E109-7C61-EA6F-0606-F06B8381079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875714" y="2905126"/>
            <a:ext cx="630237"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79" name="Picture 27">
            <a:extLst>
              <a:ext uri="{FF2B5EF4-FFF2-40B4-BE49-F238E27FC236}">
                <a16:creationId xmlns:a16="http://schemas.microsoft.com/office/drawing/2014/main" id="{9531CCDC-A3A7-5091-638D-936C40C163E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875714" y="3836988"/>
            <a:ext cx="630237"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0" name="Picture 28">
            <a:extLst>
              <a:ext uri="{FF2B5EF4-FFF2-40B4-BE49-F238E27FC236}">
                <a16:creationId xmlns:a16="http://schemas.microsoft.com/office/drawing/2014/main" id="{FA09242C-F194-AFD5-466D-40AC027B0680}"/>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161338" y="3836988"/>
            <a:ext cx="620712"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1" name="Picture 29">
            <a:extLst>
              <a:ext uri="{FF2B5EF4-FFF2-40B4-BE49-F238E27FC236}">
                <a16:creationId xmlns:a16="http://schemas.microsoft.com/office/drawing/2014/main" id="{61B65FFD-C832-D2B1-03B9-AE90576291CE}"/>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601201" y="3836988"/>
            <a:ext cx="619125"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2" name="Picture 30">
            <a:extLst>
              <a:ext uri="{FF2B5EF4-FFF2-40B4-BE49-F238E27FC236}">
                <a16:creationId xmlns:a16="http://schemas.microsoft.com/office/drawing/2014/main" id="{513A4041-1E8A-BC89-101E-2072DC7D95EF}"/>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9390064" y="3429001"/>
            <a:ext cx="3270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3" name="Picture 31">
            <a:extLst>
              <a:ext uri="{FF2B5EF4-FFF2-40B4-BE49-F238E27FC236}">
                <a16:creationId xmlns:a16="http://schemas.microsoft.com/office/drawing/2014/main" id="{59949B19-81EE-1182-CC79-655B1BF1F602}"/>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161463" y="3514726"/>
            <a:ext cx="6985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4" name="Picture 32">
            <a:extLst>
              <a:ext uri="{FF2B5EF4-FFF2-40B4-BE49-F238E27FC236}">
                <a16:creationId xmlns:a16="http://schemas.microsoft.com/office/drawing/2014/main" id="{868A584B-CD39-563D-326C-3D285D89C14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667751" y="3429001"/>
            <a:ext cx="33496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3B73C689-FDA2-B3D9-75B2-AECE10E4B1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3">
            <a:extLst>
              <a:ext uri="{FF2B5EF4-FFF2-40B4-BE49-F238E27FC236}">
                <a16:creationId xmlns:a16="http://schemas.microsoft.com/office/drawing/2014/main" id="{232EEA36-A7FB-B096-7119-CDF73259B81F}"/>
              </a:ext>
            </a:extLst>
          </p:cNvPr>
          <p:cNvSpPr>
            <a:spLocks noGrp="1" noChangeArrowheads="1"/>
          </p:cNvSpPr>
          <p:nvPr>
            <p:ph type="ctrTitle"/>
          </p:nvPr>
        </p:nvSpPr>
        <p:spPr>
          <a:xfrm>
            <a:off x="2020889" y="503239"/>
            <a:ext cx="8150225" cy="1279525"/>
          </a:xfrm>
        </p:spPr>
        <p:txBody>
          <a:bodyPr vert="horz" lIns="0" tIns="0" rIns="0" bIns="0" rtlCol="0" anchor="ctr">
            <a:normAutofit/>
          </a:bodyPr>
          <a:lstStyle/>
          <a:p>
            <a:pPr algn="l" eaLnBrk="1" hangingPunct="1">
              <a:lnSpc>
                <a:spcPct val="95000"/>
              </a:lnSpc>
            </a:pPr>
            <a:r>
              <a:rPr lang="en-US" altLang="en-US" sz="4900">
                <a:solidFill>
                  <a:srgbClr val="000000"/>
                </a:solidFill>
              </a:rPr>
              <a:t>Đáp án </a:t>
            </a:r>
          </a:p>
        </p:txBody>
      </p:sp>
      <p:sp>
        <p:nvSpPr>
          <p:cNvPr id="24580" name="Rectangle 4">
            <a:extLst>
              <a:ext uri="{FF2B5EF4-FFF2-40B4-BE49-F238E27FC236}">
                <a16:creationId xmlns:a16="http://schemas.microsoft.com/office/drawing/2014/main" id="{19882C78-E1FA-1904-0AD2-75E7969B656E}"/>
              </a:ext>
            </a:extLst>
          </p:cNvPr>
          <p:cNvSpPr>
            <a:spLocks noGrp="1" noChangeArrowheads="1"/>
          </p:cNvSpPr>
          <p:nvPr>
            <p:ph type="subTitle" idx="1"/>
          </p:nvPr>
        </p:nvSpPr>
        <p:spPr>
          <a:xfrm>
            <a:off x="1935164" y="1682750"/>
            <a:ext cx="8150225" cy="3797300"/>
          </a:xfrm>
        </p:spPr>
        <p:txBody>
          <a:bodyPr vert="horz" lIns="0" tIns="0" rIns="0" bIns="0" rtlCol="0">
            <a:normAutofit/>
          </a:bodyPr>
          <a:lstStyle/>
          <a:p>
            <a:pPr lvl="1" indent="-342900" algn="l">
              <a:lnSpc>
                <a:spcPct val="95000"/>
              </a:lnSpc>
              <a:spcBef>
                <a:spcPct val="0"/>
              </a:spcBef>
              <a:buClr>
                <a:srgbClr val="000000"/>
              </a:buClr>
              <a:buFontTx/>
              <a:buChar char="•"/>
            </a:pPr>
            <a:r>
              <a:rPr lang="en-US" altLang="en-US" sz="3600">
                <a:solidFill>
                  <a:srgbClr val="000000"/>
                </a:solidFill>
              </a:rPr>
              <a:t>Dừng khi không tìm thấy đường mở</a:t>
            </a:r>
          </a:p>
        </p:txBody>
      </p:sp>
      <p:pic>
        <p:nvPicPr>
          <p:cNvPr id="24581" name="Picture 5">
            <a:extLst>
              <a:ext uri="{FF2B5EF4-FFF2-40B4-BE49-F238E27FC236}">
                <a16:creationId xmlns:a16="http://schemas.microsoft.com/office/drawing/2014/main" id="{F91FB8E1-87F3-2363-B5CD-A88F1BC146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426" y="29146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Picture 6">
            <a:extLst>
              <a:ext uri="{FF2B5EF4-FFF2-40B4-BE49-F238E27FC236}">
                <a16:creationId xmlns:a16="http://schemas.microsoft.com/office/drawing/2014/main" id="{5E8FF0C7-5E56-5262-67EC-158D2904F5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4425" y="29146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7">
            <a:extLst>
              <a:ext uri="{FF2B5EF4-FFF2-40B4-BE49-F238E27FC236}">
                <a16:creationId xmlns:a16="http://schemas.microsoft.com/office/drawing/2014/main" id="{D2812895-061A-5E7F-B9DD-8C3D2E10BA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0276" y="29146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8">
            <a:extLst>
              <a:ext uri="{FF2B5EF4-FFF2-40B4-BE49-F238E27FC236}">
                <a16:creationId xmlns:a16="http://schemas.microsoft.com/office/drawing/2014/main" id="{F07CA5BE-7138-58DD-3142-23FA999C97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29146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9">
            <a:extLst>
              <a:ext uri="{FF2B5EF4-FFF2-40B4-BE49-F238E27FC236}">
                <a16:creationId xmlns:a16="http://schemas.microsoft.com/office/drawing/2014/main" id="{4DD1A436-721F-12FB-53CB-474CBE2C73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72451" y="2914651"/>
            <a:ext cx="60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6" name="Picture 10">
            <a:extLst>
              <a:ext uri="{FF2B5EF4-FFF2-40B4-BE49-F238E27FC236}">
                <a16:creationId xmlns:a16="http://schemas.microsoft.com/office/drawing/2014/main" id="{0F3DB2EF-9EC0-FE9B-E416-44EEAD091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142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7" name="Picture 11">
            <a:extLst>
              <a:ext uri="{FF2B5EF4-FFF2-40B4-BE49-F238E27FC236}">
                <a16:creationId xmlns:a16="http://schemas.microsoft.com/office/drawing/2014/main" id="{36080A5F-2C1C-3314-2639-57FD59D380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4425" y="48577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8" name="Picture 12">
            <a:extLst>
              <a:ext uri="{FF2B5EF4-FFF2-40B4-BE49-F238E27FC236}">
                <a16:creationId xmlns:a16="http://schemas.microsoft.com/office/drawing/2014/main" id="{C91CEBD9-E2E6-FCA9-AE51-0F3C9C72BF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0276" y="4857751"/>
            <a:ext cx="6000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9" name="Picture 13">
            <a:extLst>
              <a:ext uri="{FF2B5EF4-FFF2-40B4-BE49-F238E27FC236}">
                <a16:creationId xmlns:a16="http://schemas.microsoft.com/office/drawing/2014/main" id="{06F1C179-F396-9C1D-1662-FB3ADDA9AA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4857751"/>
            <a:ext cx="6096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4">
            <a:extLst>
              <a:ext uri="{FF2B5EF4-FFF2-40B4-BE49-F238E27FC236}">
                <a16:creationId xmlns:a16="http://schemas.microsoft.com/office/drawing/2014/main" id="{2FA9640A-8F9F-B417-E8E8-932DB6A955F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72451" y="4857750"/>
            <a:ext cx="601663"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Picture 15">
            <a:extLst>
              <a:ext uri="{FF2B5EF4-FFF2-40B4-BE49-F238E27FC236}">
                <a16:creationId xmlns:a16="http://schemas.microsoft.com/office/drawing/2014/main" id="{58FB5AC8-B3F7-BD8F-CFB5-C3D7D8E489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1" y="3419475"/>
            <a:ext cx="9810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2" name="Picture 16">
            <a:extLst>
              <a:ext uri="{FF2B5EF4-FFF2-40B4-BE49-F238E27FC236}">
                <a16:creationId xmlns:a16="http://schemas.microsoft.com/office/drawing/2014/main" id="{2C69857D-53B7-CF5D-79E5-BBB937DAC17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46538" y="3505200"/>
            <a:ext cx="6985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3" name="Picture 17">
            <a:extLst>
              <a:ext uri="{FF2B5EF4-FFF2-40B4-BE49-F238E27FC236}">
                <a16:creationId xmlns:a16="http://schemas.microsoft.com/office/drawing/2014/main" id="{D4C43628-B673-07F6-5040-DE3EE5B44EE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0200" y="3400425"/>
            <a:ext cx="200025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4" name="Picture 18">
            <a:extLst>
              <a:ext uri="{FF2B5EF4-FFF2-40B4-BE49-F238E27FC236}">
                <a16:creationId xmlns:a16="http://schemas.microsoft.com/office/drawing/2014/main" id="{DA8D7B13-B527-5A76-A7BF-81CDBB91AC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8114" y="3505201"/>
            <a:ext cx="11080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5" name="Picture 19">
            <a:extLst>
              <a:ext uri="{FF2B5EF4-FFF2-40B4-BE49-F238E27FC236}">
                <a16:creationId xmlns:a16="http://schemas.microsoft.com/office/drawing/2014/main" id="{88D6752C-4657-5AE5-7328-B5E7963D5B1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7175" y="3419475"/>
            <a:ext cx="9715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6" name="Picture 20">
            <a:extLst>
              <a:ext uri="{FF2B5EF4-FFF2-40B4-BE49-F238E27FC236}">
                <a16:creationId xmlns:a16="http://schemas.microsoft.com/office/drawing/2014/main" id="{2F2EDE87-D2F9-4777-5E4D-993676A9D96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29251" y="3408364"/>
            <a:ext cx="2847975"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7" name="Picture 21">
            <a:extLst>
              <a:ext uri="{FF2B5EF4-FFF2-40B4-BE49-F238E27FC236}">
                <a16:creationId xmlns:a16="http://schemas.microsoft.com/office/drawing/2014/main" id="{491E0011-14E3-EC47-3D02-0CFC6FD14EA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439151" y="3505201"/>
            <a:ext cx="666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8" name="Picture 22">
            <a:extLst>
              <a:ext uri="{FF2B5EF4-FFF2-40B4-BE49-F238E27FC236}">
                <a16:creationId xmlns:a16="http://schemas.microsoft.com/office/drawing/2014/main" id="{2AF2D78D-A587-893D-98A7-4D90850BECC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03989" y="3419475"/>
            <a:ext cx="1773237"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9" name="Picture 23">
            <a:extLst>
              <a:ext uri="{FF2B5EF4-FFF2-40B4-BE49-F238E27FC236}">
                <a16:creationId xmlns:a16="http://schemas.microsoft.com/office/drawing/2014/main" id="{E0228178-B499-D1B7-66D4-A6E68709D4F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86500" y="3408364"/>
            <a:ext cx="9334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0" name="Picture 24">
            <a:extLst>
              <a:ext uri="{FF2B5EF4-FFF2-40B4-BE49-F238E27FC236}">
                <a16:creationId xmlns:a16="http://schemas.microsoft.com/office/drawing/2014/main" id="{79F857AE-4A2D-BD0D-ED0F-A9B9BA30401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81875" y="3505200"/>
            <a:ext cx="20638"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1" name="Picture 25">
            <a:extLst>
              <a:ext uri="{FF2B5EF4-FFF2-40B4-BE49-F238E27FC236}">
                <a16:creationId xmlns:a16="http://schemas.microsoft.com/office/drawing/2014/main" id="{98090235-BFFE-B839-C004-916D92ABBA7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00650" y="3408364"/>
            <a:ext cx="93345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5C7D11C-A0B0-423F-36C7-CB38DDC738AF}"/>
                  </a:ext>
                </a:extLst>
              </p:cNvPr>
              <p:cNvSpPr txBox="1"/>
              <p:nvPr/>
            </p:nvSpPr>
            <p:spPr>
              <a:xfrm>
                <a:off x="342900" y="1720840"/>
                <a:ext cx="11544300" cy="4401205"/>
              </a:xfrm>
              <a:prstGeom prst="rect">
                <a:avLst/>
              </a:prstGeom>
              <a:noFill/>
            </p:spPr>
            <p:txBody>
              <a:bodyPr wrap="square">
                <a:spAutoFit/>
              </a:bodyPr>
              <a:lstStyle/>
              <a:p>
                <a:pPr marL="0" marR="0" lvl="0" indent="-342900">
                  <a:buFont typeface="Arial" panose="020B0604020202020204" pitchFamily="34" charset="0"/>
                  <a:buChar char="•"/>
                </a:pPr>
                <a:r>
                  <a:rPr lang="en-US" sz="2800" b="1">
                    <a:effectLst/>
                    <a:latin typeface="+mn-lt"/>
                  </a:rPr>
                  <a:t>Bước 1:</a:t>
                </a:r>
                <a:r>
                  <a:rPr lang="en-US" sz="2800">
                    <a:effectLst/>
                    <a:latin typeface="+mn-lt"/>
                  </a:rPr>
                  <a:t> Bắt đầu với một cặp ghép tùy ý (ví dụ: cặp ghép rỗng – chưa chọn cạnh nào).</a:t>
                </a:r>
              </a:p>
              <a:p>
                <a:pPr marL="0" marR="0" lvl="0" indent="-342900">
                  <a:buFont typeface="Arial" panose="020B0604020202020204" pitchFamily="34" charset="0"/>
                  <a:buChar char="•"/>
                </a:pPr>
                <a:r>
                  <a:rPr lang="en-US" sz="2800" b="1">
                    <a:effectLst/>
                    <a:latin typeface="+mn-lt"/>
                  </a:rPr>
                  <a:t>Bước 2:</a:t>
                </a:r>
                <a:r>
                  <a:rPr lang="en-US" sz="2800">
                    <a:effectLst/>
                    <a:latin typeface="+mn-lt"/>
                  </a:rPr>
                  <a:t> Lặp lại các bước sau:</a:t>
                </a:r>
              </a:p>
              <a:p>
                <a:pPr marL="457200" lvl="2" indent="-285750">
                  <a:buFont typeface="Arial" panose="020B0604020202020204" pitchFamily="34" charset="0"/>
                  <a:buChar char="•"/>
                </a:pPr>
                <a:r>
                  <a:rPr lang="en-US" sz="2800">
                    <a:effectLst/>
                    <a:latin typeface="+mn-lt"/>
                  </a:rPr>
                  <a:t>Với mỗi </a:t>
                </a:r>
                <a:r>
                  <a:rPr lang="en-US" sz="2800" b="1">
                    <a:effectLst/>
                    <a:latin typeface="+mn-lt"/>
                  </a:rPr>
                  <a:t>đỉnh tự do</a:t>
                </a:r>
                <a:r>
                  <a:rPr lang="en-US" sz="2800">
                    <a:effectLst/>
                    <a:latin typeface="+mn-lt"/>
                  </a:rPr>
                  <a:t> ở tập bên dưới:</a:t>
                </a:r>
              </a:p>
              <a:p>
                <a:pPr marL="457200" lvl="3" indent="-228600">
                  <a:buFont typeface="Arial" panose="020B0604020202020204" pitchFamily="34" charset="0"/>
                  <a:buChar char="•"/>
                </a:pPr>
                <a:r>
                  <a:rPr lang="en-US" sz="2800">
                    <a:effectLst/>
                    <a:latin typeface="+mn-lt"/>
                  </a:rPr>
                  <a:t>Chạy thuật toán </a:t>
                </a:r>
                <a:r>
                  <a:rPr lang="en-US" sz="2800" b="1">
                    <a:effectLst/>
                    <a:latin typeface="+mn-lt"/>
                  </a:rPr>
                  <a:t>duyệt theo chiều rộng (BFS)</a:t>
                </a:r>
                <a:r>
                  <a:rPr lang="en-US" sz="2800">
                    <a:effectLst/>
                    <a:latin typeface="+mn-lt"/>
                  </a:rPr>
                  <a:t> để tìm đường mở (</a:t>
                </a:r>
                <a:r>
                  <a:rPr lang="en-US" sz="2800" i="1">
                    <a:effectLst/>
                    <a:latin typeface="+mn-lt"/>
                  </a:rPr>
                  <a:t>augmenting path</a:t>
                </a:r>
                <a:r>
                  <a:rPr lang="en-US" sz="2800">
                    <a:effectLst/>
                    <a:latin typeface="+mn-lt"/>
                  </a:rPr>
                  <a:t>).</a:t>
                </a:r>
              </a:p>
              <a:p>
                <a:pPr marL="914400" lvl="3" indent="-285750">
                  <a:buFont typeface="Arial" panose="020B0604020202020204" pitchFamily="34" charset="0"/>
                  <a:buChar char="•"/>
                </a:pPr>
                <a:r>
                  <a:rPr lang="en-US" sz="2800" b="1">
                    <a:effectLst/>
                    <a:latin typeface="+mn-lt"/>
                  </a:rPr>
                  <a:t>Nếu tìm thấy</a:t>
                </a:r>
                <a:r>
                  <a:rPr lang="en-US" sz="2800">
                    <a:effectLst/>
                    <a:latin typeface="+mn-lt"/>
                  </a:rPr>
                  <a:t> đường đi tăng: tiến hành </a:t>
                </a:r>
                <a:r>
                  <a:rPr lang="en-US" sz="2800" b="1">
                    <a:effectLst/>
                    <a:latin typeface="+mn-lt"/>
                  </a:rPr>
                  <a:t>"lật" (đảo trạng thái)</a:t>
                </a:r>
                <a:r>
                  <a:rPr lang="en-US" sz="2800">
                    <a:effectLst/>
                    <a:latin typeface="+mn-lt"/>
                  </a:rPr>
                  <a:t> các cạnh trên đường đi đó (cạnh không thuộc cặp ghép </a:t>
                </a:r>
                <a14:m>
                  <m:oMath xmlns:m="http://schemas.openxmlformats.org/officeDocument/2006/math">
                    <m:r>
                      <a:rPr lang="en-US" sz="2800" smtClean="0">
                        <a:latin typeface="Cambria Math" panose="02040503050406030204" pitchFamily="18" charset="0"/>
                      </a:rPr>
                      <m:t>↔</m:t>
                    </m:r>
                  </m:oMath>
                </a14:m>
                <a:r>
                  <a:rPr lang="en-US" sz="2800">
                    <a:effectLst/>
                    <a:latin typeface="+mn-lt"/>
                  </a:rPr>
                  <a:t>cạnh thuộc cặp ghép).</a:t>
                </a:r>
              </a:p>
              <a:p>
                <a:pPr marL="914400" lvl="3" indent="-285750">
                  <a:buFont typeface="Arial" panose="020B0604020202020204" pitchFamily="34" charset="0"/>
                  <a:buChar char="•"/>
                </a:pPr>
                <a:r>
                  <a:rPr lang="en-US" sz="2800" b="1">
                    <a:effectLst/>
                    <a:latin typeface="+mn-lt"/>
                  </a:rPr>
                  <a:t>Nếu không tìm thấy</a:t>
                </a:r>
                <a:r>
                  <a:rPr lang="en-US" sz="2800">
                    <a:effectLst/>
                    <a:latin typeface="+mn-lt"/>
                  </a:rPr>
                  <a:t> thêm bất kỳ đường đi tăng nào nữa: </a:t>
                </a:r>
                <a:r>
                  <a:rPr lang="en-US" sz="2800" b="1">
                    <a:effectLst/>
                    <a:latin typeface="+mn-lt"/>
                  </a:rPr>
                  <a:t>dừng thuật toán</a:t>
                </a:r>
                <a:r>
                  <a:rPr lang="en-US" sz="2800">
                    <a:effectLst/>
                    <a:latin typeface="+mn-lt"/>
                  </a:rPr>
                  <a:t> và kết luận đó là </a:t>
                </a:r>
                <a:r>
                  <a:rPr lang="en-US" sz="2800" b="1">
                    <a:effectLst/>
                    <a:latin typeface="+mn-lt"/>
                  </a:rPr>
                  <a:t>cặp ghép cực đại</a:t>
                </a:r>
                <a:r>
                  <a:rPr lang="en-US" sz="2800">
                    <a:effectLst/>
                    <a:latin typeface="+mn-lt"/>
                  </a:rPr>
                  <a:t>.</a:t>
                </a:r>
                <a:endParaRPr lang="en-US" sz="2800">
                  <a:effectLst/>
                  <a:latin typeface="Google Sans Text"/>
                </a:endParaRPr>
              </a:p>
            </p:txBody>
          </p:sp>
        </mc:Choice>
        <mc:Fallback xmlns="">
          <p:sp>
            <p:nvSpPr>
              <p:cNvPr id="3" name="TextBox 2">
                <a:extLst>
                  <a:ext uri="{FF2B5EF4-FFF2-40B4-BE49-F238E27FC236}">
                    <a16:creationId xmlns:a16="http://schemas.microsoft.com/office/drawing/2014/main" id="{35C7D11C-A0B0-423F-36C7-CB38DDC738AF}"/>
                  </a:ext>
                </a:extLst>
              </p:cNvPr>
              <p:cNvSpPr txBox="1">
                <a:spLocks noRot="1" noChangeAspect="1" noMove="1" noResize="1" noEditPoints="1" noAdjustHandles="1" noChangeArrowheads="1" noChangeShapeType="1" noTextEdit="1"/>
              </p:cNvSpPr>
              <p:nvPr/>
            </p:nvSpPr>
            <p:spPr>
              <a:xfrm>
                <a:off x="342900" y="1720840"/>
                <a:ext cx="11544300" cy="4401205"/>
              </a:xfrm>
              <a:prstGeom prst="rect">
                <a:avLst/>
              </a:prstGeom>
              <a:blipFill>
                <a:blip r:embed="rId2"/>
                <a:stretch>
                  <a:fillRect l="-1056" t="-1247" r="-211" b="-304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ED2F726-B1AE-2B19-DAE1-8812E47D72C0}"/>
              </a:ext>
            </a:extLst>
          </p:cNvPr>
          <p:cNvSpPr txBox="1"/>
          <p:nvPr/>
        </p:nvSpPr>
        <p:spPr>
          <a:xfrm>
            <a:off x="968692" y="706874"/>
            <a:ext cx="8941117" cy="523220"/>
          </a:xfrm>
          <a:prstGeom prst="rect">
            <a:avLst/>
          </a:prstGeom>
          <a:noFill/>
        </p:spPr>
        <p:txBody>
          <a:bodyPr wrap="square">
            <a:spAutoFit/>
          </a:bodyPr>
          <a:lstStyle/>
          <a:p>
            <a:pPr marL="0" marR="0">
              <a:buNone/>
            </a:pPr>
            <a:r>
              <a:rPr lang="en-US" sz="2800" b="1">
                <a:effectLst/>
                <a:latin typeface="+mn-lt"/>
              </a:rPr>
              <a:t>Thuật toán tổng quát (Overall Algorithm)</a:t>
            </a:r>
          </a:p>
        </p:txBody>
      </p:sp>
    </p:spTree>
    <p:extLst>
      <p:ext uri="{BB962C8B-B14F-4D97-AF65-F5344CB8AC3E}">
        <p14:creationId xmlns:p14="http://schemas.microsoft.com/office/powerpoint/2010/main" val="3336590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0473AC-AF6A-DF60-5020-7BD88B3ECC14}"/>
                  </a:ext>
                </a:extLst>
              </p:cNvPr>
              <p:cNvSpPr txBox="1"/>
              <p:nvPr/>
            </p:nvSpPr>
            <p:spPr>
              <a:xfrm>
                <a:off x="651510" y="1820475"/>
                <a:ext cx="11197590" cy="2677656"/>
              </a:xfrm>
              <a:prstGeom prst="rect">
                <a:avLst/>
              </a:prstGeom>
              <a:noFill/>
            </p:spPr>
            <p:txBody>
              <a:bodyPr wrap="square">
                <a:spAutoFit/>
              </a:bodyPr>
              <a:lstStyle/>
              <a:p>
                <a:pPr marL="0" marR="0" lvl="0" indent="-342900">
                  <a:buFont typeface="Arial" panose="020B0604020202020204" pitchFamily="34" charset="0"/>
                  <a:buChar char="•"/>
                </a:pPr>
                <a:r>
                  <a:rPr lang="en-US" sz="2800" b="1">
                    <a:effectLst/>
                  </a:rPr>
                  <a:t>Số lần tìm:</a:t>
                </a:r>
                <a:r>
                  <a:rPr lang="en-US" sz="2800">
                    <a:effectLst/>
                  </a:rPr>
                  <a:t> Ta có thể tìm thấy tối đa </a:t>
                </a:r>
                <a14:m>
                  <m:oMath xmlns:m="http://schemas.openxmlformats.org/officeDocument/2006/math">
                    <m:r>
                      <a:rPr lang="en-US" sz="2800" smtClean="0">
                        <a:latin typeface="Cambria Math" panose="02040503050406030204" pitchFamily="18" charset="0"/>
                      </a:rPr>
                      <m:t>|</m:t>
                    </m:r>
                    <m:r>
                      <a:rPr lang="en-US" sz="2800" i="1">
                        <a:latin typeface="Cambria Math" panose="02040503050406030204" pitchFamily="18" charset="0"/>
                      </a:rPr>
                      <m:t>𝑉</m:t>
                    </m:r>
                    <m:r>
                      <a:rPr lang="en-US" sz="2800" i="0">
                        <a:latin typeface="Cambria Math" panose="02040503050406030204" pitchFamily="18" charset="0"/>
                      </a:rPr>
                      <m:t>|</m:t>
                    </m:r>
                  </m:oMath>
                </a14:m>
                <a:r>
                  <a:rPr lang="en-US" sz="2800">
                    <a:effectLst/>
                  </a:rPr>
                  <a:t>đường đi tăng </a:t>
                </a:r>
                <a:r>
                  <a:rPr lang="en-US" sz="2800" i="1">
                    <a:effectLst/>
                  </a:rPr>
                  <a:t>(Tại sao?)</a:t>
                </a:r>
                <a:endParaRPr lang="en-US" sz="2800">
                  <a:effectLst/>
                </a:endParaRPr>
              </a:p>
              <a:p>
                <a:pPr marL="0" marR="0" lvl="0" indent="-342900">
                  <a:buFont typeface="Arial" panose="020B0604020202020204" pitchFamily="34" charset="0"/>
                  <a:buChar char="•"/>
                </a:pPr>
                <a:r>
                  <a:rPr lang="en-US" sz="2800" b="1">
                    <a:effectLst/>
                  </a:rPr>
                  <a:t>Chi phí mỗi lần tìm:</a:t>
                </a:r>
                <a:r>
                  <a:rPr lang="en-US" sz="2800">
                    <a:effectLst/>
                  </a:rPr>
                  <a:t> </a:t>
                </a:r>
                <a:br>
                  <a:rPr lang="en-US" sz="2800">
                    <a:effectLst/>
                  </a:rPr>
                </a:br>
                <a:r>
                  <a:rPr lang="en-US" sz="2800">
                    <a:effectLst/>
                  </a:rPr>
                  <a:t>	Để tìm một đường đi tăng, ta sử dụng thuật toán </a:t>
                </a:r>
                <a:r>
                  <a:rPr lang="en-US" sz="2800" b="1">
                    <a:effectLst/>
                  </a:rPr>
                  <a:t>BFS</a:t>
                </a:r>
                <a:r>
                  <a:rPr lang="en-US" sz="2800">
                    <a:effectLst/>
                  </a:rPr>
                  <a:t>!</a:t>
                </a:r>
              </a:p>
              <a:p>
                <a:pPr marL="0" marR="0" lvl="0" indent="-342900">
                  <a:buFont typeface="Arial" panose="020B0604020202020204" pitchFamily="34" charset="0"/>
                  <a:buChar char="•"/>
                </a:pPr>
                <a:r>
                  <a:rPr lang="en-US" sz="2800">
                    <a:effectLst/>
                  </a:rPr>
                  <a:t>Thời gian thực thi cho một lần chạy BFS = </a:t>
                </a:r>
                <a14:m>
                  <m:oMath xmlns:m="http://schemas.openxmlformats.org/officeDocument/2006/math">
                    <m:r>
                      <a:rPr lang="en-US" sz="2800" i="1" smtClean="0">
                        <a:latin typeface="Cambria Math" panose="02040503050406030204" pitchFamily="18" charset="0"/>
                      </a:rPr>
                      <m:t>𝑂</m:t>
                    </m:r>
                    <m:d>
                      <m:dPr>
                        <m:ctrlPr>
                          <a:rPr lang="en-US" sz="2800" i="1">
                            <a:latin typeface="Cambria Math" panose="02040503050406030204" pitchFamily="18" charset="0"/>
                          </a:rPr>
                        </m:ctrlPr>
                      </m:dPr>
                      <m:e>
                        <m:r>
                          <a:rPr lang="en-US" sz="2800" i="0">
                            <a:latin typeface="Cambria Math" panose="02040503050406030204" pitchFamily="18" charset="0"/>
                          </a:rPr>
                          <m:t>|</m:t>
                        </m:r>
                        <m:r>
                          <a:rPr lang="en-US" sz="2800" i="1">
                            <a:latin typeface="Cambria Math" panose="02040503050406030204" pitchFamily="18" charset="0"/>
                          </a:rPr>
                          <m:t>𝑉</m:t>
                        </m:r>
                        <m:r>
                          <a:rPr lang="en-US" sz="2800" i="0">
                            <a:latin typeface="Cambria Math" panose="02040503050406030204" pitchFamily="18" charset="0"/>
                          </a:rPr>
                          <m:t>|+|</m:t>
                        </m:r>
                        <m:r>
                          <a:rPr lang="en-US" sz="2800" i="1">
                            <a:latin typeface="Cambria Math" panose="02040503050406030204" pitchFamily="18" charset="0"/>
                          </a:rPr>
                          <m:t>𝐸</m:t>
                        </m:r>
                        <m:r>
                          <a:rPr lang="en-US" sz="2800" i="0">
                            <a:latin typeface="Cambria Math" panose="02040503050406030204" pitchFamily="18" charset="0"/>
                          </a:rPr>
                          <m:t>|</m:t>
                        </m:r>
                      </m:e>
                    </m:d>
                  </m:oMath>
                </a14:m>
                <a:endParaRPr lang="en-US" sz="2800">
                  <a:effectLst/>
                </a:endParaRPr>
              </a:p>
              <a:p>
                <a:pPr marL="0" marR="0" lvl="0" indent="-342900">
                  <a:buFont typeface="Arial" panose="020B0604020202020204" pitchFamily="34" charset="0"/>
                  <a:buChar char="•"/>
                </a:pPr>
                <a:r>
                  <a:rPr lang="en-US" sz="2800" b="1">
                    <a:effectLst/>
                  </a:rPr>
                  <a:t>Tổng thời gian thực thi:</a:t>
                </a:r>
                <a:r>
                  <a:rPr lang="en-US" sz="2800">
                    <a:effectLst/>
                  </a:rPr>
                  <a:t> </a:t>
                </a:r>
                <a14:m>
                  <m:oMath xmlns:m="http://schemas.openxmlformats.org/officeDocument/2006/math">
                    <m:r>
                      <a:rPr lang="en-US" sz="2800" i="1" smtClean="0">
                        <a:latin typeface="Cambria Math" panose="02040503050406030204" pitchFamily="18" charset="0"/>
                      </a:rPr>
                      <m:t>𝑂</m:t>
                    </m:r>
                    <m:d>
                      <m:dPr>
                        <m:ctrlPr>
                          <a:rPr lang="en-US" sz="2800" i="1">
                            <a:latin typeface="Cambria Math" panose="02040503050406030204" pitchFamily="18" charset="0"/>
                          </a:rPr>
                        </m:ctrlPr>
                      </m:dPr>
                      <m:e>
                        <m:r>
                          <a:rPr lang="en-US" sz="2800" i="0">
                            <a:latin typeface="Cambria Math" panose="02040503050406030204" pitchFamily="18" charset="0"/>
                          </a:rPr>
                          <m:t>|</m:t>
                        </m:r>
                        <m:r>
                          <a:rPr lang="en-US" sz="2800" i="1">
                            <a:latin typeface="Cambria Math" panose="02040503050406030204" pitchFamily="18" charset="0"/>
                          </a:rPr>
                          <m:t>𝑉</m:t>
                        </m:r>
                        <m:r>
                          <a:rPr lang="en-US" sz="2800" i="0">
                            <a:latin typeface="Cambria Math" panose="02040503050406030204" pitchFamily="18" charset="0"/>
                          </a:rPr>
                          <m:t>|</m:t>
                        </m:r>
                        <m:r>
                          <a:rPr lang="en-US" sz="2800" i="0" baseline="30000">
                            <a:latin typeface="Cambria Math" panose="02040503050406030204" pitchFamily="18" charset="0"/>
                          </a:rPr>
                          <m:t>2</m:t>
                        </m:r>
                        <m:r>
                          <a:rPr lang="en-US" sz="2800" i="0">
                            <a:latin typeface="Cambria Math" panose="02040503050406030204" pitchFamily="18" charset="0"/>
                          </a:rPr>
                          <m:t>+|</m:t>
                        </m:r>
                        <m:r>
                          <a:rPr lang="en-US" sz="2800" i="1">
                            <a:latin typeface="Cambria Math" panose="02040503050406030204" pitchFamily="18" charset="0"/>
                          </a:rPr>
                          <m:t>𝑉</m:t>
                        </m:r>
                        <m:r>
                          <a:rPr lang="en-US" sz="2800" i="0">
                            <a:latin typeface="Cambria Math" panose="02040503050406030204" pitchFamily="18" charset="0"/>
                          </a:rPr>
                          <m:t>|⋅|</m:t>
                        </m:r>
                        <m:r>
                          <a:rPr lang="en-US" sz="2800" i="1">
                            <a:latin typeface="Cambria Math" panose="02040503050406030204" pitchFamily="18" charset="0"/>
                          </a:rPr>
                          <m:t>𝐸</m:t>
                        </m:r>
                        <m:r>
                          <a:rPr lang="en-US" sz="2800" i="0">
                            <a:latin typeface="Cambria Math" panose="02040503050406030204" pitchFamily="18" charset="0"/>
                          </a:rPr>
                          <m:t>|</m:t>
                        </m:r>
                      </m:e>
                    </m:d>
                  </m:oMath>
                </a14:m>
                <a:endParaRPr lang="en-US" sz="2800">
                  <a:effectLst/>
                </a:endParaRPr>
              </a:p>
              <a:p>
                <a:pPr marL="0" marR="0">
                  <a:buNone/>
                </a:pPr>
                <a:endParaRPr lang="en-US" sz="2800">
                  <a:effectLst/>
                  <a:latin typeface="Google Sans Text"/>
                </a:endParaRPr>
              </a:p>
            </p:txBody>
          </p:sp>
        </mc:Choice>
        <mc:Fallback xmlns="">
          <p:sp>
            <p:nvSpPr>
              <p:cNvPr id="3" name="TextBox 2">
                <a:extLst>
                  <a:ext uri="{FF2B5EF4-FFF2-40B4-BE49-F238E27FC236}">
                    <a16:creationId xmlns:a16="http://schemas.microsoft.com/office/drawing/2014/main" id="{E10473AC-AF6A-DF60-5020-7BD88B3ECC14}"/>
                  </a:ext>
                </a:extLst>
              </p:cNvPr>
              <p:cNvSpPr txBox="1">
                <a:spLocks noRot="1" noChangeAspect="1" noMove="1" noResize="1" noEditPoints="1" noAdjustHandles="1" noChangeArrowheads="1" noChangeShapeType="1" noTextEdit="1"/>
              </p:cNvSpPr>
              <p:nvPr/>
            </p:nvSpPr>
            <p:spPr>
              <a:xfrm>
                <a:off x="651510" y="1820475"/>
                <a:ext cx="11197590" cy="2677656"/>
              </a:xfrm>
              <a:prstGeom prst="rect">
                <a:avLst/>
              </a:prstGeom>
              <a:blipFill>
                <a:blip r:embed="rId3"/>
                <a:stretch>
                  <a:fillRect l="-980" t="-227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4AD469C-D870-72C9-C8A4-634C7A3049B6}"/>
              </a:ext>
            </a:extLst>
          </p:cNvPr>
          <p:cNvSpPr txBox="1"/>
          <p:nvPr/>
        </p:nvSpPr>
        <p:spPr>
          <a:xfrm>
            <a:off x="888682" y="523994"/>
            <a:ext cx="9021127" cy="523220"/>
          </a:xfrm>
          <a:prstGeom prst="rect">
            <a:avLst/>
          </a:prstGeom>
          <a:noFill/>
        </p:spPr>
        <p:txBody>
          <a:bodyPr wrap="square">
            <a:spAutoFit/>
          </a:bodyPr>
          <a:lstStyle/>
          <a:p>
            <a:pPr marL="0" marR="0">
              <a:buNone/>
            </a:pPr>
            <a:r>
              <a:rPr lang="en-US" sz="2800" b="1">
                <a:effectLst/>
                <a:latin typeface="+mn-lt"/>
              </a:rPr>
              <a:t>Phân tích độ phức tạp thời gian (Time Analysis)</a:t>
            </a:r>
          </a:p>
        </p:txBody>
      </p:sp>
    </p:spTree>
    <p:extLst>
      <p:ext uri="{BB962C8B-B14F-4D97-AF65-F5344CB8AC3E}">
        <p14:creationId xmlns:p14="http://schemas.microsoft.com/office/powerpoint/2010/main" val="282267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6">
            <a:extLst>
              <a:ext uri="{FF2B5EF4-FFF2-40B4-BE49-F238E27FC236}">
                <a16:creationId xmlns:a16="http://schemas.microsoft.com/office/drawing/2014/main" id="{B0778CA1-6480-6F7C-5C01-FEEA410E1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113" y="167297"/>
            <a:ext cx="9390232" cy="645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C6D2-AD02-4586-1FA8-C586BA22E6CA}"/>
              </a:ext>
            </a:extLst>
          </p:cNvPr>
          <p:cNvSpPr txBox="1">
            <a:spLocks noChangeArrowheads="1"/>
          </p:cNvSpPr>
          <p:nvPr/>
        </p:nvSpPr>
        <p:spPr>
          <a:xfrm>
            <a:off x="457200" y="274638"/>
            <a:ext cx="8229600"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en-US" b="1"/>
              <a:t>Đưa về bài toán luồng cực đại</a:t>
            </a:r>
          </a:p>
        </p:txBody>
      </p:sp>
      <p:pic>
        <p:nvPicPr>
          <p:cNvPr id="3" name="Picture 4">
            <a:extLst>
              <a:ext uri="{FF2B5EF4-FFF2-40B4-BE49-F238E27FC236}">
                <a16:creationId xmlns:a16="http://schemas.microsoft.com/office/drawing/2014/main" id="{8294A0DF-94C8-B3B6-C931-67472F609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613" y="1508171"/>
            <a:ext cx="8703013" cy="5075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1063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70E420-B05A-A222-84FA-B39153B0B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57" y="688772"/>
            <a:ext cx="11918285" cy="592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30967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a:extLst>
              <a:ext uri="{FF2B5EF4-FFF2-40B4-BE49-F238E27FC236}">
                <a16:creationId xmlns:a16="http://schemas.microsoft.com/office/drawing/2014/main" id="{BF178C3D-25B2-E993-5659-25A9B6EC41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6074" y="194553"/>
            <a:ext cx="4876597" cy="6942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4594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55388E-49E1-5ECE-59B0-487AB7900E77}"/>
              </a:ext>
            </a:extLst>
          </p:cNvPr>
          <p:cNvSpPr/>
          <p:nvPr/>
        </p:nvSpPr>
        <p:spPr>
          <a:xfrm>
            <a:off x="478479" y="1652318"/>
            <a:ext cx="10805606" cy="4031873"/>
          </a:xfrm>
          <a:prstGeom prst="rect">
            <a:avLst/>
          </a:prstGeom>
        </p:spPr>
        <p:txBody>
          <a:bodyPr wrap="square">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Arial" panose="020B0604020202020204" pitchFamily="34" charset="0"/>
              <a:buChar char="•"/>
            </a:pPr>
            <a:r>
              <a:rPr lang="en-US" altLang="en-US" sz="3200">
                <a:solidFill>
                  <a:srgbClr val="000000"/>
                </a:solidFill>
                <a:latin typeface="Times New Roman" panose="02020603050405020304" pitchFamily="18" charset="0"/>
                <a:cs typeface="Times New Roman" panose="02020603050405020304" pitchFamily="18" charset="0"/>
              </a:rPr>
              <a:t>Tập đỉnh trái: { tọa độ N đỉnh trong hành trình của Bob}</a:t>
            </a:r>
            <a:endParaRPr lang="en-AU" altLang="en-US" sz="2800">
              <a:solidFill>
                <a:srgbClr val="000000"/>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sz="3200">
                <a:solidFill>
                  <a:srgbClr val="000000"/>
                </a:solidFill>
                <a:latin typeface="Times New Roman" panose="02020603050405020304" pitchFamily="18" charset="0"/>
                <a:cs typeface="Times New Roman" panose="02020603050405020304" pitchFamily="18" charset="0"/>
              </a:rPr>
              <a:t>Tập đỉnh phải: { tọa độ các đỉnh của M điểm thú vị}</a:t>
            </a:r>
            <a:endParaRPr lang="en-AU" altLang="en-US" sz="2800">
              <a:solidFill>
                <a:srgbClr val="000000"/>
              </a:solidFill>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r>
              <a:rPr lang="en-US" altLang="en-US" sz="3200">
                <a:solidFill>
                  <a:srgbClr val="000000"/>
                </a:solidFill>
                <a:latin typeface="Times New Roman" panose="02020603050405020304" pitchFamily="18" charset="0"/>
                <a:cs typeface="Times New Roman" panose="02020603050405020304" pitchFamily="18" charset="0"/>
              </a:rPr>
              <a:t>Xét từng cặp(i,j) [ bỏ các cặp (i</a:t>
            </a:r>
            <a:r>
              <a:rPr lang="en-US" altLang="en-US" sz="3200" baseline="-25000">
                <a:solidFill>
                  <a:srgbClr val="000000"/>
                </a:solidFill>
                <a:latin typeface="Times New Roman" panose="02020603050405020304" pitchFamily="18" charset="0"/>
                <a:cs typeface="Times New Roman" panose="02020603050405020304" pitchFamily="18" charset="0"/>
              </a:rPr>
              <a:t>last</a:t>
            </a:r>
            <a:r>
              <a:rPr lang="en-US" altLang="en-US" sz="3200">
                <a:solidFill>
                  <a:srgbClr val="000000"/>
                </a:solidFill>
                <a:latin typeface="Times New Roman" panose="02020603050405020304" pitchFamily="18" charset="0"/>
                <a:cs typeface="Times New Roman" panose="02020603050405020304" pitchFamily="18" charset="0"/>
              </a:rPr>
              <a:t>,j) ] với i thuộc tập đỉnh trái, j thuộc tập đỉnh phải. Một cung (i,j) được xác định nếu việc chú chó từ i thăm j và quay lại i+1  không vi phạm ràng buộc (Nghĩa là độ dài đọan đường chó đi không lớn hơn hai lần độ dài đọan đường của Bob, vì chó có thể di chuyển với vận tốc gấp đôi vận tốc của Bob).</a:t>
            </a:r>
            <a:endParaRPr lang="en-AU" altLang="en-US" sz="280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2385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BDD153-FAE9-CBC0-0397-47F265539DC6}"/>
              </a:ext>
            </a:extLst>
          </p:cNvPr>
          <p:cNvPicPr>
            <a:picLocks noChangeAspect="1"/>
          </p:cNvPicPr>
          <p:nvPr/>
        </p:nvPicPr>
        <p:blipFill>
          <a:blip r:embed="rId2"/>
          <a:stretch>
            <a:fillRect/>
          </a:stretch>
        </p:blipFill>
        <p:spPr>
          <a:xfrm>
            <a:off x="1034817" y="108175"/>
            <a:ext cx="10122366" cy="6641649"/>
          </a:xfrm>
          <a:prstGeom prst="rect">
            <a:avLst/>
          </a:prstGeom>
        </p:spPr>
      </p:pic>
    </p:spTree>
    <p:extLst>
      <p:ext uri="{BB962C8B-B14F-4D97-AF65-F5344CB8AC3E}">
        <p14:creationId xmlns:p14="http://schemas.microsoft.com/office/powerpoint/2010/main" val="1912886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6A2E22-6F99-E469-83CF-D5D3D5C49F11}"/>
              </a:ext>
            </a:extLst>
          </p:cNvPr>
          <p:cNvPicPr>
            <a:picLocks noChangeAspect="1"/>
          </p:cNvPicPr>
          <p:nvPr/>
        </p:nvPicPr>
        <p:blipFill>
          <a:blip r:embed="rId3"/>
          <a:srcRect b="18257"/>
          <a:stretch>
            <a:fillRect/>
          </a:stretch>
        </p:blipFill>
        <p:spPr>
          <a:xfrm>
            <a:off x="842089" y="170234"/>
            <a:ext cx="2270762" cy="6517532"/>
          </a:xfrm>
          <a:prstGeom prst="rect">
            <a:avLst/>
          </a:prstGeom>
        </p:spPr>
      </p:pic>
      <p:pic>
        <p:nvPicPr>
          <p:cNvPr id="7" name="Picture 6">
            <a:extLst>
              <a:ext uri="{FF2B5EF4-FFF2-40B4-BE49-F238E27FC236}">
                <a16:creationId xmlns:a16="http://schemas.microsoft.com/office/drawing/2014/main" id="{C2CAEDE1-F87D-5723-8934-CE69AF1E7E85}"/>
              </a:ext>
            </a:extLst>
          </p:cNvPr>
          <p:cNvPicPr>
            <a:picLocks noChangeAspect="1"/>
          </p:cNvPicPr>
          <p:nvPr/>
        </p:nvPicPr>
        <p:blipFill>
          <a:blip r:embed="rId4"/>
          <a:stretch>
            <a:fillRect/>
          </a:stretch>
        </p:blipFill>
        <p:spPr>
          <a:xfrm>
            <a:off x="3514610" y="390914"/>
            <a:ext cx="1102105" cy="1029323"/>
          </a:xfrm>
          <a:prstGeom prst="rect">
            <a:avLst/>
          </a:prstGeom>
        </p:spPr>
      </p:pic>
    </p:spTree>
    <p:extLst>
      <p:ext uri="{BB962C8B-B14F-4D97-AF65-F5344CB8AC3E}">
        <p14:creationId xmlns:p14="http://schemas.microsoft.com/office/powerpoint/2010/main" val="3242864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251E1C-DF1D-7CAC-7E93-CAB97768A538}"/>
                  </a:ext>
                </a:extLst>
              </p:cNvPr>
              <p:cNvSpPr txBox="1"/>
              <p:nvPr/>
            </p:nvSpPr>
            <p:spPr>
              <a:xfrm>
                <a:off x="136187" y="1012954"/>
                <a:ext cx="12055813" cy="4832092"/>
              </a:xfrm>
              <a:prstGeom prst="rect">
                <a:avLst/>
              </a:prstGeom>
              <a:noFill/>
            </p:spPr>
            <p:txBody>
              <a:bodyPr wrap="square">
                <a:spAutoFit/>
              </a:bodyPr>
              <a:lstStyle/>
              <a:p>
                <a:pPr marL="0" marR="0">
                  <a:buNone/>
                </a:pPr>
                <a:r>
                  <a:rPr lang="en-US" sz="2800" b="1">
                    <a:effectLst/>
                    <a:latin typeface="+mn-lt"/>
                  </a:rPr>
                  <a:t>1. Phân Tích Bài Toán</a:t>
                </a:r>
              </a:p>
              <a:p>
                <a:pPr marL="0" marR="0" lvl="0" indent="-342900">
                  <a:buFont typeface="Arial" panose="020B0604020202020204" pitchFamily="34" charset="0"/>
                  <a:buChar char="•"/>
                </a:pPr>
                <a:r>
                  <a:rPr lang="en-US" sz="2800" b="1">
                    <a:effectLst/>
                    <a:latin typeface="+mn-lt"/>
                  </a:rPr>
                  <a:t>Dữ liệu vào:</a:t>
                </a:r>
                <a:endParaRPr lang="en-US" sz="2800">
                  <a:effectLst/>
                  <a:latin typeface="+mn-lt"/>
                </a:endParaRPr>
              </a:p>
              <a:p>
                <a:pPr marL="457200" lvl="2" indent="-285750">
                  <a:buFont typeface="Arial" panose="020B0604020202020204" pitchFamily="34" charset="0"/>
                  <a:buChar char="•"/>
                </a:pPr>
                <a14:m>
                  <m:oMath xmlns:m="http://schemas.openxmlformats.org/officeDocument/2006/math">
                    <m:r>
                      <a:rPr lang="en-US" sz="2800" i="1" smtClean="0">
                        <a:latin typeface="Cambria Math" panose="02040503050406030204" pitchFamily="18" charset="0"/>
                      </a:rPr>
                      <m:t>𝑛𝑘</m:t>
                    </m:r>
                  </m:oMath>
                </a14:m>
                <a:r>
                  <a:rPr lang="en-US" sz="2800">
                    <a:effectLst/>
                    <a:latin typeface="+mn-lt"/>
                  </a:rPr>
                  <a:t>: Số lượng chủ đề (</a:t>
                </a:r>
                <a14:m>
                  <m:oMath xmlns:m="http://schemas.openxmlformats.org/officeDocument/2006/math">
                    <m:r>
                      <a:rPr lang="en-US" sz="2800" smtClean="0">
                        <a:latin typeface="Cambria Math" panose="02040503050406030204" pitchFamily="18" charset="0"/>
                      </a:rPr>
                      <m:t>2</m:t>
                    </m:r>
                    <m:r>
                      <a:rPr lang="en-US" sz="2800" i="0">
                        <a:latin typeface="Cambria Math" panose="02040503050406030204" pitchFamily="18" charset="0"/>
                      </a:rPr>
                      <m:t>≤</m:t>
                    </m:r>
                    <m:r>
                      <a:rPr lang="en-US" sz="2800" i="1">
                        <a:latin typeface="Cambria Math" panose="02040503050406030204" pitchFamily="18" charset="0"/>
                      </a:rPr>
                      <m:t>𝑛𝑘</m:t>
                    </m:r>
                    <m:r>
                      <a:rPr lang="en-US" sz="2800" i="0">
                        <a:latin typeface="Cambria Math" panose="02040503050406030204" pitchFamily="18" charset="0"/>
                      </a:rPr>
                      <m:t>≤20</m:t>
                    </m:r>
                  </m:oMath>
                </a14:m>
                <a:r>
                  <a:rPr lang="en-US" sz="2800">
                    <a:effectLst/>
                    <a:latin typeface="+mn-lt"/>
                  </a:rPr>
                  <a:t>).</a:t>
                </a:r>
              </a:p>
              <a:p>
                <a:pPr marL="457200" lvl="2" indent="-285750">
                  <a:buFont typeface="Arial" panose="020B0604020202020204" pitchFamily="34" charset="0"/>
                  <a:buChar char="•"/>
                </a:pPr>
                <a14:m>
                  <m:oMath xmlns:m="http://schemas.openxmlformats.org/officeDocument/2006/math">
                    <m:r>
                      <a:rPr lang="en-US" sz="2800" i="1" smtClean="0">
                        <a:latin typeface="Cambria Math" panose="02040503050406030204" pitchFamily="18" charset="0"/>
                      </a:rPr>
                      <m:t>𝑛𝑝</m:t>
                    </m:r>
                  </m:oMath>
                </a14:m>
                <a:r>
                  <a:rPr lang="en-US" sz="2800">
                    <a:effectLst/>
                    <a:latin typeface="+mn-lt"/>
                  </a:rPr>
                  <a:t>: Số lượng câu hỏi đề nghị (</a:t>
                </a:r>
                <a14:m>
                  <m:oMath xmlns:m="http://schemas.openxmlformats.org/officeDocument/2006/math">
                    <m:r>
                      <a:rPr lang="en-US" sz="2800" i="1" smtClean="0">
                        <a:latin typeface="Cambria Math" panose="02040503050406030204" pitchFamily="18" charset="0"/>
                      </a:rPr>
                      <m:t>𝑛𝑘</m:t>
                    </m:r>
                    <m:r>
                      <a:rPr lang="en-US" sz="2800" i="0">
                        <a:latin typeface="Cambria Math" panose="02040503050406030204" pitchFamily="18" charset="0"/>
                      </a:rPr>
                      <m:t>≤</m:t>
                    </m:r>
                    <m:r>
                      <a:rPr lang="en-US" sz="2800" i="1">
                        <a:latin typeface="Cambria Math" panose="02040503050406030204" pitchFamily="18" charset="0"/>
                      </a:rPr>
                      <m:t>𝑛𝑝</m:t>
                    </m:r>
                    <m:r>
                      <a:rPr lang="en-US" sz="2800" i="0">
                        <a:latin typeface="Cambria Math" panose="02040503050406030204" pitchFamily="18" charset="0"/>
                      </a:rPr>
                      <m:t>≤1000</m:t>
                    </m:r>
                  </m:oMath>
                </a14:m>
                <a:r>
                  <a:rPr lang="en-US" sz="2800">
                    <a:effectLst/>
                    <a:latin typeface="+mn-lt"/>
                  </a:rPr>
                  <a:t>).</a:t>
                </a:r>
              </a:p>
              <a:p>
                <a:pPr marL="457200" lvl="2" indent="-285750">
                  <a:buFont typeface="Arial" panose="020B0604020202020204" pitchFamily="34" charset="0"/>
                  <a:buChar char="•"/>
                </a:pPr>
                <a:r>
                  <a:rPr lang="en-US" sz="2800">
                    <a:effectLst/>
                    <a:latin typeface="+mn-lt"/>
                  </a:rPr>
                  <a:t>Mảng </a:t>
                </a:r>
                <a14:m>
                  <m:oMath xmlns:m="http://schemas.openxmlformats.org/officeDocument/2006/math">
                    <m:r>
                      <a:rPr lang="en-US" sz="2800" i="1" smtClean="0">
                        <a:latin typeface="Cambria Math" panose="02040503050406030204" pitchFamily="18" charset="0"/>
                      </a:rPr>
                      <m:t>𝑅</m:t>
                    </m:r>
                  </m:oMath>
                </a14:m>
                <a:r>
                  <a:rPr lang="en-US" sz="2800">
                    <a:effectLst/>
                    <a:latin typeface="+mn-lt"/>
                  </a:rPr>
                  <a:t>: Số câu hỏi cần thiết cho mỗi chủ đề (Tổng </a:t>
                </a:r>
                <a14:m>
                  <m:oMath xmlns:m="http://schemas.openxmlformats.org/officeDocument/2006/math">
                    <m:nary>
                      <m:naryPr>
                        <m:chr m:val="∑"/>
                        <m:limLoc m:val="undOvr"/>
                        <m:subHide m:val="on"/>
                        <m:supHide m:val="on"/>
                        <m:ctrlPr>
                          <a:rPr lang="en-US" sz="2800" i="1">
                            <a:latin typeface="Cambria Math" panose="02040503050406030204" pitchFamily="18" charset="0"/>
                          </a:rPr>
                        </m:ctrlPr>
                      </m:naryPr>
                      <m:sub/>
                      <m:sup/>
                      <m:e>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e>
                    </m:nary>
                    <m:r>
                      <a:rPr lang="en-US" sz="2800" i="0">
                        <a:latin typeface="Cambria Math" panose="02040503050406030204" pitchFamily="18" charset="0"/>
                      </a:rPr>
                      <m:t>≤100</m:t>
                    </m:r>
                  </m:oMath>
                </a14:m>
                <a:r>
                  <a:rPr lang="en-US" sz="2800">
                    <a:effectLst/>
                    <a:latin typeface="+mn-lt"/>
                  </a:rPr>
                  <a:t>).</a:t>
                </a:r>
              </a:p>
              <a:p>
                <a:pPr marL="457200" lvl="2" indent="-285750">
                  <a:buFont typeface="Arial" panose="020B0604020202020204" pitchFamily="34" charset="0"/>
                  <a:buChar char="•"/>
                </a:pPr>
                <a:r>
                  <a:rPr lang="en-US" sz="2800">
                    <a:effectLst/>
                    <a:latin typeface="+mn-lt"/>
                  </a:rPr>
                  <a:t>Danh sách các chủ đề phù hợp cho từng câu hỏi </a:t>
                </a:r>
                <a14:m>
                  <m:oMath xmlns:m="http://schemas.openxmlformats.org/officeDocument/2006/math">
                    <m:r>
                      <a:rPr lang="en-US" sz="2800" i="1" smtClean="0">
                        <a:latin typeface="Cambria Math" panose="02040503050406030204" pitchFamily="18" charset="0"/>
                      </a:rPr>
                      <m:t>𝑗</m:t>
                    </m:r>
                  </m:oMath>
                </a14:m>
                <a:r>
                  <a:rPr lang="en-US" sz="2800">
                    <a:effectLst/>
                    <a:latin typeface="+mn-lt"/>
                  </a:rPr>
                  <a:t>(</a:t>
                </a:r>
                <a14:m>
                  <m:oMath xmlns:m="http://schemas.openxmlformats.org/officeDocument/2006/math">
                    <m:r>
                      <a:rPr lang="en-US" sz="2800" smtClean="0">
                        <a:latin typeface="Cambria Math" panose="02040503050406030204" pitchFamily="18" charset="0"/>
                      </a:rPr>
                      <m:t>1</m:t>
                    </m:r>
                    <m:r>
                      <a:rPr lang="en-US" sz="2800" i="0">
                        <a:latin typeface="Cambria Math" panose="02040503050406030204" pitchFamily="18" charset="0"/>
                      </a:rPr>
                      <m:t>≤</m:t>
                    </m:r>
                    <m:r>
                      <a:rPr lang="en-US" sz="2800" i="1">
                        <a:latin typeface="Cambria Math" panose="02040503050406030204" pitchFamily="18" charset="0"/>
                      </a:rPr>
                      <m:t>𝑗</m:t>
                    </m:r>
                    <m:r>
                      <a:rPr lang="en-US" sz="2800" i="0">
                        <a:latin typeface="Cambria Math" panose="02040503050406030204" pitchFamily="18" charset="0"/>
                      </a:rPr>
                      <m:t>≤</m:t>
                    </m:r>
                    <m:r>
                      <a:rPr lang="en-US" sz="2800" i="1">
                        <a:latin typeface="Cambria Math" panose="02040503050406030204" pitchFamily="18" charset="0"/>
                      </a:rPr>
                      <m:t>𝑛𝑝</m:t>
                    </m:r>
                  </m:oMath>
                </a14:m>
                <a:r>
                  <a:rPr lang="en-US" sz="2800">
                    <a:effectLst/>
                    <a:latin typeface="+mn-lt"/>
                  </a:rPr>
                  <a:t>).</a:t>
                </a:r>
              </a:p>
              <a:p>
                <a:pPr marL="0" marR="0" lvl="0" indent="-342900">
                  <a:buFont typeface="Arial" panose="020B0604020202020204" pitchFamily="34" charset="0"/>
                  <a:buChar char="•"/>
                </a:pPr>
                <a:r>
                  <a:rPr lang="en-US" sz="2800" b="1">
                    <a:effectLst/>
                    <a:latin typeface="+mn-lt"/>
                  </a:rPr>
                  <a:t>Yêu cầu:</a:t>
                </a:r>
                <a:endParaRPr lang="en-US" sz="2800">
                  <a:effectLst/>
                  <a:latin typeface="+mn-lt"/>
                </a:endParaRPr>
              </a:p>
              <a:p>
                <a:pPr marL="457200" lvl="2" indent="-285750">
                  <a:buFont typeface="Arial" panose="020B0604020202020204" pitchFamily="34" charset="0"/>
                  <a:buChar char="•"/>
                </a:pPr>
                <a:r>
                  <a:rPr lang="en-US" sz="2800">
                    <a:effectLst/>
                    <a:latin typeface="+mn-lt"/>
                  </a:rPr>
                  <a:t>Chọn ra từ </a:t>
                </a:r>
                <a14:m>
                  <m:oMath xmlns:m="http://schemas.openxmlformats.org/officeDocument/2006/math">
                    <m:r>
                      <a:rPr lang="en-US" sz="2800" i="1" smtClean="0">
                        <a:latin typeface="Cambria Math" panose="02040503050406030204" pitchFamily="18" charset="0"/>
                      </a:rPr>
                      <m:t>𝑛𝑝</m:t>
                    </m:r>
                  </m:oMath>
                </a14:m>
                <a:r>
                  <a:rPr lang="en-US" sz="2800">
                    <a:effectLst/>
                    <a:latin typeface="+mn-lt"/>
                  </a:rPr>
                  <a:t>câu hỏi đề nghị các câu hỏi sao cho chủ đề thứ </a:t>
                </a:r>
                <a14:m>
                  <m:oMath xmlns:m="http://schemas.openxmlformats.org/officeDocument/2006/math">
                    <m:r>
                      <a:rPr lang="en-US" sz="2800" i="1" smtClean="0">
                        <a:latin typeface="Cambria Math" panose="02040503050406030204" pitchFamily="18" charset="0"/>
                      </a:rPr>
                      <m:t>𝑖</m:t>
                    </m:r>
                  </m:oMath>
                </a14:m>
                <a:r>
                  <a:rPr lang="en-US" sz="2800">
                    <a:effectLst/>
                    <a:latin typeface="+mn-lt"/>
                  </a:rPr>
                  <a:t>nhận đúng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oMath>
                </a14:m>
                <a:r>
                  <a:rPr lang="en-US" sz="2800">
                    <a:effectLst/>
                    <a:latin typeface="+mn-lt"/>
                  </a:rPr>
                  <a:t>câu hỏi </a:t>
                </a:r>
                <a:r>
                  <a:rPr lang="en-US" sz="2800" b="1">
                    <a:effectLst/>
                    <a:latin typeface="+mn-lt"/>
                  </a:rPr>
                  <a:t>phù hợp</a:t>
                </a:r>
                <a:r>
                  <a:rPr lang="en-US" sz="2800">
                    <a:effectLst/>
                    <a:latin typeface="+mn-lt"/>
                  </a:rPr>
                  <a:t> và </a:t>
                </a:r>
                <a:r>
                  <a:rPr lang="en-US" sz="2800" b="1">
                    <a:effectLst/>
                    <a:latin typeface="+mn-lt"/>
                  </a:rPr>
                  <a:t>không trùng lặp</a:t>
                </a:r>
                <a:r>
                  <a:rPr lang="en-US" sz="2800">
                    <a:effectLst/>
                    <a:latin typeface="+mn-lt"/>
                  </a:rPr>
                  <a:t> giữa các chủ đề.</a:t>
                </a:r>
              </a:p>
              <a:p>
                <a:pPr marL="457200" lvl="2" indent="-285750">
                  <a:buFont typeface="Arial" panose="020B0604020202020204" pitchFamily="34" charset="0"/>
                  <a:buChar char="•"/>
                </a:pPr>
                <a:r>
                  <a:rPr lang="en-US" sz="2800">
                    <a:effectLst/>
                    <a:latin typeface="+mn-lt"/>
                  </a:rPr>
                  <a:t>Xuất 1 + danh sách các câu hỏi thuộc từng chủ đề nếu làm được.</a:t>
                </a:r>
              </a:p>
              <a:p>
                <a:pPr marL="457200" lvl="2" indent="-285750">
                  <a:buFont typeface="Arial" panose="020B0604020202020204" pitchFamily="34" charset="0"/>
                  <a:buChar char="•"/>
                </a:pPr>
                <a:r>
                  <a:rPr lang="en-US" sz="2800">
                    <a:effectLst/>
                    <a:latin typeface="+mn-lt"/>
                  </a:rPr>
                  <a:t>Xuất 0 nếu không thể chọn đủ.</a:t>
                </a:r>
                <a:endParaRPr lang="en-US" sz="2800">
                  <a:effectLst/>
                  <a:latin typeface="Google Sans Text"/>
                </a:endParaRPr>
              </a:p>
            </p:txBody>
          </p:sp>
        </mc:Choice>
        <mc:Fallback xmlns="">
          <p:sp>
            <p:nvSpPr>
              <p:cNvPr id="3" name="TextBox 2">
                <a:extLst>
                  <a:ext uri="{FF2B5EF4-FFF2-40B4-BE49-F238E27FC236}">
                    <a16:creationId xmlns:a16="http://schemas.microsoft.com/office/drawing/2014/main" id="{B3251E1C-DF1D-7CAC-7E93-CAB97768A538}"/>
                  </a:ext>
                </a:extLst>
              </p:cNvPr>
              <p:cNvSpPr txBox="1">
                <a:spLocks noRot="1" noChangeAspect="1" noMove="1" noResize="1" noEditPoints="1" noAdjustHandles="1" noChangeArrowheads="1" noChangeShapeType="1" noTextEdit="1"/>
              </p:cNvSpPr>
              <p:nvPr/>
            </p:nvSpPr>
            <p:spPr>
              <a:xfrm>
                <a:off x="136187" y="1012954"/>
                <a:ext cx="12055813" cy="4832092"/>
              </a:xfrm>
              <a:prstGeom prst="rect">
                <a:avLst/>
              </a:prstGeom>
              <a:blipFill>
                <a:blip r:embed="rId2"/>
                <a:stretch>
                  <a:fillRect l="-1011" t="-1135" r="-1668" b="-2648"/>
                </a:stretch>
              </a:blipFill>
            </p:spPr>
            <p:txBody>
              <a:bodyPr/>
              <a:lstStyle/>
              <a:p>
                <a:r>
                  <a:rPr lang="en-US">
                    <a:noFill/>
                  </a:rPr>
                  <a:t> </a:t>
                </a:r>
              </a:p>
            </p:txBody>
          </p:sp>
        </mc:Fallback>
      </mc:AlternateContent>
    </p:spTree>
    <p:extLst>
      <p:ext uri="{BB962C8B-B14F-4D97-AF65-F5344CB8AC3E}">
        <p14:creationId xmlns:p14="http://schemas.microsoft.com/office/powerpoint/2010/main" val="713756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797C0EB-08C9-728F-E9DC-7CE30EF55AE8}"/>
                  </a:ext>
                </a:extLst>
              </p:cNvPr>
              <p:cNvSpPr txBox="1"/>
              <p:nvPr/>
            </p:nvSpPr>
            <p:spPr>
              <a:xfrm>
                <a:off x="192932" y="366623"/>
                <a:ext cx="11806135" cy="6124754"/>
              </a:xfrm>
              <a:prstGeom prst="rect">
                <a:avLst/>
              </a:prstGeom>
              <a:noFill/>
            </p:spPr>
            <p:txBody>
              <a:bodyPr wrap="square">
                <a:spAutoFit/>
              </a:bodyPr>
              <a:lstStyle/>
              <a:p>
                <a:pPr marL="0" marR="0">
                  <a:buNone/>
                </a:pPr>
                <a:r>
                  <a:rPr lang="en-US" sz="2800" b="1">
                    <a:effectLst/>
                    <a:latin typeface="+mn-lt"/>
                  </a:rPr>
                  <a:t>2. Ý Tưởng &amp; Mô Hình Hóa Đồ Thị</a:t>
                </a:r>
              </a:p>
              <a:p>
                <a:pPr lvl="1"/>
                <a:r>
                  <a:rPr lang="en-US" sz="2800">
                    <a:effectLst/>
                    <a:latin typeface="+mn-lt"/>
                  </a:rPr>
                  <a:t>Vì tổng số câu hỏi cần chọn </a:t>
                </a:r>
                <a14:m>
                  <m:oMath xmlns:m="http://schemas.openxmlformats.org/officeDocument/2006/math">
                    <m:nary>
                      <m:naryPr>
                        <m:chr m:val="∑"/>
                        <m:limLoc m:val="undOvr"/>
                        <m:subHide m:val="on"/>
                        <m:supHide m:val="on"/>
                        <m:ctrlPr>
                          <a:rPr lang="en-US" sz="2800" i="1">
                            <a:latin typeface="Cambria Math" panose="02040503050406030204" pitchFamily="18" charset="0"/>
                          </a:rPr>
                        </m:ctrlPr>
                      </m:naryPr>
                      <m:sub/>
                      <m:sup/>
                      <m:e>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e>
                    </m:nary>
                    <m:r>
                      <a:rPr lang="en-US" sz="2800" i="0">
                        <a:latin typeface="Cambria Math" panose="02040503050406030204" pitchFamily="18" charset="0"/>
                      </a:rPr>
                      <m:t>≤100</m:t>
                    </m:r>
                  </m:oMath>
                </a14:m>
                <a:r>
                  <a:rPr lang="en-US" sz="2800">
                    <a:effectLst/>
                    <a:latin typeface="+mn-lt"/>
                  </a:rPr>
                  <a:t>là rất nhỏ, ta có thể đưa bài toán về </a:t>
                </a:r>
                <a:r>
                  <a:rPr lang="en-US" sz="2800" b="1">
                    <a:effectLst/>
                    <a:latin typeface="+mn-lt"/>
                  </a:rPr>
                  <a:t>Cặp ghép cực đại trên Đồ thị hai phía (Bipartite Matching)</a:t>
                </a:r>
                <a:r>
                  <a:rPr lang="en-US" sz="2800">
                    <a:effectLst/>
                    <a:latin typeface="+mn-lt"/>
                  </a:rPr>
                  <a:t>:</a:t>
                </a:r>
              </a:p>
              <a:p>
                <a:pPr marL="0" marR="0">
                  <a:buNone/>
                </a:pPr>
                <a:r>
                  <a:rPr lang="en-US" sz="2800" b="1">
                    <a:effectLst/>
                    <a:latin typeface="+mn-lt"/>
                  </a:rPr>
                  <a:t>Xây dựng Đồ thị hai phía </a:t>
                </a:r>
                <a14:m>
                  <m:oMath xmlns:m="http://schemas.openxmlformats.org/officeDocument/2006/math">
                    <m:r>
                      <a:rPr lang="en-US" sz="2800" i="1" smtClean="0">
                        <a:latin typeface="Cambria Math" panose="02040503050406030204" pitchFamily="18" charset="0"/>
                      </a:rPr>
                      <m:t>𝐺</m:t>
                    </m:r>
                    <m:r>
                      <a:rPr lang="en-US" sz="2800" i="0">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𝐴</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𝐵</m:t>
                            </m:r>
                          </m:sub>
                        </m:sSub>
                        <m:r>
                          <a:rPr lang="en-US" sz="2800" i="0">
                            <a:latin typeface="Cambria Math" panose="02040503050406030204" pitchFamily="18" charset="0"/>
                          </a:rPr>
                          <m:t>,</m:t>
                        </m:r>
                        <m:r>
                          <a:rPr lang="en-US" sz="2800" i="1">
                            <a:latin typeface="Cambria Math" panose="02040503050406030204" pitchFamily="18" charset="0"/>
                          </a:rPr>
                          <m:t>𝐸</m:t>
                        </m:r>
                      </m:e>
                    </m:d>
                  </m:oMath>
                </a14:m>
                <a:r>
                  <a:rPr lang="en-US" sz="2800" b="1">
                    <a:effectLst/>
                    <a:latin typeface="+mn-lt"/>
                  </a:rPr>
                  <a:t>:</a:t>
                </a:r>
              </a:p>
              <a:p>
                <a:pPr marL="0" marR="0" lvl="0" indent="-342900">
                  <a:buFont typeface="+mj-lt"/>
                  <a:buAutoNum type="arabicPeriod"/>
                </a:pPr>
                <a:r>
                  <a:rPr lang="en-US" sz="2800" b="1">
                    <a:effectLst/>
                    <a:latin typeface="+mn-lt"/>
                  </a:rPr>
                  <a:t>Tập bên trái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𝐴</m:t>
                        </m:r>
                      </m:sub>
                    </m:sSub>
                  </m:oMath>
                </a14:m>
                <a:r>
                  <a:rPr lang="en-US" sz="2800" b="1">
                    <a:effectLst/>
                    <a:latin typeface="+mn-lt"/>
                  </a:rPr>
                  <a:t> - Các "vị trí" nhu cầu của chủ đề):</a:t>
                </a:r>
                <a:endParaRPr lang="en-US" sz="2800">
                  <a:effectLst/>
                  <a:latin typeface="+mn-lt"/>
                </a:endParaRPr>
              </a:p>
              <a:p>
                <a:pPr marL="457200" lvl="2" indent="-285750">
                  <a:buFont typeface="+mj-lt"/>
                  <a:buAutoNum type="arabicPeriod"/>
                </a:pPr>
                <a:r>
                  <a:rPr lang="en-US" sz="2800">
                    <a:effectLst/>
                    <a:latin typeface="+mn-lt"/>
                  </a:rPr>
                  <a:t>Vì chủ đề </a:t>
                </a:r>
                <a14:m>
                  <m:oMath xmlns:m="http://schemas.openxmlformats.org/officeDocument/2006/math">
                    <m:r>
                      <a:rPr lang="en-US" sz="2800" i="1" smtClean="0">
                        <a:latin typeface="Cambria Math" panose="02040503050406030204" pitchFamily="18" charset="0"/>
                      </a:rPr>
                      <m:t>𝑖</m:t>
                    </m:r>
                    <m:r>
                      <a:rPr lang="en-US" sz="2800" b="0" i="1" smtClean="0">
                        <a:latin typeface="Cambria Math" panose="02040503050406030204" pitchFamily="18" charset="0"/>
                      </a:rPr>
                      <m:t> </m:t>
                    </m:r>
                  </m:oMath>
                </a14:m>
                <a:r>
                  <a:rPr lang="en-US" sz="2800">
                    <a:effectLst/>
                    <a:latin typeface="+mn-lt"/>
                  </a:rPr>
                  <a:t>cần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oMath>
                </a14:m>
                <a:r>
                  <a:rPr lang="en-US" sz="2800">
                    <a:effectLst/>
                    <a:latin typeface="+mn-lt"/>
                  </a:rPr>
                  <a:t> câu hỏi, ta sẽ "nhân bản" chủ đề </a:t>
                </a:r>
                <a14:m>
                  <m:oMath xmlns:m="http://schemas.openxmlformats.org/officeDocument/2006/math">
                    <m:r>
                      <a:rPr lang="en-US" sz="2800" i="1" smtClean="0">
                        <a:latin typeface="Cambria Math" panose="02040503050406030204" pitchFamily="18" charset="0"/>
                      </a:rPr>
                      <m:t>𝑖</m:t>
                    </m:r>
                  </m:oMath>
                </a14:m>
                <a:r>
                  <a:rPr lang="en-US" sz="2800">
                    <a:effectLst/>
                    <a:latin typeface="+mn-lt"/>
                  </a:rPr>
                  <a:t>thành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oMath>
                </a14:m>
                <a:r>
                  <a:rPr lang="en-US" sz="2800">
                    <a:effectLst/>
                    <a:latin typeface="+mn-lt"/>
                  </a:rPr>
                  <a:t> vị trí (slot) riêng biệt.</a:t>
                </a:r>
              </a:p>
              <a:p>
                <a:pPr marL="457200" lvl="2" indent="-285750">
                  <a:buFont typeface="+mj-lt"/>
                  <a:buAutoNum type="arabicPeriod"/>
                </a:pPr>
                <a:r>
                  <a:rPr lang="en-US" sz="2800">
                    <a:effectLst/>
                    <a:latin typeface="+mn-lt"/>
                  </a:rPr>
                  <a:t>Tổng số vị trí nhu cầu </a:t>
                </a:r>
                <a14:m>
                  <m:oMath xmlns:m="http://schemas.openxmlformats.org/officeDocument/2006/math">
                    <m:r>
                      <a:rPr lang="en-US" sz="2800" i="1" smtClean="0">
                        <a:latin typeface="Cambria Math" panose="02040503050406030204" pitchFamily="18" charset="0"/>
                      </a:rPr>
                      <m:t>𝑀</m:t>
                    </m:r>
                    <m:r>
                      <a:rPr lang="en-US" sz="2800" i="0">
                        <a:latin typeface="Cambria Math" panose="02040503050406030204" pitchFamily="18" charset="0"/>
                      </a:rPr>
                      <m:t>=</m:t>
                    </m:r>
                    <m:nary>
                      <m:naryPr>
                        <m:chr m:val="∑"/>
                        <m:limLoc m:val="undOvr"/>
                        <m:subHide m:val="on"/>
                        <m:supHide m:val="on"/>
                        <m:ctrlPr>
                          <a:rPr lang="en-US" sz="2800" i="1">
                            <a:latin typeface="Cambria Math" panose="02040503050406030204" pitchFamily="18" charset="0"/>
                          </a:rPr>
                        </m:ctrlPr>
                      </m:naryPr>
                      <m:sub/>
                      <m:sup/>
                      <m:e>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𝑖</m:t>
                            </m:r>
                          </m:sub>
                        </m:sSub>
                      </m:e>
                    </m:nary>
                    <m:r>
                      <a:rPr lang="en-US" sz="2800" i="0">
                        <a:latin typeface="Cambria Math" panose="02040503050406030204" pitchFamily="18" charset="0"/>
                      </a:rPr>
                      <m:t>≤100</m:t>
                    </m:r>
                  </m:oMath>
                </a14:m>
                <a:r>
                  <a:rPr lang="en-US" sz="2800">
                    <a:effectLst/>
                    <a:latin typeface="+mn-lt"/>
                  </a:rPr>
                  <a:t>.</a:t>
                </a:r>
              </a:p>
              <a:p>
                <a:pPr marL="457200" lvl="2" indent="-285750">
                  <a:buFont typeface="+mj-lt"/>
                  <a:buAutoNum type="arabicPeriod"/>
                </a:pPr>
                <a:r>
                  <a:rPr lang="en-US" sz="2800">
                    <a:effectLst/>
                    <a:latin typeface="+mn-lt"/>
                  </a:rPr>
                  <a:t>Ví dụ: Nếu Chủ đề 1 cần 3 câu, ta tạo 3 ô vị trí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𝑆</m:t>
                        </m:r>
                      </m:e>
                      <m:sub>
                        <m:r>
                          <a:rPr lang="en-US" sz="2800" i="0">
                            <a:latin typeface="Cambria Math" panose="02040503050406030204" pitchFamily="18" charset="0"/>
                          </a:rPr>
                          <m:t>3</m:t>
                        </m:r>
                      </m:sub>
                    </m:sSub>
                  </m:oMath>
                </a14:m>
                <a:r>
                  <a:rPr lang="en-US" sz="2800">
                    <a:effectLst/>
                    <a:latin typeface="+mn-lt"/>
                  </a:rPr>
                  <a:t>thuộc Chủ đề 1.</a:t>
                </a:r>
              </a:p>
              <a:p>
                <a:pPr marL="0" marR="0" lvl="0" indent="-342900">
                  <a:buFont typeface="+mj-lt"/>
                  <a:buAutoNum type="arabicPeriod"/>
                </a:pPr>
                <a:r>
                  <a:rPr lang="en-US" sz="2800" b="1">
                    <a:effectLst/>
                    <a:latin typeface="+mn-lt"/>
                  </a:rPr>
                  <a:t>Tập bên phải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𝐵</m:t>
                        </m:r>
                      </m:sub>
                    </m:sSub>
                  </m:oMath>
                </a14:m>
                <a:r>
                  <a:rPr lang="en-US" sz="2800" b="1">
                    <a:effectLst/>
                    <a:latin typeface="+mn-lt"/>
                  </a:rPr>
                  <a:t> - Các câu hỏi đề nghị):</a:t>
                </a:r>
                <a:endParaRPr lang="en-US" sz="2800">
                  <a:effectLst/>
                  <a:latin typeface="+mn-lt"/>
                </a:endParaRPr>
              </a:p>
              <a:p>
                <a:pPr marL="457200" lvl="2" indent="-285750">
                  <a:buFont typeface="+mj-lt"/>
                  <a:buAutoNum type="arabicPeriod"/>
                </a:pPr>
                <a:r>
                  <a:rPr lang="en-US" sz="2800">
                    <a:effectLst/>
                    <a:latin typeface="+mn-lt"/>
                  </a:rPr>
                  <a:t>Gồm </a:t>
                </a:r>
                <a14:m>
                  <m:oMath xmlns:m="http://schemas.openxmlformats.org/officeDocument/2006/math">
                    <m:r>
                      <a:rPr lang="en-US" sz="2800" i="1" smtClean="0">
                        <a:latin typeface="Cambria Math" panose="02040503050406030204" pitchFamily="18" charset="0"/>
                      </a:rPr>
                      <m:t>𝑛𝑝</m:t>
                    </m:r>
                    <m:r>
                      <a:rPr lang="en-US" sz="2800" b="0" i="1" smtClean="0">
                        <a:latin typeface="Cambria Math" panose="02040503050406030204" pitchFamily="18" charset="0"/>
                      </a:rPr>
                      <m:t> </m:t>
                    </m:r>
                  </m:oMath>
                </a14:m>
                <a:r>
                  <a:rPr lang="en-US" sz="2800">
                    <a:effectLst/>
                    <a:latin typeface="+mn-lt"/>
                  </a:rPr>
                  <a:t>câu hỏi đề nghị, đánh số từ </a:t>
                </a:r>
                <a14:m>
                  <m:oMath xmlns:m="http://schemas.openxmlformats.org/officeDocument/2006/math">
                    <m:r>
                      <a:rPr lang="en-US" sz="2800" smtClean="0">
                        <a:latin typeface="Cambria Math" panose="02040503050406030204" pitchFamily="18" charset="0"/>
                      </a:rPr>
                      <m:t>1</m:t>
                    </m:r>
                  </m:oMath>
                </a14:m>
                <a:r>
                  <a:rPr lang="en-US" sz="2800">
                    <a:effectLst/>
                    <a:latin typeface="+mn-lt"/>
                  </a:rPr>
                  <a:t>đến </a:t>
                </a:r>
                <a14:m>
                  <m:oMath xmlns:m="http://schemas.openxmlformats.org/officeDocument/2006/math">
                    <m:r>
                      <a:rPr lang="en-US" sz="2800" i="1" smtClean="0">
                        <a:latin typeface="Cambria Math" panose="02040503050406030204" pitchFamily="18" charset="0"/>
                      </a:rPr>
                      <m:t>𝑛𝑝</m:t>
                    </m:r>
                  </m:oMath>
                </a14:m>
                <a:r>
                  <a:rPr lang="en-US" sz="2800">
                    <a:effectLst/>
                    <a:latin typeface="+mn-lt"/>
                  </a:rPr>
                  <a:t>.</a:t>
                </a:r>
              </a:p>
              <a:p>
                <a:pPr marL="0" marR="0" lvl="0" indent="-342900">
                  <a:buFont typeface="+mj-lt"/>
                  <a:buAutoNum type="arabicPeriod"/>
                </a:pPr>
                <a:r>
                  <a:rPr lang="en-US" sz="2800" b="1">
                    <a:effectLst/>
                    <a:latin typeface="+mn-lt"/>
                  </a:rPr>
                  <a:t>Cạnh nối (</a:t>
                </a:r>
                <a14:m>
                  <m:oMath xmlns:m="http://schemas.openxmlformats.org/officeDocument/2006/math">
                    <m:r>
                      <a:rPr lang="en-US" sz="2800" i="1" smtClean="0">
                        <a:latin typeface="Cambria Math" panose="02040503050406030204" pitchFamily="18" charset="0"/>
                      </a:rPr>
                      <m:t>𝐸</m:t>
                    </m:r>
                  </m:oMath>
                </a14:m>
                <a:r>
                  <a:rPr lang="en-US" sz="2800" b="1">
                    <a:effectLst/>
                    <a:latin typeface="+mn-lt"/>
                  </a:rPr>
                  <a:t>):</a:t>
                </a:r>
                <a:endParaRPr lang="en-US" sz="2800">
                  <a:effectLst/>
                  <a:latin typeface="+mn-lt"/>
                </a:endParaRPr>
              </a:p>
              <a:p>
                <a:pPr marL="457200" lvl="2" indent="-285750">
                  <a:buFont typeface="+mj-lt"/>
                  <a:buAutoNum type="arabicPeriod"/>
                </a:pPr>
                <a:r>
                  <a:rPr lang="en-US" sz="2800">
                    <a:effectLst/>
                    <a:latin typeface="+mn-lt"/>
                  </a:rPr>
                  <a:t>Nếu câu hỏi </a:t>
                </a:r>
                <a14:m>
                  <m:oMath xmlns:m="http://schemas.openxmlformats.org/officeDocument/2006/math">
                    <m:r>
                      <a:rPr lang="en-US" sz="2800" i="1" smtClean="0">
                        <a:latin typeface="Cambria Math" panose="02040503050406030204" pitchFamily="18" charset="0"/>
                      </a:rPr>
                      <m:t>𝑗</m:t>
                    </m:r>
                  </m:oMath>
                </a14:m>
                <a:r>
                  <a:rPr lang="en-US" sz="2800">
                    <a:effectLst/>
                    <a:latin typeface="+mn-lt"/>
                  </a:rPr>
                  <a:t>có thể thuộc chủ đề </a:t>
                </a:r>
                <a14:m>
                  <m:oMath xmlns:m="http://schemas.openxmlformats.org/officeDocument/2006/math">
                    <m:r>
                      <a:rPr lang="en-US" sz="2800" i="1" smtClean="0">
                        <a:latin typeface="Cambria Math" panose="02040503050406030204" pitchFamily="18" charset="0"/>
                      </a:rPr>
                      <m:t>𝑖</m:t>
                    </m:r>
                  </m:oMath>
                </a14:m>
                <a:r>
                  <a:rPr lang="en-US" sz="2800">
                    <a:effectLst/>
                    <a:latin typeface="+mn-lt"/>
                  </a:rPr>
                  <a:t>, ta thêm cạnh nối giữa câu hỏi </a:t>
                </a:r>
                <a14:m>
                  <m:oMath xmlns:m="http://schemas.openxmlformats.org/officeDocument/2006/math">
                    <m:r>
                      <a:rPr lang="en-US" sz="2800" i="1" smtClean="0">
                        <a:latin typeface="Cambria Math" panose="02040503050406030204" pitchFamily="18" charset="0"/>
                      </a:rPr>
                      <m:t>𝑗</m:t>
                    </m:r>
                  </m:oMath>
                </a14:m>
                <a:r>
                  <a:rPr lang="en-US" sz="2800">
                    <a:effectLst/>
                    <a:latin typeface="+mn-lt"/>
                  </a:rPr>
                  <a:t>với </a:t>
                </a:r>
                <a:r>
                  <a:rPr lang="en-US" sz="2800" b="1">
                    <a:effectLst/>
                    <a:latin typeface="+mn-lt"/>
                  </a:rPr>
                  <a:t>tất cả các vị trí nhu cầu</a:t>
                </a:r>
                <a:r>
                  <a:rPr lang="en-US" sz="2800">
                    <a:effectLst/>
                    <a:latin typeface="+mn-lt"/>
                  </a:rPr>
                  <a:t> thuộc chủ đề </a:t>
                </a:r>
                <a14:m>
                  <m:oMath xmlns:m="http://schemas.openxmlformats.org/officeDocument/2006/math">
                    <m:r>
                      <a:rPr lang="en-US" sz="2800" i="1" smtClean="0">
                        <a:latin typeface="Cambria Math" panose="02040503050406030204" pitchFamily="18" charset="0"/>
                      </a:rPr>
                      <m:t>𝑖</m:t>
                    </m:r>
                  </m:oMath>
                </a14:m>
                <a:r>
                  <a:rPr lang="en-US" sz="2800">
                    <a:effectLst/>
                    <a:latin typeface="+mn-lt"/>
                  </a:rPr>
                  <a:t>.</a:t>
                </a:r>
                <a:endParaRPr lang="en-US" sz="2800">
                  <a:effectLst/>
                  <a:latin typeface="Google Sans Text"/>
                </a:endParaRPr>
              </a:p>
            </p:txBody>
          </p:sp>
        </mc:Choice>
        <mc:Fallback xmlns="">
          <p:sp>
            <p:nvSpPr>
              <p:cNvPr id="3" name="TextBox 2">
                <a:extLst>
                  <a:ext uri="{FF2B5EF4-FFF2-40B4-BE49-F238E27FC236}">
                    <a16:creationId xmlns:a16="http://schemas.microsoft.com/office/drawing/2014/main" id="{5797C0EB-08C9-728F-E9DC-7CE30EF55AE8}"/>
                  </a:ext>
                </a:extLst>
              </p:cNvPr>
              <p:cNvSpPr txBox="1">
                <a:spLocks noRot="1" noChangeAspect="1" noMove="1" noResize="1" noEditPoints="1" noAdjustHandles="1" noChangeArrowheads="1" noChangeShapeType="1" noTextEdit="1"/>
              </p:cNvSpPr>
              <p:nvPr/>
            </p:nvSpPr>
            <p:spPr>
              <a:xfrm>
                <a:off x="192932" y="366623"/>
                <a:ext cx="11806135" cy="6124754"/>
              </a:xfrm>
              <a:prstGeom prst="rect">
                <a:avLst/>
              </a:prstGeom>
              <a:blipFill>
                <a:blip r:embed="rId2"/>
                <a:stretch>
                  <a:fillRect l="-1085" t="-896" r="-1498" b="-1891"/>
                </a:stretch>
              </a:blipFill>
            </p:spPr>
            <p:txBody>
              <a:bodyPr/>
              <a:lstStyle/>
              <a:p>
                <a:r>
                  <a:rPr lang="en-US">
                    <a:noFill/>
                  </a:rPr>
                  <a:t> </a:t>
                </a:r>
              </a:p>
            </p:txBody>
          </p:sp>
        </mc:Fallback>
      </mc:AlternateContent>
    </p:spTree>
    <p:extLst>
      <p:ext uri="{BB962C8B-B14F-4D97-AF65-F5344CB8AC3E}">
        <p14:creationId xmlns:p14="http://schemas.microsoft.com/office/powerpoint/2010/main" val="1811234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7CE2E-3ED7-682F-3C62-DA3A2530ED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6A68E1-0A84-A40A-8CD6-8A9E5ABC8E4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292029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98F4-B549-A27A-0104-7851F9ADF1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B6C6C6-D51E-8E37-BA8F-6C8856E7B9A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8254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2219</Words>
  <Application>Microsoft Office PowerPoint</Application>
  <PresentationFormat>Widescreen</PresentationFormat>
  <Paragraphs>185</Paragraphs>
  <Slides>37</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Google Sans Text</vt:lpstr>
      <vt:lpstr>Times New Roman</vt:lpstr>
      <vt:lpstr>Wingdings</vt:lpstr>
      <vt:lpstr>Cambria Math</vt:lpstr>
      <vt:lpstr>Be Vietnam Pro</vt:lpstr>
      <vt:lpstr>Arial</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Labelling Algorithm </vt:lpstr>
      <vt:lpstr>Labelling Algorithm </vt:lpstr>
      <vt:lpstr>Labelling Algorithm </vt:lpstr>
      <vt:lpstr>Labelling Algorithm </vt:lpstr>
      <vt:lpstr>Labelling Algorithm </vt:lpstr>
      <vt:lpstr>Cây đường mở</vt:lpstr>
      <vt:lpstr>Đảo cạnh.</vt:lpstr>
      <vt:lpstr>Lặp lại</vt:lpstr>
      <vt:lpstr>Lặp lại </vt:lpstr>
      <vt:lpstr>Lặp lại </vt:lpstr>
      <vt:lpstr>Đáp án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Hung</dc:creator>
  <cp:keywords/>
  <dc:description>generated using python-pptx</dc:description>
  <cp:lastModifiedBy>D608GV</cp:lastModifiedBy>
  <cp:revision>9</cp:revision>
  <dcterms:created xsi:type="dcterms:W3CDTF">2013-01-27T09:14:16Z</dcterms:created>
  <dcterms:modified xsi:type="dcterms:W3CDTF">2026-09-29T07:04:37Z</dcterms:modified>
  <cp:category/>
</cp:coreProperties>
</file>